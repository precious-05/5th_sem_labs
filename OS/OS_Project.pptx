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3.jpg" ContentType="image/pn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image10.jpg" ContentType="image/png"/>
  <Override PartName="/ppt/media/image11.jpg" ContentType="image/png"/>
  <Override PartName="/ppt/notesSlides/notesSlide11.xml" ContentType="application/vnd.openxmlformats-officedocument.presentationml.notesSlide+xml"/>
  <Override PartName="/ppt/media/image14.jpg" ContentType="image/png"/>
  <Override PartName="/ppt/notesSlides/notesSlide12.xml" ContentType="application/vnd.openxmlformats-officedocument.presentationml.notesSlide+xml"/>
  <Override PartName="/ppt/media/image15.jpg" ContentType="image/png"/>
  <Override PartName="/ppt/notesSlides/notesSlide13.xml" ContentType="application/vnd.openxmlformats-officedocument.presentationml.notesSlide+xml"/>
  <Override PartName="/ppt/media/image16.jpg" ContentType="image/png"/>
  <Override PartName="/ppt/notesSlides/notesSlide14.xml" ContentType="application/vnd.openxmlformats-officedocument.presentationml.notesSlide+xml"/>
  <Override PartName="/ppt/media/image17.jpg" ContentType="image/png"/>
  <Override PartName="/ppt/notesSlides/notesSlide15.xml" ContentType="application/vnd.openxmlformats-officedocument.presentationml.notesSlide+xml"/>
  <Override PartName="/ppt/media/image18.jpg" ContentType="image/png"/>
  <Override PartName="/ppt/notesSlides/notesSlide16.xml" ContentType="application/vnd.openxmlformats-officedocument.presentationml.notesSlide+xml"/>
  <Override PartName="/ppt/media/image19.jpg" ContentType="image/png"/>
  <Override PartName="/ppt/notesSlides/notesSlide17.xml" ContentType="application/vnd.openxmlformats-officedocument.presentationml.notesSlide+xml"/>
  <Override PartName="/ppt/media/image20.jpg" ContentType="image/png"/>
  <Override PartName="/ppt/notesSlides/notesSlide18.xml" ContentType="application/vnd.openxmlformats-officedocument.presentationml.notesSlide+xml"/>
  <Override PartName="/ppt/media/image21.jpg" ContentType="image/png"/>
  <Override PartName="/ppt/notesSlides/notesSlide19.xml" ContentType="application/vnd.openxmlformats-officedocument.presentationml.notesSlide+xml"/>
  <Override PartName="/ppt/notesSlides/notesSlide20.xml" ContentType="application/vnd.openxmlformats-officedocument.presentationml.notesSlide+xml"/>
  <Override PartName="/ppt/media/image22.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5" r:id="rId1"/>
  </p:sldMasterIdLst>
  <p:notesMasterIdLst>
    <p:notesMasterId r:id="rId33"/>
  </p:notesMasterIdLst>
  <p:sldIdLst>
    <p:sldId id="299" r:id="rId2"/>
    <p:sldId id="300" r:id="rId3"/>
    <p:sldId id="372" r:id="rId4"/>
    <p:sldId id="377" r:id="rId5"/>
    <p:sldId id="378" r:id="rId6"/>
    <p:sldId id="256" r:id="rId7"/>
    <p:sldId id="304" r:id="rId8"/>
    <p:sldId id="373" r:id="rId9"/>
    <p:sldId id="374" r:id="rId10"/>
    <p:sldId id="375" r:id="rId11"/>
    <p:sldId id="376" r:id="rId12"/>
    <p:sldId id="379" r:id="rId13"/>
    <p:sldId id="311" r:id="rId14"/>
    <p:sldId id="347" r:id="rId15"/>
    <p:sldId id="312" r:id="rId16"/>
    <p:sldId id="380" r:id="rId17"/>
    <p:sldId id="390" r:id="rId18"/>
    <p:sldId id="391" r:id="rId19"/>
    <p:sldId id="392" r:id="rId20"/>
    <p:sldId id="393" r:id="rId21"/>
    <p:sldId id="310" r:id="rId22"/>
    <p:sldId id="381" r:id="rId23"/>
    <p:sldId id="382" r:id="rId24"/>
    <p:sldId id="383" r:id="rId25"/>
    <p:sldId id="384" r:id="rId26"/>
    <p:sldId id="385" r:id="rId27"/>
    <p:sldId id="386" r:id="rId28"/>
    <p:sldId id="387" r:id="rId29"/>
    <p:sldId id="388" r:id="rId30"/>
    <p:sldId id="389" r:id="rId31"/>
    <p:sldId id="370" r:id="rId32"/>
  </p:sldIdLst>
  <p:sldSz cx="9144000" cy="5143500" type="screen16x9"/>
  <p:notesSz cx="6858000" cy="9144000"/>
  <p:embeddedFontLst>
    <p:embeddedFont>
      <p:font typeface="Oswald ExtraLight" panose="020B0604020202020204" charset="0"/>
      <p:regular r:id="rId34"/>
      <p:bold r:id="rId35"/>
    </p:embeddedFont>
    <p:embeddedFont>
      <p:font typeface="Bebas Neue" panose="020B0604020202020204" charset="0"/>
      <p:regular r:id="rId36"/>
    </p:embeddedFont>
    <p:embeddedFont>
      <p:font typeface="Oswald" panose="020B0604020202020204" charset="0"/>
      <p:regular r:id="rId37"/>
      <p:bold r:id="rId38"/>
    </p:embeddedFont>
    <p:embeddedFont>
      <p:font typeface="Book Antiqua" panose="02040602050305030304" pitchFamily="18" charset="0"/>
      <p:regular r:id="rId39"/>
      <p:bold r:id="rId40"/>
      <p:italic r:id="rId41"/>
      <p:boldItalic r:id="rId42"/>
    </p:embeddedFont>
    <p:embeddedFont>
      <p:font typeface="DM Sans" panose="020B0604020202020204" charset="0"/>
      <p:regular r:id="rId43"/>
      <p:bold r:id="rId44"/>
      <p:italic r:id="rId45"/>
      <p:boldItalic r:id="rId46"/>
    </p:embeddedFont>
    <p:embeddedFont>
      <p:font typeface="Calibri" panose="020F0502020204030204" pitchFamily="34"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601">
          <p15:clr>
            <a:srgbClr val="9AA0A6"/>
          </p15:clr>
        </p15:guide>
        <p15:guide id="2" orient="horz" pos="733">
          <p15:clr>
            <a:srgbClr val="9AA0A6"/>
          </p15:clr>
        </p15:guide>
        <p15:guide id="3"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CE20A23-A0F4-48F0-A952-EBFF884F8CFB}">
  <a:tblStyle styleId="{ECE20A23-A0F4-48F0-A952-EBFF884F8CFB}"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140" autoAdjust="0"/>
    <p:restoredTop sz="94660"/>
  </p:normalViewPr>
  <p:slideViewPr>
    <p:cSldViewPr snapToGrid="0">
      <p:cViewPr>
        <p:scale>
          <a:sx n="80" d="100"/>
          <a:sy n="80" d="100"/>
        </p:scale>
        <p:origin x="438" y="342"/>
      </p:cViewPr>
      <p:guideLst>
        <p:guide orient="horz" pos="601"/>
        <p:guide orient="horz" pos="733"/>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0" Type="http://schemas.openxmlformats.org/officeDocument/2006/relationships/font" Target="fonts/font17.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20" Type="http://schemas.openxmlformats.org/officeDocument/2006/relationships/slide" Target="slides/slide19.xml"/><Relationship Id="rId41" Type="http://schemas.openxmlformats.org/officeDocument/2006/relationships/font" Target="fonts/font8.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583681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4"/>
        <p:cNvGrpSpPr/>
        <p:nvPr/>
      </p:nvGrpSpPr>
      <p:grpSpPr>
        <a:xfrm>
          <a:off x="0" y="0"/>
          <a:ext cx="0" cy="0"/>
          <a:chOff x="0" y="0"/>
          <a:chExt cx="0" cy="0"/>
        </a:xfrm>
      </p:grpSpPr>
      <p:sp>
        <p:nvSpPr>
          <p:cNvPr id="545" name="Google Shape;545;g10d7ae03d46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6" name="Google Shape;546;g10d7ae03d46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589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6412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10e91f73e2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10e91f73e2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737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10e91f73e2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10e91f73e2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670386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10e91f73e2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10e91f73e2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10560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10e91f73e2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10e91f73e2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56771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0e91f73e2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0e91f73e2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37376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0e91f73e2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0e91f73e2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752518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0e91f73e2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0e91f73e2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7015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0e91f73e2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0e91f73e2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53606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0e91f73e2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0e91f73e2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818804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0e91f73e2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0e91f73e2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12931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0e91f73e2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0e91f73e2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535900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0e91f73e2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0e91f73e2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14868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0e91f73e2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0e91f73e2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9338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0e91f73e2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0e91f73e2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221835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0e91f73e2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0e91f73e2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10254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10e91f73e27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10e91f73e27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15248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accent5"/>
            </a:gs>
            <a:gs pos="48000">
              <a:schemeClr val="accent4"/>
            </a:gs>
            <a:gs pos="100000">
              <a:schemeClr val="accent2"/>
            </a:gs>
          </a:gsLst>
          <a:lin ang="2698631" scaled="0"/>
        </a:gra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967650"/>
            <a:ext cx="3972000" cy="3027600"/>
          </a:xfrm>
          <a:prstGeom prst="rect">
            <a:avLst/>
          </a:prstGeom>
        </p:spPr>
        <p:txBody>
          <a:bodyPr spcFirstLastPara="1" wrap="square" lIns="0" tIns="0" rIns="0" bIns="0" anchor="ctr" anchorCtr="0">
            <a:noAutofit/>
          </a:bodyPr>
          <a:lstStyle>
            <a:lvl1pPr lvl="0" rtl="0">
              <a:lnSpc>
                <a:spcPct val="100000"/>
              </a:lnSpc>
              <a:spcBef>
                <a:spcPts val="0"/>
              </a:spcBef>
              <a:spcAft>
                <a:spcPts val="0"/>
              </a:spcAft>
              <a:buClr>
                <a:schemeClr val="dk1"/>
              </a:buClr>
              <a:buSzPts val="4900"/>
              <a:buNone/>
              <a:defRPr sz="5000">
                <a:solidFill>
                  <a:schemeClr val="dk1"/>
                </a:solidFill>
              </a:defRPr>
            </a:lvl1pPr>
            <a:lvl2pPr lvl="1" algn="ctr" rtl="0">
              <a:spcBef>
                <a:spcPts val="0"/>
              </a:spcBef>
              <a:spcAft>
                <a:spcPts val="0"/>
              </a:spcAft>
              <a:buClr>
                <a:srgbClr val="191919"/>
              </a:buClr>
              <a:buSzPts val="5200"/>
              <a:buNone/>
              <a:defRPr sz="5200">
                <a:solidFill>
                  <a:srgbClr val="191919"/>
                </a:solidFill>
              </a:defRPr>
            </a:lvl2pPr>
            <a:lvl3pPr lvl="2" algn="ctr" rtl="0">
              <a:spcBef>
                <a:spcPts val="0"/>
              </a:spcBef>
              <a:spcAft>
                <a:spcPts val="0"/>
              </a:spcAft>
              <a:buClr>
                <a:srgbClr val="191919"/>
              </a:buClr>
              <a:buSzPts val="5200"/>
              <a:buNone/>
              <a:defRPr sz="5200">
                <a:solidFill>
                  <a:srgbClr val="191919"/>
                </a:solidFill>
              </a:defRPr>
            </a:lvl3pPr>
            <a:lvl4pPr lvl="3" algn="ctr" rtl="0">
              <a:spcBef>
                <a:spcPts val="0"/>
              </a:spcBef>
              <a:spcAft>
                <a:spcPts val="0"/>
              </a:spcAft>
              <a:buClr>
                <a:srgbClr val="191919"/>
              </a:buClr>
              <a:buSzPts val="5200"/>
              <a:buNone/>
              <a:defRPr sz="5200">
                <a:solidFill>
                  <a:srgbClr val="191919"/>
                </a:solidFill>
              </a:defRPr>
            </a:lvl4pPr>
            <a:lvl5pPr lvl="4" algn="ctr" rtl="0">
              <a:spcBef>
                <a:spcPts val="0"/>
              </a:spcBef>
              <a:spcAft>
                <a:spcPts val="0"/>
              </a:spcAft>
              <a:buClr>
                <a:srgbClr val="191919"/>
              </a:buClr>
              <a:buSzPts val="5200"/>
              <a:buNone/>
              <a:defRPr sz="5200">
                <a:solidFill>
                  <a:srgbClr val="191919"/>
                </a:solidFill>
              </a:defRPr>
            </a:lvl5pPr>
            <a:lvl6pPr lvl="5" algn="ctr" rtl="0">
              <a:spcBef>
                <a:spcPts val="0"/>
              </a:spcBef>
              <a:spcAft>
                <a:spcPts val="0"/>
              </a:spcAft>
              <a:buClr>
                <a:srgbClr val="191919"/>
              </a:buClr>
              <a:buSzPts val="5200"/>
              <a:buNone/>
              <a:defRPr sz="5200">
                <a:solidFill>
                  <a:srgbClr val="191919"/>
                </a:solidFill>
              </a:defRPr>
            </a:lvl6pPr>
            <a:lvl7pPr lvl="6" algn="ctr" rtl="0">
              <a:spcBef>
                <a:spcPts val="0"/>
              </a:spcBef>
              <a:spcAft>
                <a:spcPts val="0"/>
              </a:spcAft>
              <a:buClr>
                <a:srgbClr val="191919"/>
              </a:buClr>
              <a:buSzPts val="5200"/>
              <a:buNone/>
              <a:defRPr sz="5200">
                <a:solidFill>
                  <a:srgbClr val="191919"/>
                </a:solidFill>
              </a:defRPr>
            </a:lvl7pPr>
            <a:lvl8pPr lvl="7" algn="ctr" rtl="0">
              <a:spcBef>
                <a:spcPts val="0"/>
              </a:spcBef>
              <a:spcAft>
                <a:spcPts val="0"/>
              </a:spcAft>
              <a:buClr>
                <a:srgbClr val="191919"/>
              </a:buClr>
              <a:buSzPts val="5200"/>
              <a:buNone/>
              <a:defRPr sz="5200">
                <a:solidFill>
                  <a:srgbClr val="191919"/>
                </a:solidFill>
              </a:defRPr>
            </a:lvl8pPr>
            <a:lvl9pPr lvl="8" algn="ctr" rtl="0">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995250"/>
            <a:ext cx="4359000" cy="409500"/>
          </a:xfrm>
          <a:prstGeom prst="rect">
            <a:avLst/>
          </a:prstGeom>
          <a:noFill/>
          <a:ln>
            <a:noFill/>
          </a:ln>
        </p:spPr>
        <p:txBody>
          <a:bodyPr spcFirstLastPara="1" wrap="square" lIns="0" tIns="0" rIns="0" bIns="0" anchor="ctr" anchorCtr="0">
            <a:noAutofit/>
          </a:bodyPr>
          <a:lstStyle>
            <a:lvl1pPr lvl="0"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1pPr>
            <a:lvl2pPr lvl="1"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2pPr>
            <a:lvl3pPr lvl="2"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3pPr>
            <a:lvl4pPr lvl="3"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4pPr>
            <a:lvl5pPr lvl="4"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5pPr>
            <a:lvl6pPr lvl="5"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6pPr>
            <a:lvl7pPr lvl="6"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7pPr>
            <a:lvl8pPr lvl="7"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8pPr>
            <a:lvl9pPr lvl="8" rtl="0">
              <a:lnSpc>
                <a:spcPct val="100000"/>
              </a:lnSpc>
              <a:spcBef>
                <a:spcPts val="0"/>
              </a:spcBef>
              <a:spcAft>
                <a:spcPts val="0"/>
              </a:spcAft>
              <a:buClr>
                <a:schemeClr val="lt1"/>
              </a:buClr>
              <a:buSzPts val="1400"/>
              <a:buFont typeface="DM Sans"/>
              <a:buNone/>
              <a:defRPr>
                <a:solidFill>
                  <a:schemeClr val="lt1"/>
                </a:solidFill>
                <a:latin typeface="DM Sans"/>
                <a:ea typeface="DM Sans"/>
                <a:cs typeface="DM Sans"/>
                <a:sym typeface="DM Sans"/>
              </a:defRPr>
            </a:lvl9pPr>
          </a:lstStyle>
          <a:p>
            <a:endParaRPr/>
          </a:p>
        </p:txBody>
      </p:sp>
      <p:grpSp>
        <p:nvGrpSpPr>
          <p:cNvPr id="11" name="Google Shape;11;p2"/>
          <p:cNvGrpSpPr/>
          <p:nvPr/>
        </p:nvGrpSpPr>
        <p:grpSpPr>
          <a:xfrm rot="5400000">
            <a:off x="7002555" y="-662466"/>
            <a:ext cx="1673084" cy="3614193"/>
            <a:chOff x="7350442" y="2608992"/>
            <a:chExt cx="777239" cy="1673160"/>
          </a:xfrm>
        </p:grpSpPr>
        <p:sp>
          <p:nvSpPr>
            <p:cNvPr id="12" name="Google Shape;12;p2"/>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3;p2"/>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4;p2"/>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5" name="Google Shape;15;p2"/>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16;p2"/>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7;p2"/>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 name="Google Shape;18;p2"/>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9" name="Google Shape;19;p2"/>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5540775" y="1840338"/>
            <a:ext cx="2421900" cy="1062900"/>
          </a:xfrm>
          <a:prstGeom prst="rect">
            <a:avLst/>
          </a:prstGeom>
        </p:spPr>
        <p:txBody>
          <a:bodyPr spcFirstLastPara="1" wrap="square" lIns="0" tIns="0" rIns="0" bIns="0" anchor="t" anchorCtr="0">
            <a:noAutofit/>
          </a:bodyPr>
          <a:lstStyle>
            <a:lvl1pPr lvl="0" rtl="0">
              <a:spcBef>
                <a:spcPts val="0"/>
              </a:spcBef>
              <a:spcAft>
                <a:spcPts val="0"/>
              </a:spcAft>
              <a:buSzPts val="3400"/>
              <a:buNone/>
              <a:defRPr/>
            </a:lvl1pPr>
            <a:lvl2pPr lvl="1" rtl="0">
              <a:spcBef>
                <a:spcPts val="0"/>
              </a:spcBef>
              <a:spcAft>
                <a:spcPts val="0"/>
              </a:spcAft>
              <a:buSzPts val="3400"/>
              <a:buNone/>
              <a:defRPr sz="3400"/>
            </a:lvl2pPr>
            <a:lvl3pPr lvl="2" rtl="0">
              <a:spcBef>
                <a:spcPts val="0"/>
              </a:spcBef>
              <a:spcAft>
                <a:spcPts val="0"/>
              </a:spcAft>
              <a:buSzPts val="3400"/>
              <a:buNone/>
              <a:defRPr sz="3400"/>
            </a:lvl3pPr>
            <a:lvl4pPr lvl="3" rtl="0">
              <a:spcBef>
                <a:spcPts val="0"/>
              </a:spcBef>
              <a:spcAft>
                <a:spcPts val="0"/>
              </a:spcAft>
              <a:buSzPts val="3400"/>
              <a:buNone/>
              <a:defRPr sz="3400"/>
            </a:lvl4pPr>
            <a:lvl5pPr lvl="4" rtl="0">
              <a:spcBef>
                <a:spcPts val="0"/>
              </a:spcBef>
              <a:spcAft>
                <a:spcPts val="0"/>
              </a:spcAft>
              <a:buSzPts val="3400"/>
              <a:buNone/>
              <a:defRPr sz="3400"/>
            </a:lvl5pPr>
            <a:lvl6pPr lvl="5" rtl="0">
              <a:spcBef>
                <a:spcPts val="0"/>
              </a:spcBef>
              <a:spcAft>
                <a:spcPts val="0"/>
              </a:spcAft>
              <a:buSzPts val="3400"/>
              <a:buNone/>
              <a:defRPr sz="3400"/>
            </a:lvl6pPr>
            <a:lvl7pPr lvl="6" rtl="0">
              <a:spcBef>
                <a:spcPts val="0"/>
              </a:spcBef>
              <a:spcAft>
                <a:spcPts val="0"/>
              </a:spcAft>
              <a:buSzPts val="3400"/>
              <a:buNone/>
              <a:defRPr sz="3400"/>
            </a:lvl7pPr>
            <a:lvl8pPr lvl="7" rtl="0">
              <a:spcBef>
                <a:spcPts val="0"/>
              </a:spcBef>
              <a:spcAft>
                <a:spcPts val="0"/>
              </a:spcAft>
              <a:buSzPts val="3400"/>
              <a:buNone/>
              <a:defRPr sz="3400"/>
            </a:lvl8pPr>
            <a:lvl9pPr lvl="8" rtl="0">
              <a:spcBef>
                <a:spcPts val="0"/>
              </a:spcBef>
              <a:spcAft>
                <a:spcPts val="0"/>
              </a:spcAft>
              <a:buSzPts val="3400"/>
              <a:buNone/>
              <a:defRPr sz="3400"/>
            </a:lvl9pPr>
          </a:lstStyle>
          <a:p>
            <a:endParaRPr/>
          </a:p>
        </p:txBody>
      </p:sp>
      <p:sp>
        <p:nvSpPr>
          <p:cNvPr id="22" name="Google Shape;22;p3"/>
          <p:cNvSpPr txBox="1">
            <a:spLocks noGrp="1"/>
          </p:cNvSpPr>
          <p:nvPr>
            <p:ph type="title" idx="2" hasCustomPrompt="1"/>
          </p:nvPr>
        </p:nvSpPr>
        <p:spPr>
          <a:xfrm>
            <a:off x="4768453" y="1840338"/>
            <a:ext cx="596100" cy="500400"/>
          </a:xfrm>
          <a:prstGeom prst="rect">
            <a:avLst/>
          </a:prstGeom>
        </p:spPr>
        <p:txBody>
          <a:bodyPr spcFirstLastPara="1" wrap="square" lIns="0" tIns="0" rIns="0" bIns="0" anchor="t" anchorCtr="0">
            <a:noAutofit/>
          </a:bodyPr>
          <a:lstStyle>
            <a:lvl1pPr lvl="0" algn="r" rtl="0">
              <a:spcBef>
                <a:spcPts val="0"/>
              </a:spcBef>
              <a:spcAft>
                <a:spcPts val="0"/>
              </a:spcAft>
              <a:buSzPts val="3400"/>
              <a:buNone/>
              <a:defRPr/>
            </a:lvl1pPr>
            <a:lvl2pPr lvl="1" algn="ctr" rtl="0">
              <a:spcBef>
                <a:spcPts val="0"/>
              </a:spcBef>
              <a:spcAft>
                <a:spcPts val="0"/>
              </a:spcAft>
              <a:buSzPts val="3400"/>
              <a:buNone/>
              <a:defRPr sz="3400"/>
            </a:lvl2pPr>
            <a:lvl3pPr lvl="2" algn="ctr" rtl="0">
              <a:spcBef>
                <a:spcPts val="0"/>
              </a:spcBef>
              <a:spcAft>
                <a:spcPts val="0"/>
              </a:spcAft>
              <a:buSzPts val="3400"/>
              <a:buNone/>
              <a:defRPr sz="3400"/>
            </a:lvl3pPr>
            <a:lvl4pPr lvl="3" algn="ctr" rtl="0">
              <a:spcBef>
                <a:spcPts val="0"/>
              </a:spcBef>
              <a:spcAft>
                <a:spcPts val="0"/>
              </a:spcAft>
              <a:buSzPts val="3400"/>
              <a:buNone/>
              <a:defRPr sz="3400"/>
            </a:lvl4pPr>
            <a:lvl5pPr lvl="4" algn="ctr" rtl="0">
              <a:spcBef>
                <a:spcPts val="0"/>
              </a:spcBef>
              <a:spcAft>
                <a:spcPts val="0"/>
              </a:spcAft>
              <a:buSzPts val="3400"/>
              <a:buNone/>
              <a:defRPr sz="3400"/>
            </a:lvl5pPr>
            <a:lvl6pPr lvl="5" algn="ctr" rtl="0">
              <a:spcBef>
                <a:spcPts val="0"/>
              </a:spcBef>
              <a:spcAft>
                <a:spcPts val="0"/>
              </a:spcAft>
              <a:buSzPts val="3400"/>
              <a:buNone/>
              <a:defRPr sz="3400"/>
            </a:lvl6pPr>
            <a:lvl7pPr lvl="6" algn="ctr" rtl="0">
              <a:spcBef>
                <a:spcPts val="0"/>
              </a:spcBef>
              <a:spcAft>
                <a:spcPts val="0"/>
              </a:spcAft>
              <a:buSzPts val="3400"/>
              <a:buNone/>
              <a:defRPr sz="3400"/>
            </a:lvl7pPr>
            <a:lvl8pPr lvl="7" algn="ctr" rtl="0">
              <a:spcBef>
                <a:spcPts val="0"/>
              </a:spcBef>
              <a:spcAft>
                <a:spcPts val="0"/>
              </a:spcAft>
              <a:buSzPts val="3400"/>
              <a:buNone/>
              <a:defRPr sz="3400"/>
            </a:lvl8pPr>
            <a:lvl9pPr lvl="8" algn="ctr" rtl="0">
              <a:spcBef>
                <a:spcPts val="0"/>
              </a:spcBef>
              <a:spcAft>
                <a:spcPts val="0"/>
              </a:spcAft>
              <a:buSzPts val="3400"/>
              <a:buNone/>
              <a:defRPr sz="3400"/>
            </a:lvl9pPr>
          </a:lstStyle>
          <a:p>
            <a:r>
              <a:t>xx%</a:t>
            </a:r>
          </a:p>
        </p:txBody>
      </p:sp>
      <p:sp>
        <p:nvSpPr>
          <p:cNvPr id="23" name="Google Shape;23;p3"/>
          <p:cNvSpPr txBox="1">
            <a:spLocks noGrp="1"/>
          </p:cNvSpPr>
          <p:nvPr>
            <p:ph type="subTitle" idx="1"/>
          </p:nvPr>
        </p:nvSpPr>
        <p:spPr>
          <a:xfrm>
            <a:off x="5514500" y="3055663"/>
            <a:ext cx="2421900" cy="465300"/>
          </a:xfrm>
          <a:prstGeom prst="rect">
            <a:avLst/>
          </a:prstGeom>
          <a:noFill/>
          <a:ln>
            <a:noFill/>
          </a:ln>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1pPr>
            <a:lvl2pPr lvl="1" algn="ctr" rtl="0">
              <a:lnSpc>
                <a:spcPct val="100000"/>
              </a:lnSpc>
              <a:spcBef>
                <a:spcPts val="0"/>
              </a:spcBef>
              <a:spcAft>
                <a:spcPts val="0"/>
              </a:spcAft>
              <a:buSzPts val="1400"/>
              <a:buFont typeface="DM Sans"/>
              <a:buNone/>
              <a:defRPr>
                <a:latin typeface="DM Sans"/>
                <a:ea typeface="DM Sans"/>
                <a:cs typeface="DM Sans"/>
                <a:sym typeface="DM Sans"/>
              </a:defRPr>
            </a:lvl2pPr>
            <a:lvl3pPr lvl="2" algn="ctr" rtl="0">
              <a:lnSpc>
                <a:spcPct val="100000"/>
              </a:lnSpc>
              <a:spcBef>
                <a:spcPts val="0"/>
              </a:spcBef>
              <a:spcAft>
                <a:spcPts val="0"/>
              </a:spcAft>
              <a:buSzPts val="1400"/>
              <a:buFont typeface="DM Sans"/>
              <a:buNone/>
              <a:defRPr>
                <a:latin typeface="DM Sans"/>
                <a:ea typeface="DM Sans"/>
                <a:cs typeface="DM Sans"/>
                <a:sym typeface="DM Sans"/>
              </a:defRPr>
            </a:lvl3pPr>
            <a:lvl4pPr lvl="3" algn="ctr" rtl="0">
              <a:lnSpc>
                <a:spcPct val="100000"/>
              </a:lnSpc>
              <a:spcBef>
                <a:spcPts val="0"/>
              </a:spcBef>
              <a:spcAft>
                <a:spcPts val="0"/>
              </a:spcAft>
              <a:buSzPts val="1400"/>
              <a:buFont typeface="DM Sans"/>
              <a:buNone/>
              <a:defRPr>
                <a:latin typeface="DM Sans"/>
                <a:ea typeface="DM Sans"/>
                <a:cs typeface="DM Sans"/>
                <a:sym typeface="DM Sans"/>
              </a:defRPr>
            </a:lvl4pPr>
            <a:lvl5pPr lvl="4" algn="ctr" rtl="0">
              <a:lnSpc>
                <a:spcPct val="100000"/>
              </a:lnSpc>
              <a:spcBef>
                <a:spcPts val="0"/>
              </a:spcBef>
              <a:spcAft>
                <a:spcPts val="0"/>
              </a:spcAft>
              <a:buSzPts val="1400"/>
              <a:buFont typeface="DM Sans"/>
              <a:buNone/>
              <a:defRPr>
                <a:latin typeface="DM Sans"/>
                <a:ea typeface="DM Sans"/>
                <a:cs typeface="DM Sans"/>
                <a:sym typeface="DM Sans"/>
              </a:defRPr>
            </a:lvl5pPr>
            <a:lvl6pPr lvl="5" algn="ctr" rtl="0">
              <a:lnSpc>
                <a:spcPct val="100000"/>
              </a:lnSpc>
              <a:spcBef>
                <a:spcPts val="0"/>
              </a:spcBef>
              <a:spcAft>
                <a:spcPts val="0"/>
              </a:spcAft>
              <a:buSzPts val="1400"/>
              <a:buFont typeface="DM Sans"/>
              <a:buNone/>
              <a:defRPr>
                <a:latin typeface="DM Sans"/>
                <a:ea typeface="DM Sans"/>
                <a:cs typeface="DM Sans"/>
                <a:sym typeface="DM Sans"/>
              </a:defRPr>
            </a:lvl6pPr>
            <a:lvl7pPr lvl="6" algn="ctr" rtl="0">
              <a:lnSpc>
                <a:spcPct val="100000"/>
              </a:lnSpc>
              <a:spcBef>
                <a:spcPts val="0"/>
              </a:spcBef>
              <a:spcAft>
                <a:spcPts val="0"/>
              </a:spcAft>
              <a:buSzPts val="1400"/>
              <a:buFont typeface="DM Sans"/>
              <a:buNone/>
              <a:defRPr>
                <a:latin typeface="DM Sans"/>
                <a:ea typeface="DM Sans"/>
                <a:cs typeface="DM Sans"/>
                <a:sym typeface="DM Sans"/>
              </a:defRPr>
            </a:lvl7pPr>
            <a:lvl8pPr lvl="7" algn="ctr" rtl="0">
              <a:lnSpc>
                <a:spcPct val="100000"/>
              </a:lnSpc>
              <a:spcBef>
                <a:spcPts val="0"/>
              </a:spcBef>
              <a:spcAft>
                <a:spcPts val="0"/>
              </a:spcAft>
              <a:buSzPts val="1400"/>
              <a:buFont typeface="DM Sans"/>
              <a:buNone/>
              <a:defRPr>
                <a:latin typeface="DM Sans"/>
                <a:ea typeface="DM Sans"/>
                <a:cs typeface="DM Sans"/>
                <a:sym typeface="DM Sans"/>
              </a:defRPr>
            </a:lvl8pPr>
            <a:lvl9pPr lvl="8" algn="ctr" rtl="0">
              <a:lnSpc>
                <a:spcPct val="100000"/>
              </a:lnSpc>
              <a:spcBef>
                <a:spcPts val="0"/>
              </a:spcBef>
              <a:spcAft>
                <a:spcPts val="0"/>
              </a:spcAft>
              <a:buSzPts val="1400"/>
              <a:buFont typeface="DM Sans"/>
              <a:buNone/>
              <a:defRPr>
                <a:latin typeface="DM Sans"/>
                <a:ea typeface="DM Sans"/>
                <a:cs typeface="DM Sans"/>
                <a:sym typeface="DM Sans"/>
              </a:defRPr>
            </a:lvl9pPr>
          </a:lstStyle>
          <a:p>
            <a:endParaRPr/>
          </a:p>
        </p:txBody>
      </p:sp>
      <p:grpSp>
        <p:nvGrpSpPr>
          <p:cNvPr id="24" name="Google Shape;24;p3"/>
          <p:cNvGrpSpPr/>
          <p:nvPr/>
        </p:nvGrpSpPr>
        <p:grpSpPr>
          <a:xfrm rot="5400000">
            <a:off x="976911" y="3061602"/>
            <a:ext cx="1683966" cy="3637785"/>
            <a:chOff x="7350442" y="2608992"/>
            <a:chExt cx="777239" cy="1673160"/>
          </a:xfrm>
        </p:grpSpPr>
        <p:sp>
          <p:nvSpPr>
            <p:cNvPr id="25" name="Google Shape;25;p3"/>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Google Shape;26;p3"/>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 name="Google Shape;27;p3"/>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8" name="Google Shape;28;p3"/>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9" name="Google Shape;29;p3"/>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0" name="Google Shape;30;p3"/>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31;p3"/>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2" name="Google Shape;32;p3"/>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33" name="Google Shape;33;p3"/>
          <p:cNvGrpSpPr/>
          <p:nvPr/>
        </p:nvGrpSpPr>
        <p:grpSpPr>
          <a:xfrm rot="5400000" flipH="1">
            <a:off x="6568632" y="-1639800"/>
            <a:ext cx="1684044" cy="3637785"/>
            <a:chOff x="7350442" y="2608992"/>
            <a:chExt cx="777239" cy="1673160"/>
          </a:xfrm>
        </p:grpSpPr>
        <p:sp>
          <p:nvSpPr>
            <p:cNvPr id="34" name="Google Shape;34;p3"/>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5" name="Google Shape;35;p3"/>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6" name="Google Shape;36;p3"/>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7" name="Google Shape;37;p3"/>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8" name="Google Shape;38;p3"/>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9" name="Google Shape;39;p3"/>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40;p3"/>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1" name="Google Shape;41;p3"/>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no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5"/>
        <p:cNvGrpSpPr/>
        <p:nvPr/>
      </p:nvGrpSpPr>
      <p:grpSpPr>
        <a:xfrm>
          <a:off x="0" y="0"/>
          <a:ext cx="0" cy="0"/>
          <a:chOff x="0" y="0"/>
          <a:chExt cx="0" cy="0"/>
        </a:xfrm>
      </p:grpSpPr>
      <p:sp>
        <p:nvSpPr>
          <p:cNvPr id="46" name="Google Shape;46;p5"/>
          <p:cNvSpPr txBox="1">
            <a:spLocks noGrp="1"/>
          </p:cNvSpPr>
          <p:nvPr>
            <p:ph type="subTitle" idx="1"/>
          </p:nvPr>
        </p:nvSpPr>
        <p:spPr>
          <a:xfrm>
            <a:off x="1786775" y="2952775"/>
            <a:ext cx="2386500" cy="3489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1pPr>
            <a:lvl2pPr lvl="1"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2pPr>
            <a:lvl3pPr lvl="2"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3pPr>
            <a:lvl4pPr lvl="3"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4pPr>
            <a:lvl5pPr lvl="4"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5pPr>
            <a:lvl6pPr lvl="5"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6pPr>
            <a:lvl7pPr lvl="6"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7pPr>
            <a:lvl8pPr lvl="7"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8pPr>
            <a:lvl9pPr lvl="8"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9pPr>
          </a:lstStyle>
          <a:p>
            <a:endParaRPr/>
          </a:p>
        </p:txBody>
      </p:sp>
      <p:sp>
        <p:nvSpPr>
          <p:cNvPr id="47" name="Google Shape;47;p5"/>
          <p:cNvSpPr txBox="1">
            <a:spLocks noGrp="1"/>
          </p:cNvSpPr>
          <p:nvPr>
            <p:ph type="subTitle" idx="2"/>
          </p:nvPr>
        </p:nvSpPr>
        <p:spPr>
          <a:xfrm>
            <a:off x="4970850" y="2952775"/>
            <a:ext cx="2386500" cy="3489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1pPr>
            <a:lvl2pPr lvl="1"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2pPr>
            <a:lvl3pPr lvl="2"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3pPr>
            <a:lvl4pPr lvl="3"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4pPr>
            <a:lvl5pPr lvl="4"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5pPr>
            <a:lvl6pPr lvl="5"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6pPr>
            <a:lvl7pPr lvl="6"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7pPr>
            <a:lvl8pPr lvl="7"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8pPr>
            <a:lvl9pPr lvl="8" algn="ctr" rtl="0">
              <a:lnSpc>
                <a:spcPct val="100000"/>
              </a:lnSpc>
              <a:spcBef>
                <a:spcPts val="0"/>
              </a:spcBef>
              <a:spcAft>
                <a:spcPts val="0"/>
              </a:spcAft>
              <a:buClr>
                <a:schemeClr val="dk1"/>
              </a:buClr>
              <a:buSzPts val="2200"/>
              <a:buFont typeface="Oswald"/>
              <a:buNone/>
              <a:defRPr sz="2200">
                <a:solidFill>
                  <a:schemeClr val="dk1"/>
                </a:solidFill>
                <a:latin typeface="Oswald"/>
                <a:ea typeface="Oswald"/>
                <a:cs typeface="Oswald"/>
                <a:sym typeface="Oswald"/>
              </a:defRPr>
            </a:lvl9pPr>
          </a:lstStyle>
          <a:p>
            <a:endParaRPr/>
          </a:p>
        </p:txBody>
      </p:sp>
      <p:sp>
        <p:nvSpPr>
          <p:cNvPr id="48" name="Google Shape;48;p5"/>
          <p:cNvSpPr txBox="1">
            <a:spLocks noGrp="1"/>
          </p:cNvSpPr>
          <p:nvPr>
            <p:ph type="subTitle" idx="3"/>
          </p:nvPr>
        </p:nvSpPr>
        <p:spPr>
          <a:xfrm>
            <a:off x="1786625" y="3458825"/>
            <a:ext cx="2386500" cy="1149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1pPr>
            <a:lvl2pPr lvl="1"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a:endParaRPr/>
          </a:p>
        </p:txBody>
      </p:sp>
      <p:sp>
        <p:nvSpPr>
          <p:cNvPr id="49" name="Google Shape;49;p5"/>
          <p:cNvSpPr txBox="1">
            <a:spLocks noGrp="1"/>
          </p:cNvSpPr>
          <p:nvPr>
            <p:ph type="subTitle" idx="4"/>
          </p:nvPr>
        </p:nvSpPr>
        <p:spPr>
          <a:xfrm>
            <a:off x="4970855" y="3458825"/>
            <a:ext cx="2386500" cy="1149000"/>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1pPr>
            <a:lvl2pPr lvl="1"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algn="ctr"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a:endParaRPr/>
          </a:p>
        </p:txBody>
      </p:sp>
      <p:sp>
        <p:nvSpPr>
          <p:cNvPr id="50" name="Google Shape;50;p5"/>
          <p:cNvSpPr txBox="1">
            <a:spLocks noGrp="1"/>
          </p:cNvSpPr>
          <p:nvPr>
            <p:ph type="title"/>
          </p:nvPr>
        </p:nvSpPr>
        <p:spPr>
          <a:xfrm>
            <a:off x="713225" y="539496"/>
            <a:ext cx="7708500" cy="576000"/>
          </a:xfrm>
          <a:prstGeom prst="rect">
            <a:avLst/>
          </a:prstGeom>
        </p:spPr>
        <p:txBody>
          <a:bodyPr spcFirstLastPara="1" wrap="square" lIns="0" tIns="0" rIns="0" bIns="0" anchor="t" anchorCtr="0">
            <a:noAutofit/>
          </a:bodyPr>
          <a:lstStyle>
            <a:lvl1pPr lvl="0" algn="ctr" rtl="0">
              <a:spcBef>
                <a:spcPts val="0"/>
              </a:spcBef>
              <a:spcAft>
                <a:spcPts val="0"/>
              </a:spcAft>
              <a:buSzPts val="34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dk1"/>
        </a:solidFill>
        <a:effectLst/>
      </p:bgPr>
    </p:bg>
    <p:spTree>
      <p:nvGrpSpPr>
        <p:cNvPr id="1" name="Shape 10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102"/>
        <p:cNvGrpSpPr/>
        <p:nvPr/>
      </p:nvGrpSpPr>
      <p:grpSpPr>
        <a:xfrm>
          <a:off x="0" y="0"/>
          <a:ext cx="0" cy="0"/>
          <a:chOff x="0" y="0"/>
          <a:chExt cx="0" cy="0"/>
        </a:xfrm>
      </p:grpSpPr>
      <p:sp>
        <p:nvSpPr>
          <p:cNvPr id="103" name="Google Shape;103;p13"/>
          <p:cNvSpPr txBox="1">
            <a:spLocks noGrp="1"/>
          </p:cNvSpPr>
          <p:nvPr>
            <p:ph type="title"/>
          </p:nvPr>
        </p:nvSpPr>
        <p:spPr>
          <a:xfrm>
            <a:off x="1849288" y="1728870"/>
            <a:ext cx="2336400" cy="365700"/>
          </a:xfrm>
          <a:prstGeom prst="rect">
            <a:avLst/>
          </a:prstGeom>
        </p:spPr>
        <p:txBody>
          <a:bodyPr spcFirstLastPara="1" wrap="square" lIns="0" tIns="0" rIns="0" bIns="0" anchor="ctr" anchorCtr="0">
            <a:noAutofit/>
          </a:bodyPr>
          <a:lstStyle>
            <a:lvl1pPr lvl="0" rtl="0">
              <a:spcBef>
                <a:spcPts val="0"/>
              </a:spcBef>
              <a:spcAft>
                <a:spcPts val="0"/>
              </a:spcAft>
              <a:buSzPts val="2200"/>
              <a:buNone/>
              <a:defRPr sz="2200"/>
            </a:lvl1pPr>
            <a:lvl2pPr lvl="1" rtl="0">
              <a:spcBef>
                <a:spcPts val="0"/>
              </a:spcBef>
              <a:spcAft>
                <a:spcPts val="0"/>
              </a:spcAft>
              <a:buSzPts val="2200"/>
              <a:buFont typeface="Oswald"/>
              <a:buNone/>
              <a:defRPr sz="2200">
                <a:latin typeface="Oswald"/>
                <a:ea typeface="Oswald"/>
                <a:cs typeface="Oswald"/>
                <a:sym typeface="Oswald"/>
              </a:defRPr>
            </a:lvl2pPr>
            <a:lvl3pPr lvl="2" rtl="0">
              <a:spcBef>
                <a:spcPts val="0"/>
              </a:spcBef>
              <a:spcAft>
                <a:spcPts val="0"/>
              </a:spcAft>
              <a:buSzPts val="2200"/>
              <a:buFont typeface="Oswald"/>
              <a:buNone/>
              <a:defRPr sz="2200">
                <a:latin typeface="Oswald"/>
                <a:ea typeface="Oswald"/>
                <a:cs typeface="Oswald"/>
                <a:sym typeface="Oswald"/>
              </a:defRPr>
            </a:lvl3pPr>
            <a:lvl4pPr lvl="3" rtl="0">
              <a:spcBef>
                <a:spcPts val="0"/>
              </a:spcBef>
              <a:spcAft>
                <a:spcPts val="0"/>
              </a:spcAft>
              <a:buSzPts val="2200"/>
              <a:buFont typeface="Oswald"/>
              <a:buNone/>
              <a:defRPr sz="2200">
                <a:latin typeface="Oswald"/>
                <a:ea typeface="Oswald"/>
                <a:cs typeface="Oswald"/>
                <a:sym typeface="Oswald"/>
              </a:defRPr>
            </a:lvl4pPr>
            <a:lvl5pPr lvl="4" rtl="0">
              <a:spcBef>
                <a:spcPts val="0"/>
              </a:spcBef>
              <a:spcAft>
                <a:spcPts val="0"/>
              </a:spcAft>
              <a:buSzPts val="2200"/>
              <a:buFont typeface="Oswald"/>
              <a:buNone/>
              <a:defRPr sz="2200">
                <a:latin typeface="Oswald"/>
                <a:ea typeface="Oswald"/>
                <a:cs typeface="Oswald"/>
                <a:sym typeface="Oswald"/>
              </a:defRPr>
            </a:lvl5pPr>
            <a:lvl6pPr lvl="5" rtl="0">
              <a:spcBef>
                <a:spcPts val="0"/>
              </a:spcBef>
              <a:spcAft>
                <a:spcPts val="0"/>
              </a:spcAft>
              <a:buSzPts val="2200"/>
              <a:buFont typeface="Oswald"/>
              <a:buNone/>
              <a:defRPr sz="2200">
                <a:latin typeface="Oswald"/>
                <a:ea typeface="Oswald"/>
                <a:cs typeface="Oswald"/>
                <a:sym typeface="Oswald"/>
              </a:defRPr>
            </a:lvl6pPr>
            <a:lvl7pPr lvl="6" rtl="0">
              <a:spcBef>
                <a:spcPts val="0"/>
              </a:spcBef>
              <a:spcAft>
                <a:spcPts val="0"/>
              </a:spcAft>
              <a:buSzPts val="2200"/>
              <a:buFont typeface="Oswald"/>
              <a:buNone/>
              <a:defRPr sz="2200">
                <a:latin typeface="Oswald"/>
                <a:ea typeface="Oswald"/>
                <a:cs typeface="Oswald"/>
                <a:sym typeface="Oswald"/>
              </a:defRPr>
            </a:lvl7pPr>
            <a:lvl8pPr lvl="7" rtl="0">
              <a:spcBef>
                <a:spcPts val="0"/>
              </a:spcBef>
              <a:spcAft>
                <a:spcPts val="0"/>
              </a:spcAft>
              <a:buSzPts val="2200"/>
              <a:buFont typeface="Oswald"/>
              <a:buNone/>
              <a:defRPr sz="2200">
                <a:latin typeface="Oswald"/>
                <a:ea typeface="Oswald"/>
                <a:cs typeface="Oswald"/>
                <a:sym typeface="Oswald"/>
              </a:defRPr>
            </a:lvl8pPr>
            <a:lvl9pPr lvl="8" rtl="0">
              <a:spcBef>
                <a:spcPts val="0"/>
              </a:spcBef>
              <a:spcAft>
                <a:spcPts val="0"/>
              </a:spcAft>
              <a:buSzPts val="2200"/>
              <a:buFont typeface="Oswald"/>
              <a:buNone/>
              <a:defRPr sz="2200">
                <a:latin typeface="Oswald"/>
                <a:ea typeface="Oswald"/>
                <a:cs typeface="Oswald"/>
                <a:sym typeface="Oswald"/>
              </a:defRPr>
            </a:lvl9pPr>
          </a:lstStyle>
          <a:p>
            <a:endParaRPr/>
          </a:p>
        </p:txBody>
      </p:sp>
      <p:sp>
        <p:nvSpPr>
          <p:cNvPr id="104" name="Google Shape;104;p13"/>
          <p:cNvSpPr txBox="1">
            <a:spLocks noGrp="1"/>
          </p:cNvSpPr>
          <p:nvPr>
            <p:ph type="title" idx="2" hasCustomPrompt="1"/>
          </p:nvPr>
        </p:nvSpPr>
        <p:spPr>
          <a:xfrm>
            <a:off x="695771" y="1749900"/>
            <a:ext cx="867300" cy="804600"/>
          </a:xfrm>
          <a:prstGeom prst="rect">
            <a:avLst/>
          </a:prstGeom>
        </p:spPr>
        <p:txBody>
          <a:bodyPr spcFirstLastPara="1" wrap="square" lIns="0" tIns="0" rIns="0" bIns="0" anchor="ctr" anchorCtr="0">
            <a:noAutofit/>
          </a:bodyPr>
          <a:lstStyle>
            <a:lvl1pPr lvl="0" rtl="0">
              <a:spcBef>
                <a:spcPts val="0"/>
              </a:spcBef>
              <a:spcAft>
                <a:spcPts val="0"/>
              </a:spcAft>
              <a:buSzPts val="3000"/>
              <a:buNone/>
              <a:defRPr sz="5200">
                <a:latin typeface="Oswald ExtraLight"/>
                <a:ea typeface="Oswald ExtraLight"/>
                <a:cs typeface="Oswald ExtraLight"/>
                <a:sym typeface="Oswald Extra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5" name="Google Shape;105;p13"/>
          <p:cNvSpPr txBox="1">
            <a:spLocks noGrp="1"/>
          </p:cNvSpPr>
          <p:nvPr>
            <p:ph type="subTitle" idx="1"/>
          </p:nvPr>
        </p:nvSpPr>
        <p:spPr>
          <a:xfrm>
            <a:off x="1849288" y="2105212"/>
            <a:ext cx="2336400" cy="4848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1pPr>
            <a:lvl2pPr lvl="1"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a:endParaRPr/>
          </a:p>
        </p:txBody>
      </p:sp>
      <p:sp>
        <p:nvSpPr>
          <p:cNvPr id="106" name="Google Shape;106;p13"/>
          <p:cNvSpPr txBox="1">
            <a:spLocks noGrp="1"/>
          </p:cNvSpPr>
          <p:nvPr>
            <p:ph type="title" idx="3"/>
          </p:nvPr>
        </p:nvSpPr>
        <p:spPr>
          <a:xfrm>
            <a:off x="6111838" y="1730349"/>
            <a:ext cx="2336400" cy="365700"/>
          </a:xfrm>
          <a:prstGeom prst="rect">
            <a:avLst/>
          </a:prstGeom>
        </p:spPr>
        <p:txBody>
          <a:bodyPr spcFirstLastPara="1" wrap="square" lIns="0" tIns="0" rIns="0" bIns="0" anchor="ctr" anchorCtr="0">
            <a:noAutofit/>
          </a:bodyPr>
          <a:lstStyle>
            <a:lvl1pPr lvl="0" rtl="0">
              <a:spcBef>
                <a:spcPts val="0"/>
              </a:spcBef>
              <a:spcAft>
                <a:spcPts val="0"/>
              </a:spcAft>
              <a:buSzPts val="2200"/>
              <a:buNone/>
              <a:defRPr sz="2200"/>
            </a:lvl1pPr>
            <a:lvl2pPr lvl="1" rtl="0">
              <a:spcBef>
                <a:spcPts val="0"/>
              </a:spcBef>
              <a:spcAft>
                <a:spcPts val="0"/>
              </a:spcAft>
              <a:buSzPts val="2200"/>
              <a:buFont typeface="Oswald"/>
              <a:buNone/>
              <a:defRPr sz="2200">
                <a:latin typeface="Oswald"/>
                <a:ea typeface="Oswald"/>
                <a:cs typeface="Oswald"/>
                <a:sym typeface="Oswald"/>
              </a:defRPr>
            </a:lvl2pPr>
            <a:lvl3pPr lvl="2" rtl="0">
              <a:spcBef>
                <a:spcPts val="0"/>
              </a:spcBef>
              <a:spcAft>
                <a:spcPts val="0"/>
              </a:spcAft>
              <a:buSzPts val="2200"/>
              <a:buFont typeface="Oswald"/>
              <a:buNone/>
              <a:defRPr sz="2200">
                <a:latin typeface="Oswald"/>
                <a:ea typeface="Oswald"/>
                <a:cs typeface="Oswald"/>
                <a:sym typeface="Oswald"/>
              </a:defRPr>
            </a:lvl3pPr>
            <a:lvl4pPr lvl="3" rtl="0">
              <a:spcBef>
                <a:spcPts val="0"/>
              </a:spcBef>
              <a:spcAft>
                <a:spcPts val="0"/>
              </a:spcAft>
              <a:buSzPts val="2200"/>
              <a:buFont typeface="Oswald"/>
              <a:buNone/>
              <a:defRPr sz="2200">
                <a:latin typeface="Oswald"/>
                <a:ea typeface="Oswald"/>
                <a:cs typeface="Oswald"/>
                <a:sym typeface="Oswald"/>
              </a:defRPr>
            </a:lvl4pPr>
            <a:lvl5pPr lvl="4" rtl="0">
              <a:spcBef>
                <a:spcPts val="0"/>
              </a:spcBef>
              <a:spcAft>
                <a:spcPts val="0"/>
              </a:spcAft>
              <a:buSzPts val="2200"/>
              <a:buFont typeface="Oswald"/>
              <a:buNone/>
              <a:defRPr sz="2200">
                <a:latin typeface="Oswald"/>
                <a:ea typeface="Oswald"/>
                <a:cs typeface="Oswald"/>
                <a:sym typeface="Oswald"/>
              </a:defRPr>
            </a:lvl5pPr>
            <a:lvl6pPr lvl="5" rtl="0">
              <a:spcBef>
                <a:spcPts val="0"/>
              </a:spcBef>
              <a:spcAft>
                <a:spcPts val="0"/>
              </a:spcAft>
              <a:buSzPts val="2200"/>
              <a:buFont typeface="Oswald"/>
              <a:buNone/>
              <a:defRPr sz="2200">
                <a:latin typeface="Oswald"/>
                <a:ea typeface="Oswald"/>
                <a:cs typeface="Oswald"/>
                <a:sym typeface="Oswald"/>
              </a:defRPr>
            </a:lvl6pPr>
            <a:lvl7pPr lvl="6" rtl="0">
              <a:spcBef>
                <a:spcPts val="0"/>
              </a:spcBef>
              <a:spcAft>
                <a:spcPts val="0"/>
              </a:spcAft>
              <a:buSzPts val="2200"/>
              <a:buFont typeface="Oswald"/>
              <a:buNone/>
              <a:defRPr sz="2200">
                <a:latin typeface="Oswald"/>
                <a:ea typeface="Oswald"/>
                <a:cs typeface="Oswald"/>
                <a:sym typeface="Oswald"/>
              </a:defRPr>
            </a:lvl7pPr>
            <a:lvl8pPr lvl="7" rtl="0">
              <a:spcBef>
                <a:spcPts val="0"/>
              </a:spcBef>
              <a:spcAft>
                <a:spcPts val="0"/>
              </a:spcAft>
              <a:buSzPts val="2200"/>
              <a:buFont typeface="Oswald"/>
              <a:buNone/>
              <a:defRPr sz="2200">
                <a:latin typeface="Oswald"/>
                <a:ea typeface="Oswald"/>
                <a:cs typeface="Oswald"/>
                <a:sym typeface="Oswald"/>
              </a:defRPr>
            </a:lvl8pPr>
            <a:lvl9pPr lvl="8" rtl="0">
              <a:spcBef>
                <a:spcPts val="0"/>
              </a:spcBef>
              <a:spcAft>
                <a:spcPts val="0"/>
              </a:spcAft>
              <a:buSzPts val="2200"/>
              <a:buFont typeface="Oswald"/>
              <a:buNone/>
              <a:defRPr sz="2200">
                <a:latin typeface="Oswald"/>
                <a:ea typeface="Oswald"/>
                <a:cs typeface="Oswald"/>
                <a:sym typeface="Oswald"/>
              </a:defRPr>
            </a:lvl9pPr>
          </a:lstStyle>
          <a:p>
            <a:endParaRPr/>
          </a:p>
        </p:txBody>
      </p:sp>
      <p:sp>
        <p:nvSpPr>
          <p:cNvPr id="107" name="Google Shape;107;p13"/>
          <p:cNvSpPr txBox="1">
            <a:spLocks noGrp="1"/>
          </p:cNvSpPr>
          <p:nvPr>
            <p:ph type="title" idx="4" hasCustomPrompt="1"/>
          </p:nvPr>
        </p:nvSpPr>
        <p:spPr>
          <a:xfrm>
            <a:off x="4961874" y="1749900"/>
            <a:ext cx="867300" cy="804600"/>
          </a:xfrm>
          <a:prstGeom prst="rect">
            <a:avLst/>
          </a:prstGeom>
        </p:spPr>
        <p:txBody>
          <a:bodyPr spcFirstLastPara="1" wrap="square" lIns="0" tIns="0" rIns="0" bIns="0" anchor="ctr" anchorCtr="0">
            <a:noAutofit/>
          </a:bodyPr>
          <a:lstStyle>
            <a:lvl1pPr lvl="0" rtl="0">
              <a:spcBef>
                <a:spcPts val="0"/>
              </a:spcBef>
              <a:spcAft>
                <a:spcPts val="0"/>
              </a:spcAft>
              <a:buSzPts val="3000"/>
              <a:buNone/>
              <a:defRPr sz="5200">
                <a:latin typeface="Oswald ExtraLight"/>
                <a:ea typeface="Oswald ExtraLight"/>
                <a:cs typeface="Oswald ExtraLight"/>
                <a:sym typeface="Oswald Extra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8" name="Google Shape;108;p13"/>
          <p:cNvSpPr txBox="1">
            <a:spLocks noGrp="1"/>
          </p:cNvSpPr>
          <p:nvPr>
            <p:ph type="subTitle" idx="5"/>
          </p:nvPr>
        </p:nvSpPr>
        <p:spPr>
          <a:xfrm>
            <a:off x="6111838" y="2110350"/>
            <a:ext cx="2336400" cy="4800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1pPr>
            <a:lvl2pPr lvl="1"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a:endParaRPr/>
          </a:p>
        </p:txBody>
      </p:sp>
      <p:sp>
        <p:nvSpPr>
          <p:cNvPr id="109" name="Google Shape;109;p13"/>
          <p:cNvSpPr txBox="1">
            <a:spLocks noGrp="1"/>
          </p:cNvSpPr>
          <p:nvPr>
            <p:ph type="title" idx="6"/>
          </p:nvPr>
        </p:nvSpPr>
        <p:spPr>
          <a:xfrm>
            <a:off x="1853038" y="3419068"/>
            <a:ext cx="2336400" cy="365700"/>
          </a:xfrm>
          <a:prstGeom prst="rect">
            <a:avLst/>
          </a:prstGeom>
        </p:spPr>
        <p:txBody>
          <a:bodyPr spcFirstLastPara="1" wrap="square" lIns="0" tIns="0" rIns="0" bIns="0" anchor="ctr" anchorCtr="0">
            <a:noAutofit/>
          </a:bodyPr>
          <a:lstStyle>
            <a:lvl1pPr lvl="0" rtl="0">
              <a:spcBef>
                <a:spcPts val="0"/>
              </a:spcBef>
              <a:spcAft>
                <a:spcPts val="0"/>
              </a:spcAft>
              <a:buSzPts val="2200"/>
              <a:buNone/>
              <a:defRPr sz="2200"/>
            </a:lvl1pPr>
            <a:lvl2pPr lvl="1" rtl="0">
              <a:spcBef>
                <a:spcPts val="0"/>
              </a:spcBef>
              <a:spcAft>
                <a:spcPts val="0"/>
              </a:spcAft>
              <a:buSzPts val="2200"/>
              <a:buFont typeface="Oswald"/>
              <a:buNone/>
              <a:defRPr sz="2200">
                <a:latin typeface="Oswald"/>
                <a:ea typeface="Oswald"/>
                <a:cs typeface="Oswald"/>
                <a:sym typeface="Oswald"/>
              </a:defRPr>
            </a:lvl2pPr>
            <a:lvl3pPr lvl="2" rtl="0">
              <a:spcBef>
                <a:spcPts val="0"/>
              </a:spcBef>
              <a:spcAft>
                <a:spcPts val="0"/>
              </a:spcAft>
              <a:buSzPts val="2200"/>
              <a:buFont typeface="Oswald"/>
              <a:buNone/>
              <a:defRPr sz="2200">
                <a:latin typeface="Oswald"/>
                <a:ea typeface="Oswald"/>
                <a:cs typeface="Oswald"/>
                <a:sym typeface="Oswald"/>
              </a:defRPr>
            </a:lvl3pPr>
            <a:lvl4pPr lvl="3" rtl="0">
              <a:spcBef>
                <a:spcPts val="0"/>
              </a:spcBef>
              <a:spcAft>
                <a:spcPts val="0"/>
              </a:spcAft>
              <a:buSzPts val="2200"/>
              <a:buFont typeface="Oswald"/>
              <a:buNone/>
              <a:defRPr sz="2200">
                <a:latin typeface="Oswald"/>
                <a:ea typeface="Oswald"/>
                <a:cs typeface="Oswald"/>
                <a:sym typeface="Oswald"/>
              </a:defRPr>
            </a:lvl4pPr>
            <a:lvl5pPr lvl="4" rtl="0">
              <a:spcBef>
                <a:spcPts val="0"/>
              </a:spcBef>
              <a:spcAft>
                <a:spcPts val="0"/>
              </a:spcAft>
              <a:buSzPts val="2200"/>
              <a:buFont typeface="Oswald"/>
              <a:buNone/>
              <a:defRPr sz="2200">
                <a:latin typeface="Oswald"/>
                <a:ea typeface="Oswald"/>
                <a:cs typeface="Oswald"/>
                <a:sym typeface="Oswald"/>
              </a:defRPr>
            </a:lvl5pPr>
            <a:lvl6pPr lvl="5" rtl="0">
              <a:spcBef>
                <a:spcPts val="0"/>
              </a:spcBef>
              <a:spcAft>
                <a:spcPts val="0"/>
              </a:spcAft>
              <a:buSzPts val="2200"/>
              <a:buFont typeface="Oswald"/>
              <a:buNone/>
              <a:defRPr sz="2200">
                <a:latin typeface="Oswald"/>
                <a:ea typeface="Oswald"/>
                <a:cs typeface="Oswald"/>
                <a:sym typeface="Oswald"/>
              </a:defRPr>
            </a:lvl6pPr>
            <a:lvl7pPr lvl="6" rtl="0">
              <a:spcBef>
                <a:spcPts val="0"/>
              </a:spcBef>
              <a:spcAft>
                <a:spcPts val="0"/>
              </a:spcAft>
              <a:buSzPts val="2200"/>
              <a:buFont typeface="Oswald"/>
              <a:buNone/>
              <a:defRPr sz="2200">
                <a:latin typeface="Oswald"/>
                <a:ea typeface="Oswald"/>
                <a:cs typeface="Oswald"/>
                <a:sym typeface="Oswald"/>
              </a:defRPr>
            </a:lvl7pPr>
            <a:lvl8pPr lvl="7" rtl="0">
              <a:spcBef>
                <a:spcPts val="0"/>
              </a:spcBef>
              <a:spcAft>
                <a:spcPts val="0"/>
              </a:spcAft>
              <a:buSzPts val="2200"/>
              <a:buFont typeface="Oswald"/>
              <a:buNone/>
              <a:defRPr sz="2200">
                <a:latin typeface="Oswald"/>
                <a:ea typeface="Oswald"/>
                <a:cs typeface="Oswald"/>
                <a:sym typeface="Oswald"/>
              </a:defRPr>
            </a:lvl8pPr>
            <a:lvl9pPr lvl="8" rtl="0">
              <a:spcBef>
                <a:spcPts val="0"/>
              </a:spcBef>
              <a:spcAft>
                <a:spcPts val="0"/>
              </a:spcAft>
              <a:buSzPts val="2200"/>
              <a:buFont typeface="Oswald"/>
              <a:buNone/>
              <a:defRPr sz="2200">
                <a:latin typeface="Oswald"/>
                <a:ea typeface="Oswald"/>
                <a:cs typeface="Oswald"/>
                <a:sym typeface="Oswald"/>
              </a:defRPr>
            </a:lvl9pPr>
          </a:lstStyle>
          <a:p>
            <a:endParaRPr/>
          </a:p>
        </p:txBody>
      </p:sp>
      <p:sp>
        <p:nvSpPr>
          <p:cNvPr id="110" name="Google Shape;110;p13"/>
          <p:cNvSpPr txBox="1">
            <a:spLocks noGrp="1"/>
          </p:cNvSpPr>
          <p:nvPr>
            <p:ph type="title" idx="7" hasCustomPrompt="1"/>
          </p:nvPr>
        </p:nvSpPr>
        <p:spPr>
          <a:xfrm>
            <a:off x="695771" y="3448775"/>
            <a:ext cx="867300" cy="804600"/>
          </a:xfrm>
          <a:prstGeom prst="rect">
            <a:avLst/>
          </a:prstGeom>
        </p:spPr>
        <p:txBody>
          <a:bodyPr spcFirstLastPara="1" wrap="square" lIns="0" tIns="0" rIns="0" bIns="0" anchor="ctr" anchorCtr="0">
            <a:noAutofit/>
          </a:bodyPr>
          <a:lstStyle>
            <a:lvl1pPr lvl="0" rtl="0">
              <a:spcBef>
                <a:spcPts val="0"/>
              </a:spcBef>
              <a:spcAft>
                <a:spcPts val="0"/>
              </a:spcAft>
              <a:buSzPts val="3000"/>
              <a:buNone/>
              <a:defRPr sz="5200">
                <a:latin typeface="Oswald ExtraLight"/>
                <a:ea typeface="Oswald ExtraLight"/>
                <a:cs typeface="Oswald ExtraLight"/>
                <a:sym typeface="Oswald Extra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1" name="Google Shape;111;p13"/>
          <p:cNvSpPr txBox="1">
            <a:spLocks noGrp="1"/>
          </p:cNvSpPr>
          <p:nvPr>
            <p:ph type="subTitle" idx="8"/>
          </p:nvPr>
        </p:nvSpPr>
        <p:spPr>
          <a:xfrm>
            <a:off x="1853038" y="3800225"/>
            <a:ext cx="2336400" cy="4800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1pPr>
            <a:lvl2pPr lvl="1"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a:endParaRPr/>
          </a:p>
        </p:txBody>
      </p:sp>
      <p:sp>
        <p:nvSpPr>
          <p:cNvPr id="112" name="Google Shape;112;p13"/>
          <p:cNvSpPr txBox="1">
            <a:spLocks noGrp="1"/>
          </p:cNvSpPr>
          <p:nvPr>
            <p:ph type="title" idx="9"/>
          </p:nvPr>
        </p:nvSpPr>
        <p:spPr>
          <a:xfrm>
            <a:off x="6111838" y="3421989"/>
            <a:ext cx="2336400" cy="361200"/>
          </a:xfrm>
          <a:prstGeom prst="rect">
            <a:avLst/>
          </a:prstGeom>
        </p:spPr>
        <p:txBody>
          <a:bodyPr spcFirstLastPara="1" wrap="square" lIns="0" tIns="0" rIns="0" bIns="0" anchor="ctr" anchorCtr="0">
            <a:noAutofit/>
          </a:bodyPr>
          <a:lstStyle>
            <a:lvl1pPr lvl="0" rtl="0">
              <a:spcBef>
                <a:spcPts val="0"/>
              </a:spcBef>
              <a:spcAft>
                <a:spcPts val="0"/>
              </a:spcAft>
              <a:buSzPts val="2200"/>
              <a:buNone/>
              <a:defRPr sz="2200"/>
            </a:lvl1pPr>
            <a:lvl2pPr lvl="1" rtl="0">
              <a:spcBef>
                <a:spcPts val="0"/>
              </a:spcBef>
              <a:spcAft>
                <a:spcPts val="0"/>
              </a:spcAft>
              <a:buSzPts val="2200"/>
              <a:buFont typeface="Oswald"/>
              <a:buNone/>
              <a:defRPr sz="2200">
                <a:latin typeface="Oswald"/>
                <a:ea typeface="Oswald"/>
                <a:cs typeface="Oswald"/>
                <a:sym typeface="Oswald"/>
              </a:defRPr>
            </a:lvl2pPr>
            <a:lvl3pPr lvl="2" rtl="0">
              <a:spcBef>
                <a:spcPts val="0"/>
              </a:spcBef>
              <a:spcAft>
                <a:spcPts val="0"/>
              </a:spcAft>
              <a:buSzPts val="2200"/>
              <a:buFont typeface="Oswald"/>
              <a:buNone/>
              <a:defRPr sz="2200">
                <a:latin typeface="Oswald"/>
                <a:ea typeface="Oswald"/>
                <a:cs typeface="Oswald"/>
                <a:sym typeface="Oswald"/>
              </a:defRPr>
            </a:lvl3pPr>
            <a:lvl4pPr lvl="3" rtl="0">
              <a:spcBef>
                <a:spcPts val="0"/>
              </a:spcBef>
              <a:spcAft>
                <a:spcPts val="0"/>
              </a:spcAft>
              <a:buSzPts val="2200"/>
              <a:buFont typeface="Oswald"/>
              <a:buNone/>
              <a:defRPr sz="2200">
                <a:latin typeface="Oswald"/>
                <a:ea typeface="Oswald"/>
                <a:cs typeface="Oswald"/>
                <a:sym typeface="Oswald"/>
              </a:defRPr>
            </a:lvl4pPr>
            <a:lvl5pPr lvl="4" rtl="0">
              <a:spcBef>
                <a:spcPts val="0"/>
              </a:spcBef>
              <a:spcAft>
                <a:spcPts val="0"/>
              </a:spcAft>
              <a:buSzPts val="2200"/>
              <a:buFont typeface="Oswald"/>
              <a:buNone/>
              <a:defRPr sz="2200">
                <a:latin typeface="Oswald"/>
                <a:ea typeface="Oswald"/>
                <a:cs typeface="Oswald"/>
                <a:sym typeface="Oswald"/>
              </a:defRPr>
            </a:lvl5pPr>
            <a:lvl6pPr lvl="5" rtl="0">
              <a:spcBef>
                <a:spcPts val="0"/>
              </a:spcBef>
              <a:spcAft>
                <a:spcPts val="0"/>
              </a:spcAft>
              <a:buSzPts val="2200"/>
              <a:buFont typeface="Oswald"/>
              <a:buNone/>
              <a:defRPr sz="2200">
                <a:latin typeface="Oswald"/>
                <a:ea typeface="Oswald"/>
                <a:cs typeface="Oswald"/>
                <a:sym typeface="Oswald"/>
              </a:defRPr>
            </a:lvl6pPr>
            <a:lvl7pPr lvl="6" rtl="0">
              <a:spcBef>
                <a:spcPts val="0"/>
              </a:spcBef>
              <a:spcAft>
                <a:spcPts val="0"/>
              </a:spcAft>
              <a:buSzPts val="2200"/>
              <a:buFont typeface="Oswald"/>
              <a:buNone/>
              <a:defRPr sz="2200">
                <a:latin typeface="Oswald"/>
                <a:ea typeface="Oswald"/>
                <a:cs typeface="Oswald"/>
                <a:sym typeface="Oswald"/>
              </a:defRPr>
            </a:lvl7pPr>
            <a:lvl8pPr lvl="7" rtl="0">
              <a:spcBef>
                <a:spcPts val="0"/>
              </a:spcBef>
              <a:spcAft>
                <a:spcPts val="0"/>
              </a:spcAft>
              <a:buSzPts val="2200"/>
              <a:buFont typeface="Oswald"/>
              <a:buNone/>
              <a:defRPr sz="2200">
                <a:latin typeface="Oswald"/>
                <a:ea typeface="Oswald"/>
                <a:cs typeface="Oswald"/>
                <a:sym typeface="Oswald"/>
              </a:defRPr>
            </a:lvl8pPr>
            <a:lvl9pPr lvl="8" rtl="0">
              <a:spcBef>
                <a:spcPts val="0"/>
              </a:spcBef>
              <a:spcAft>
                <a:spcPts val="0"/>
              </a:spcAft>
              <a:buSzPts val="2200"/>
              <a:buFont typeface="Oswald"/>
              <a:buNone/>
              <a:defRPr sz="2200">
                <a:latin typeface="Oswald"/>
                <a:ea typeface="Oswald"/>
                <a:cs typeface="Oswald"/>
                <a:sym typeface="Oswald"/>
              </a:defRPr>
            </a:lvl9pPr>
          </a:lstStyle>
          <a:p>
            <a:endParaRPr/>
          </a:p>
        </p:txBody>
      </p:sp>
      <p:sp>
        <p:nvSpPr>
          <p:cNvPr id="113" name="Google Shape;113;p13"/>
          <p:cNvSpPr txBox="1">
            <a:spLocks noGrp="1"/>
          </p:cNvSpPr>
          <p:nvPr>
            <p:ph type="title" idx="13" hasCustomPrompt="1"/>
          </p:nvPr>
        </p:nvSpPr>
        <p:spPr>
          <a:xfrm>
            <a:off x="4961874" y="3453772"/>
            <a:ext cx="867300" cy="804600"/>
          </a:xfrm>
          <a:prstGeom prst="rect">
            <a:avLst/>
          </a:prstGeom>
        </p:spPr>
        <p:txBody>
          <a:bodyPr spcFirstLastPara="1" wrap="square" lIns="0" tIns="0" rIns="0" bIns="0" anchor="ctr" anchorCtr="0">
            <a:noAutofit/>
          </a:bodyPr>
          <a:lstStyle>
            <a:lvl1pPr lvl="0" rtl="0">
              <a:spcBef>
                <a:spcPts val="0"/>
              </a:spcBef>
              <a:spcAft>
                <a:spcPts val="0"/>
              </a:spcAft>
              <a:buSzPts val="3000"/>
              <a:buNone/>
              <a:defRPr sz="5200">
                <a:latin typeface="Oswald ExtraLight"/>
                <a:ea typeface="Oswald ExtraLight"/>
                <a:cs typeface="Oswald ExtraLight"/>
                <a:sym typeface="Oswald ExtraLight"/>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4" name="Google Shape;114;p13"/>
          <p:cNvSpPr txBox="1">
            <a:spLocks noGrp="1"/>
          </p:cNvSpPr>
          <p:nvPr>
            <p:ph type="subTitle" idx="14"/>
          </p:nvPr>
        </p:nvSpPr>
        <p:spPr>
          <a:xfrm>
            <a:off x="6111838" y="3797480"/>
            <a:ext cx="2336400" cy="484500"/>
          </a:xfrm>
          <a:prstGeom prst="rect">
            <a:avLst/>
          </a:prstGeom>
          <a:noFill/>
          <a:ln>
            <a:noFill/>
          </a:ln>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1pPr>
            <a:lvl2pPr lvl="1"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2pPr>
            <a:lvl3pPr lvl="2"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3pPr>
            <a:lvl4pPr lvl="3"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4pPr>
            <a:lvl5pPr lvl="4"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5pPr>
            <a:lvl6pPr lvl="5"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6pPr>
            <a:lvl7pPr lvl="6"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7pPr>
            <a:lvl8pPr lvl="7"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8pPr>
            <a:lvl9pPr lvl="8" rtl="0">
              <a:lnSpc>
                <a:spcPct val="100000"/>
              </a:lnSpc>
              <a:spcBef>
                <a:spcPts val="0"/>
              </a:spcBef>
              <a:spcAft>
                <a:spcPts val="0"/>
              </a:spcAft>
              <a:buClr>
                <a:schemeClr val="dk1"/>
              </a:buClr>
              <a:buSzPts val="1400"/>
              <a:buFont typeface="DM Sans"/>
              <a:buNone/>
              <a:defRPr>
                <a:solidFill>
                  <a:schemeClr val="dk1"/>
                </a:solidFill>
                <a:latin typeface="DM Sans"/>
                <a:ea typeface="DM Sans"/>
                <a:cs typeface="DM Sans"/>
                <a:sym typeface="DM Sans"/>
              </a:defRPr>
            </a:lvl9pPr>
          </a:lstStyle>
          <a:p>
            <a:endParaRPr/>
          </a:p>
        </p:txBody>
      </p:sp>
      <p:sp>
        <p:nvSpPr>
          <p:cNvPr id="115" name="Google Shape;115;p13"/>
          <p:cNvSpPr txBox="1">
            <a:spLocks noGrp="1"/>
          </p:cNvSpPr>
          <p:nvPr>
            <p:ph type="title" idx="15"/>
          </p:nvPr>
        </p:nvSpPr>
        <p:spPr>
          <a:xfrm>
            <a:off x="720000" y="539496"/>
            <a:ext cx="7704000" cy="576000"/>
          </a:xfrm>
          <a:prstGeom prst="rect">
            <a:avLst/>
          </a:prstGeom>
        </p:spPr>
        <p:txBody>
          <a:bodyPr spcFirstLastPara="1" wrap="square" lIns="0" tIns="0" rIns="0" bIns="0" anchor="t" anchorCtr="0">
            <a:noAutofit/>
          </a:bodyPr>
          <a:lstStyle>
            <a:lvl1pPr lvl="0" algn="ctr" rtl="0">
              <a:spcBef>
                <a:spcPts val="0"/>
              </a:spcBef>
              <a:spcAft>
                <a:spcPts val="0"/>
              </a:spcAft>
              <a:buSzPts val="34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BLANK_1_1_1_1_1_1_1_1_1_1_1">
    <p:bg>
      <p:bgPr>
        <a:gradFill>
          <a:gsLst>
            <a:gs pos="0">
              <a:schemeClr val="accent3"/>
            </a:gs>
            <a:gs pos="44000">
              <a:schemeClr val="accent4"/>
            </a:gs>
            <a:gs pos="100000">
              <a:schemeClr val="accent5"/>
            </a:gs>
          </a:gsLst>
          <a:lin ang="2698631" scaled="0"/>
        </a:gradFill>
        <a:effectLst/>
      </p:bgPr>
    </p:bg>
    <p:spTree>
      <p:nvGrpSpPr>
        <p:cNvPr id="1" name="Shape 21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BLANK_1_1_1_1_1_1_1_1_1_1_1_2">
    <p:bg>
      <p:bgPr>
        <a:gradFill>
          <a:gsLst>
            <a:gs pos="0">
              <a:schemeClr val="accent2"/>
            </a:gs>
            <a:gs pos="36000">
              <a:schemeClr val="accent4"/>
            </a:gs>
            <a:gs pos="100000">
              <a:schemeClr val="accent4"/>
            </a:gs>
          </a:gsLst>
          <a:lin ang="2698631" scaled="0"/>
        </a:gradFill>
        <a:effectLst/>
      </p:bgPr>
    </p:bg>
    <p:spTree>
      <p:nvGrpSpPr>
        <p:cNvPr id="1" name="Shape 21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chemeClr val="accent5"/>
            </a:gs>
            <a:gs pos="48000">
              <a:schemeClr val="accent4"/>
            </a:gs>
            <a:gs pos="100000">
              <a:schemeClr val="accent2"/>
            </a:gs>
          </a:gsLst>
          <a:lin ang="2698631" scaled="0"/>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496"/>
            <a:ext cx="7708500" cy="576000"/>
          </a:xfrm>
          <a:prstGeom prst="rect">
            <a:avLst/>
          </a:prstGeom>
          <a:noFill/>
          <a:ln>
            <a:noFill/>
          </a:ln>
        </p:spPr>
        <p:txBody>
          <a:bodyPr spcFirstLastPara="1" wrap="square" lIns="0" tIns="0" rIns="0" bIns="0" anchor="t" anchorCtr="0">
            <a:noAutofit/>
          </a:bodyPr>
          <a:lstStyle>
            <a:lvl1pPr lvl="0" rtl="0">
              <a:spcBef>
                <a:spcPts val="0"/>
              </a:spcBef>
              <a:spcAft>
                <a:spcPts val="0"/>
              </a:spcAft>
              <a:buClr>
                <a:schemeClr val="dk1"/>
              </a:buClr>
              <a:buSzPts val="3400"/>
              <a:buFont typeface="Oswald"/>
              <a:buNone/>
              <a:defRPr sz="3400">
                <a:solidFill>
                  <a:schemeClr val="dk1"/>
                </a:solidFill>
                <a:latin typeface="Oswald"/>
                <a:ea typeface="Oswald"/>
                <a:cs typeface="Oswald"/>
                <a:sym typeface="Oswald"/>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dk1"/>
              </a:buClr>
              <a:buSzPts val="1400"/>
              <a:buFont typeface="DM Sans"/>
              <a:buChar char="●"/>
              <a:defRPr>
                <a:solidFill>
                  <a:schemeClr val="dk1"/>
                </a:solidFill>
                <a:latin typeface="DM Sans"/>
                <a:ea typeface="DM Sans"/>
                <a:cs typeface="DM Sans"/>
                <a:sym typeface="DM Sans"/>
              </a:defRPr>
            </a:lvl1pPr>
            <a:lvl2pPr marL="914400" lvl="1"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2pPr>
            <a:lvl3pPr marL="1371600" lvl="2"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3pPr>
            <a:lvl4pPr marL="1828800" lvl="3"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4pPr>
            <a:lvl5pPr marL="2286000" lvl="4"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5pPr>
            <a:lvl6pPr marL="2743200" lvl="5"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6pPr>
            <a:lvl7pPr marL="3200400" lvl="6"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7pPr>
            <a:lvl8pPr marL="3657600" lvl="7" indent="-317500" rtl="0">
              <a:lnSpc>
                <a:spcPct val="115000"/>
              </a:lnSpc>
              <a:spcBef>
                <a:spcPts val="1600"/>
              </a:spcBef>
              <a:spcAft>
                <a:spcPts val="0"/>
              </a:spcAft>
              <a:buClr>
                <a:schemeClr val="dk1"/>
              </a:buClr>
              <a:buSzPts val="1400"/>
              <a:buFont typeface="DM Sans"/>
              <a:buChar char="○"/>
              <a:defRPr>
                <a:solidFill>
                  <a:schemeClr val="dk1"/>
                </a:solidFill>
                <a:latin typeface="DM Sans"/>
                <a:ea typeface="DM Sans"/>
                <a:cs typeface="DM Sans"/>
                <a:sym typeface="DM Sans"/>
              </a:defRPr>
            </a:lvl8pPr>
            <a:lvl9pPr marL="4114800" lvl="8" indent="-317500" rtl="0">
              <a:lnSpc>
                <a:spcPct val="115000"/>
              </a:lnSpc>
              <a:spcBef>
                <a:spcPts val="1600"/>
              </a:spcBef>
              <a:spcAft>
                <a:spcPts val="1600"/>
              </a:spcAft>
              <a:buClr>
                <a:schemeClr val="dk1"/>
              </a:buClr>
              <a:buSzPts val="1400"/>
              <a:buFont typeface="DM Sans"/>
              <a:buChar char="■"/>
              <a:defRPr>
                <a:solidFill>
                  <a:schemeClr val="dk1"/>
                </a:solidFill>
                <a:latin typeface="DM Sans"/>
                <a:ea typeface="DM Sans"/>
                <a:cs typeface="DM Sans"/>
                <a:sym typeface="DM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8" r:id="rId4"/>
    <p:sldLayoutId id="2147483659" r:id="rId5"/>
    <p:sldLayoutId id="2147483671" r:id="rId6"/>
    <p:sldLayoutId id="2147483672"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9.jpg"/></Relationships>
</file>

<file path=ppt/slides/_rels/slide1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9.jpg"/></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9.jpg"/></Relationships>
</file>

<file path=ppt/slides/_rels/slide1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16.jpg"/></Relationships>
</file>

<file path=ppt/slides/_rels/slide2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7.jpg"/></Relationships>
</file>

<file path=ppt/slides/_rels/slide2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8.jpg"/></Relationships>
</file>

<file path=ppt/slides/_rels/slide2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9.jpg"/></Relationships>
</file>

<file path=ppt/slides/_rels/slide2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0.jpg"/></Relationships>
</file>

<file path=ppt/slides/_rels/slide2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21.jpg"/></Relationships>
</file>

<file path=ppt/slides/_rels/slide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1.jpg"/></Relationships>
</file>

<file path=ppt/slides/_rels/slide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8442" y="-71919"/>
            <a:ext cx="9410916" cy="5315651"/>
          </a:xfrm>
          <a:prstGeom prst="rect">
            <a:avLst/>
          </a:prstGeom>
          <a:blipFill dpi="0" rotWithShape="1">
            <a:blip r:embed="rId2"/>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319233750"/>
      </p:ext>
    </p:extLst>
  </p:cSld>
  <p:clrMapOvr>
    <a:masterClrMapping/>
  </p:clrMapOvr>
  <mc:AlternateContent xmlns:mc="http://schemas.openxmlformats.org/markup-compatibility/2006" xmlns:p14="http://schemas.microsoft.com/office/powerpoint/2010/main">
    <mc:Choice Requires="p14">
      <p:transition spd="slow" p14:dur="2250" advClick="0">
        <p14:reveal/>
      </p:transition>
    </mc:Choice>
    <mc:Fallback xmlns="">
      <p:transition spd="slow" advClick="0">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48000">
              <a:schemeClr val="accent5">
                <a:lumMod val="75000"/>
                <a:lumOff val="25000"/>
              </a:schemeClr>
            </a:gs>
            <a:gs pos="100000">
              <a:srgbClr val="00B0F0"/>
            </a:gs>
          </a:gsLst>
          <a:lin ang="2698631" scaled="0"/>
        </a:gradFill>
        <a:effectLst/>
      </p:bgPr>
    </p:bg>
    <p:spTree>
      <p:nvGrpSpPr>
        <p:cNvPr id="1" name=""/>
        <p:cNvGrpSpPr/>
        <p:nvPr/>
      </p:nvGrpSpPr>
      <p:grpSpPr>
        <a:xfrm>
          <a:off x="0" y="0"/>
          <a:ext cx="0" cy="0"/>
          <a:chOff x="0" y="0"/>
          <a:chExt cx="0" cy="0"/>
        </a:xfrm>
      </p:grpSpPr>
      <p:sp>
        <p:nvSpPr>
          <p:cNvPr id="4" name="TextBox 3"/>
          <p:cNvSpPr txBox="1"/>
          <p:nvPr/>
        </p:nvSpPr>
        <p:spPr>
          <a:xfrm>
            <a:off x="1783591" y="526173"/>
            <a:ext cx="5738585" cy="415498"/>
          </a:xfrm>
          <a:prstGeom prst="rect">
            <a:avLst/>
          </a:prstGeom>
          <a:noFill/>
        </p:spPr>
        <p:txBody>
          <a:bodyPr wrap="square" rtlCol="0">
            <a:spAutoFit/>
          </a:bodyPr>
          <a:lstStyle/>
          <a:p>
            <a:pPr algn="ctr"/>
            <a:r>
              <a:rPr lang="en-US" sz="2100" dirty="0" smtClean="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OPERATING SYSTEM</a:t>
            </a:r>
            <a:endParaRPr lang="en-US" sz="2100" dirty="0">
              <a:solidFill>
                <a:srgbClr val="FFFF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7" name="TextBox 6"/>
          <p:cNvSpPr txBox="1"/>
          <p:nvPr/>
        </p:nvSpPr>
        <p:spPr>
          <a:xfrm>
            <a:off x="2306951" y="2255773"/>
            <a:ext cx="4884489" cy="323165"/>
          </a:xfrm>
          <a:prstGeom prst="rect">
            <a:avLst/>
          </a:prstGeom>
          <a:noFill/>
        </p:spPr>
        <p:txBody>
          <a:bodyPr wrap="square" rtlCol="0">
            <a:spAutoFit/>
          </a:bodyPr>
          <a:lstStyle/>
          <a:p>
            <a:pPr algn="ctr"/>
            <a:r>
              <a:rPr lang="en-US" sz="1500" b="1" dirty="0" smtClean="0">
                <a:solidFill>
                  <a:srgbClr val="FFC000"/>
                </a:solidFill>
                <a:latin typeface="Oswald" panose="020B0604020202020204" charset="0"/>
                <a:cs typeface="Times New Roman" panose="02020603050405020304" pitchFamily="18" charset="0"/>
              </a:rPr>
              <a:t>For The Partial Fulfillment of the Requirements for the </a:t>
            </a:r>
            <a:endParaRPr lang="en-US" sz="1500" b="1" dirty="0">
              <a:solidFill>
                <a:srgbClr val="FFC000"/>
              </a:solidFill>
              <a:latin typeface="Oswald" panose="020B0604020202020204" charset="0"/>
              <a:cs typeface="Times New Roman" panose="02020603050405020304" pitchFamily="18" charset="0"/>
            </a:endParaRPr>
          </a:p>
        </p:txBody>
      </p:sp>
      <p:sp>
        <p:nvSpPr>
          <p:cNvPr id="8" name="Text Box 6"/>
          <p:cNvSpPr txBox="1"/>
          <p:nvPr/>
        </p:nvSpPr>
        <p:spPr>
          <a:xfrm>
            <a:off x="2455688" y="2636383"/>
            <a:ext cx="4494628" cy="300038"/>
          </a:xfrm>
          <a:prstGeom prst="rect">
            <a:avLst/>
          </a:prstGeom>
          <a:noFill/>
          <a:ln w="6350">
            <a:noFill/>
          </a:ln>
        </p:spPr>
        <p:txBody>
          <a:bodyPr rot="0" spcFirstLastPara="0" vert="horz" wrap="square" lIns="68580" tIns="34290" rIns="68580" bIns="34290" numCol="1" spcCol="0" rtlCol="0" fromWordArt="0" anchor="t" anchorCtr="0" forceAA="0" compatLnSpc="1">
            <a:prstTxWarp prst="textNoShape">
              <a:avLst/>
            </a:prstTxWarp>
            <a:noAutofit/>
          </a:bodyPr>
          <a:lstStyle/>
          <a:p>
            <a:pPr algn="ctr"/>
            <a:r>
              <a:rPr lang="en-US" sz="1800" b="1" dirty="0">
                <a:solidFill>
                  <a:schemeClr val="tx1"/>
                </a:solidFill>
                <a:latin typeface="Oswald" panose="020B0604020202020204" charset="0"/>
                <a:ea typeface="Calibri" panose="020F0502020204030204" pitchFamily="34" charset="0"/>
                <a:cs typeface="Arial" panose="020B0604020202020204" pitchFamily="34" charset="0"/>
              </a:rPr>
              <a:t>Bachelor’s in Computer Science (2023-2027)</a:t>
            </a:r>
            <a:endParaRPr lang="en-US" sz="1050" b="1" dirty="0">
              <a:solidFill>
                <a:schemeClr val="tx1"/>
              </a:solidFill>
              <a:latin typeface="Oswald" panose="020B0604020202020204" charset="0"/>
              <a:ea typeface="Calibri" panose="020F0502020204030204" pitchFamily="34" charset="0"/>
              <a:cs typeface="Arial" panose="020B0604020202020204" pitchFamily="34" charset="0"/>
            </a:endParaRP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83278" y="3084945"/>
            <a:ext cx="939209" cy="93790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10" name="Text Box 19"/>
          <p:cNvSpPr txBox="1"/>
          <p:nvPr/>
        </p:nvSpPr>
        <p:spPr>
          <a:xfrm>
            <a:off x="2214566" y="4171374"/>
            <a:ext cx="4976874" cy="321469"/>
          </a:xfrm>
          <a:prstGeom prst="rect">
            <a:avLst/>
          </a:prstGeom>
          <a:noFill/>
          <a:ln w="6350">
            <a:noFill/>
          </a:ln>
        </p:spPr>
        <p:txBody>
          <a:bodyPr rot="0" spcFirstLastPara="0" vert="horz" wrap="square" lIns="68580" tIns="34290" rIns="68580" bIns="34290" numCol="1" spcCol="0" rtlCol="0" fromWordArt="0" anchor="t" anchorCtr="0" forceAA="0" compatLnSpc="1">
            <a:prstTxWarp prst="textNoShape">
              <a:avLst/>
            </a:prstTxWarp>
            <a:noAutofit/>
          </a:bodyPr>
          <a:lstStyle/>
          <a:p>
            <a:pPr algn="ctr"/>
            <a:r>
              <a:rPr lang="en-US" sz="1500" b="1" dirty="0">
                <a:ln w="0"/>
                <a:solidFill>
                  <a:schemeClr val="tx1"/>
                </a:solidFill>
                <a:effectLst>
                  <a:outerShdw blurRad="50800" dist="38100" dir="8100000" algn="tr" rotWithShape="0">
                    <a:prstClr val="black">
                      <a:alpha val="40000"/>
                    </a:prstClr>
                  </a:outerShdw>
                </a:effectLst>
                <a:latin typeface="Oswald" panose="020B0604020202020204" charset="0"/>
                <a:ea typeface="Calibri" panose="020F0502020204030204" pitchFamily="34" charset="0"/>
                <a:cs typeface="Arial" panose="020B0604020202020204" pitchFamily="34" charset="0"/>
              </a:rPr>
              <a:t>University OF Layyah, Main Campus, </a:t>
            </a:r>
            <a:r>
              <a:rPr lang="en-US" sz="1500" b="1" dirty="0" err="1">
                <a:ln w="0"/>
                <a:solidFill>
                  <a:schemeClr val="tx1"/>
                </a:solidFill>
                <a:effectLst>
                  <a:outerShdw blurRad="50800" dist="38100" dir="8100000" algn="tr" rotWithShape="0">
                    <a:prstClr val="black">
                      <a:alpha val="40000"/>
                    </a:prstClr>
                  </a:outerShdw>
                </a:effectLst>
                <a:latin typeface="Oswald" panose="020B0604020202020204" charset="0"/>
                <a:ea typeface="Calibri" panose="020F0502020204030204" pitchFamily="34" charset="0"/>
                <a:cs typeface="Arial" panose="020B0604020202020204" pitchFamily="34" charset="0"/>
              </a:rPr>
              <a:t>Hafizabad</a:t>
            </a:r>
            <a:endParaRPr lang="en-US" sz="1200" b="1" dirty="0">
              <a:ln w="0"/>
              <a:solidFill>
                <a:schemeClr val="tx1"/>
              </a:solidFill>
              <a:effectLst>
                <a:outerShdw blurRad="50800" dist="38100" dir="8100000" algn="tr" rotWithShape="0">
                  <a:prstClr val="black">
                    <a:alpha val="40000"/>
                  </a:prstClr>
                </a:outerShdw>
              </a:effectLst>
              <a:latin typeface="Oswald" panose="020B0604020202020204" charset="0"/>
              <a:ea typeface="Calibri" panose="020F0502020204030204" pitchFamily="34" charset="0"/>
              <a:cs typeface="Arial" panose="020B0604020202020204" pitchFamily="34" charset="0"/>
            </a:endParaRPr>
          </a:p>
        </p:txBody>
      </p:sp>
      <p:sp>
        <p:nvSpPr>
          <p:cNvPr id="11" name="TextBox 10"/>
          <p:cNvSpPr txBox="1"/>
          <p:nvPr/>
        </p:nvSpPr>
        <p:spPr>
          <a:xfrm>
            <a:off x="1833710" y="1396133"/>
            <a:ext cx="5738585" cy="707886"/>
          </a:xfrm>
          <a:prstGeom prst="rect">
            <a:avLst/>
          </a:prstGeom>
          <a:noFill/>
        </p:spPr>
        <p:txBody>
          <a:bodyPr wrap="square" rtlCol="0">
            <a:spAutoFit/>
          </a:bodyPr>
          <a:lstStyle/>
          <a:p>
            <a:pPr algn="ctr"/>
            <a:r>
              <a:rPr lang="en-US" sz="2000" b="1" dirty="0" smtClean="0">
                <a:solidFill>
                  <a:schemeClr val="tx1"/>
                </a:solidFill>
                <a:latin typeface="Oswald" panose="020B0604020202020204" charset="0"/>
              </a:rPr>
              <a:t>Presentation Project</a:t>
            </a:r>
          </a:p>
          <a:p>
            <a:pPr algn="ctr"/>
            <a:r>
              <a:rPr lang="en-US" sz="2000" b="1" dirty="0" smtClean="0">
                <a:solidFill>
                  <a:schemeClr val="tx1"/>
                </a:solidFill>
                <a:latin typeface="Oswald" panose="020B0604020202020204" charset="0"/>
              </a:rPr>
              <a:t>Topic: Deadlock Avoidance</a:t>
            </a:r>
            <a:endParaRPr lang="en-US" sz="2000" dirty="0">
              <a:solidFill>
                <a:schemeClr val="tx1"/>
              </a:solidFill>
              <a:effectLst>
                <a:outerShdw blurRad="38100" dist="38100" dir="2700000" algn="tl">
                  <a:srgbClr val="000000">
                    <a:alpha val="43137"/>
                  </a:srgbClr>
                </a:outerShdw>
              </a:effectLst>
              <a:latin typeface="Oswald" panose="020B0604020202020204" charset="0"/>
              <a:cs typeface="Times New Roman" panose="02020603050405020304" pitchFamily="18" charset="0"/>
            </a:endParaRPr>
          </a:p>
        </p:txBody>
      </p:sp>
    </p:spTree>
    <p:extLst>
      <p:ext uri="{BB962C8B-B14F-4D97-AF65-F5344CB8AC3E}">
        <p14:creationId xmlns:p14="http://schemas.microsoft.com/office/powerpoint/2010/main" val="3418884581"/>
      </p:ext>
    </p:extLst>
  </p:cSld>
  <p:clrMapOvr>
    <a:masterClrMapping/>
  </p:clrMapOvr>
  <mc:AlternateContent xmlns:mc="http://schemas.openxmlformats.org/markup-compatibility/2006" xmlns:p14="http://schemas.microsoft.com/office/powerpoint/2010/main">
    <mc:Choice Requires="p14">
      <p:transition spd="slow" p14:dur="1250">
        <p:fad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1000"/>
                                        <p:tgtEl>
                                          <p:spTgt spid="4"/>
                                        </p:tgtEl>
                                      </p:cBhvr>
                                    </p:animEffect>
                                  </p:childTnLst>
                                </p:cTn>
                              </p:par>
                            </p:childTnLst>
                          </p:cTn>
                        </p:par>
                        <p:par>
                          <p:cTn id="8" fill="hold">
                            <p:stCondLst>
                              <p:cond delay="1000"/>
                            </p:stCondLst>
                            <p:childTnLst>
                              <p:par>
                                <p:cTn id="9" presetID="22" presetClass="entr" presetSubtype="4"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1000"/>
                                        <p:tgtEl>
                                          <p:spTgt spid="11"/>
                                        </p:tgtEl>
                                      </p:cBhvr>
                                    </p:animEffect>
                                  </p:childTnLst>
                                </p:cTn>
                              </p:par>
                            </p:childTnLst>
                          </p:cTn>
                        </p:par>
                        <p:par>
                          <p:cTn id="12" fill="hold">
                            <p:stCondLst>
                              <p:cond delay="2000"/>
                            </p:stCondLst>
                            <p:childTnLst>
                              <p:par>
                                <p:cTn id="13" presetID="22" presetClass="entr" presetSubtype="4"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down)">
                                      <p:cBhvr>
                                        <p:cTn id="15" dur="750"/>
                                        <p:tgtEl>
                                          <p:spTgt spid="7"/>
                                        </p:tgtEl>
                                      </p:cBhvr>
                                    </p:animEffect>
                                  </p:childTnLst>
                                </p:cTn>
                              </p:par>
                            </p:childTnLst>
                          </p:cTn>
                        </p:par>
                        <p:par>
                          <p:cTn id="16" fill="hold">
                            <p:stCondLst>
                              <p:cond delay="2750"/>
                            </p:stCondLst>
                            <p:childTnLst>
                              <p:par>
                                <p:cTn id="17" presetID="22" presetClass="entr" presetSubtype="4"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wipe(down)">
                                      <p:cBhvr>
                                        <p:cTn id="19" dur="750"/>
                                        <p:tgtEl>
                                          <p:spTgt spid="8"/>
                                        </p:tgtEl>
                                      </p:cBhvr>
                                    </p:animEffect>
                                  </p:childTnLst>
                                </p:cTn>
                              </p:par>
                            </p:childTnLst>
                          </p:cTn>
                        </p:par>
                        <p:par>
                          <p:cTn id="20" fill="hold">
                            <p:stCondLst>
                              <p:cond delay="3500"/>
                            </p:stCondLst>
                            <p:childTnLst>
                              <p:par>
                                <p:cTn id="21" presetID="22" presetClass="entr" presetSubtype="4" fill="hold"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1000"/>
                                        <p:tgtEl>
                                          <p:spTgt spid="9"/>
                                        </p:tgtEl>
                                      </p:cBhvr>
                                    </p:animEffect>
                                  </p:childTnLst>
                                </p:cTn>
                              </p:par>
                            </p:childTnLst>
                          </p:cTn>
                        </p:par>
                        <p:par>
                          <p:cTn id="24" fill="hold">
                            <p:stCondLst>
                              <p:cond delay="4500"/>
                            </p:stCondLst>
                            <p:childTnLst>
                              <p:par>
                                <p:cTn id="25" presetID="22" presetClass="entr" presetSubtype="4"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48000">
              <a:srgbClr val="0070C0"/>
            </a:gs>
            <a:gs pos="100000">
              <a:srgbClr val="00B0F0"/>
            </a:gs>
          </a:gsLst>
          <a:lin ang="2698631" scaled="0"/>
        </a:gradFill>
        <a:effectLst/>
      </p:bgPr>
    </p:bg>
    <p:spTree>
      <p:nvGrpSpPr>
        <p:cNvPr id="1" name="Shape 547"/>
        <p:cNvGrpSpPr/>
        <p:nvPr/>
      </p:nvGrpSpPr>
      <p:grpSpPr>
        <a:xfrm>
          <a:off x="0" y="0"/>
          <a:ext cx="0" cy="0"/>
          <a:chOff x="0" y="0"/>
          <a:chExt cx="0" cy="0"/>
        </a:xfrm>
      </p:grpSpPr>
      <p:sp>
        <p:nvSpPr>
          <p:cNvPr id="548" name="Google Shape;548;p40"/>
          <p:cNvSpPr/>
          <p:nvPr/>
        </p:nvSpPr>
        <p:spPr>
          <a:xfrm>
            <a:off x="570600" y="1210350"/>
            <a:ext cx="8002800" cy="2940600"/>
          </a:xfrm>
          <a:prstGeom prst="roundRect">
            <a:avLst>
              <a:gd name="adj" fmla="val 11903"/>
            </a:avLst>
          </a:prstGeom>
          <a:noFill/>
          <a:ln w="19050" cap="flat" cmpd="sng">
            <a:solidFill>
              <a:schemeClr val="accent1">
                <a:lumMod val="60000"/>
                <a:lumOff val="40000"/>
              </a:schemeClr>
            </a:solidFill>
            <a:prstDash val="solid"/>
            <a:round/>
            <a:headEnd type="none" w="sm" len="sm"/>
            <a:tailEnd type="none" w="sm" len="sm"/>
          </a:ln>
          <a:effectLst>
            <a:outerShdw blurRad="142875" dist="19050" dir="5400000" algn="bl" rotWithShape="0">
              <a:srgbClr val="98FAFC">
                <a:alpha val="9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40"/>
          <p:cNvSpPr txBox="1">
            <a:spLocks noGrp="1"/>
          </p:cNvSpPr>
          <p:nvPr>
            <p:ph type="title"/>
          </p:nvPr>
        </p:nvSpPr>
        <p:spPr>
          <a:xfrm>
            <a:off x="5540775" y="1840338"/>
            <a:ext cx="2421900" cy="1062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smtClean="0"/>
              <a:t>PRESENTED BY: </a:t>
            </a:r>
            <a:r>
              <a:rPr lang="en" dirty="0" smtClean="0">
                <a:solidFill>
                  <a:srgbClr val="FFC000"/>
                </a:solidFill>
              </a:rPr>
              <a:t>ALINA LIAQUAT</a:t>
            </a:r>
            <a:endParaRPr dirty="0">
              <a:solidFill>
                <a:srgbClr val="FFC000"/>
              </a:solidFill>
            </a:endParaRPr>
          </a:p>
          <a:p>
            <a:pPr marL="0" lvl="0" indent="0" algn="l" rtl="0">
              <a:spcBef>
                <a:spcPts val="0"/>
              </a:spcBef>
              <a:spcAft>
                <a:spcPts val="0"/>
              </a:spcAft>
              <a:buNone/>
            </a:pPr>
            <a:endParaRPr dirty="0"/>
          </a:p>
        </p:txBody>
      </p:sp>
      <p:sp>
        <p:nvSpPr>
          <p:cNvPr id="551" name="Google Shape;551;p40"/>
          <p:cNvSpPr txBox="1">
            <a:spLocks noGrp="1"/>
          </p:cNvSpPr>
          <p:nvPr>
            <p:ph type="subTitle" idx="1"/>
          </p:nvPr>
        </p:nvSpPr>
        <p:spPr>
          <a:xfrm>
            <a:off x="5514500" y="3055663"/>
            <a:ext cx="2421900" cy="465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US" dirty="0" smtClean="0">
                <a:solidFill>
                  <a:schemeClr val="accent3"/>
                </a:solidFill>
              </a:rPr>
              <a:t>ROLL NO: BSCSM-A-23-19</a:t>
            </a:r>
            <a:endParaRPr dirty="0">
              <a:solidFill>
                <a:schemeClr val="accent3"/>
              </a:solidFill>
            </a:endParaRPr>
          </a:p>
        </p:txBody>
      </p:sp>
      <p:pic>
        <p:nvPicPr>
          <p:cNvPr id="552" name="Google Shape;552;p40"/>
          <p:cNvPicPr preferRelativeResize="0"/>
          <p:nvPr/>
        </p:nvPicPr>
        <p:blipFill>
          <a:blip r:embed="rId3">
            <a:extLst>
              <a:ext uri="{28A0092B-C50C-407E-A947-70E740481C1C}">
                <a14:useLocalDpi xmlns:a14="http://schemas.microsoft.com/office/drawing/2010/main" val="0"/>
              </a:ext>
            </a:extLst>
          </a:blip>
          <a:stretch>
            <a:fillRect/>
          </a:stretch>
        </p:blipFill>
        <p:spPr>
          <a:xfrm>
            <a:off x="848425" y="1572750"/>
            <a:ext cx="3552000" cy="1998000"/>
          </a:xfrm>
          <a:prstGeom prst="roundRect">
            <a:avLst>
              <a:gd name="adj" fmla="val 10435"/>
            </a:avLst>
          </a:prstGeom>
          <a:noFill/>
          <a:ln w="19050" cap="flat" cmpd="sng">
            <a:solidFill>
              <a:srgbClr val="98FAFC"/>
            </a:solidFill>
            <a:prstDash val="solid"/>
            <a:round/>
            <a:headEnd type="none" w="sm" len="sm"/>
            <a:tailEnd type="none" w="sm" len="sm"/>
          </a:ln>
          <a:effectLst>
            <a:outerShdw blurRad="257175" dist="19050" dir="5400000" algn="bl" rotWithShape="0">
              <a:srgbClr val="98FAFC">
                <a:alpha val="41000"/>
              </a:srgbClr>
            </a:outerShdw>
          </a:effectLst>
        </p:spPr>
      </p:pic>
    </p:spTree>
    <p:extLst>
      <p:ext uri="{BB962C8B-B14F-4D97-AF65-F5344CB8AC3E}">
        <p14:creationId xmlns:p14="http://schemas.microsoft.com/office/powerpoint/2010/main" val="2012048638"/>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548"/>
                                        </p:tgtEl>
                                        <p:attrNameLst>
                                          <p:attrName>style.visibility</p:attrName>
                                        </p:attrNameLst>
                                      </p:cBhvr>
                                      <p:to>
                                        <p:strVal val="visible"/>
                                      </p:to>
                                    </p:set>
                                    <p:animEffect transition="in" filter="wipe(down)">
                                      <p:cBhvr>
                                        <p:cTn id="7" dur="500"/>
                                        <p:tgtEl>
                                          <p:spTgt spid="548"/>
                                        </p:tgtEl>
                                      </p:cBhvr>
                                    </p:animEffect>
                                  </p:childTnLst>
                                </p:cTn>
                              </p:par>
                              <p:par>
                                <p:cTn id="8" presetID="22" presetClass="entr" presetSubtype="4" fill="hold" nodeType="withEffect">
                                  <p:stCondLst>
                                    <p:cond delay="0"/>
                                  </p:stCondLst>
                                  <p:childTnLst>
                                    <p:set>
                                      <p:cBhvr>
                                        <p:cTn id="9" dur="1" fill="hold">
                                          <p:stCondLst>
                                            <p:cond delay="0"/>
                                          </p:stCondLst>
                                        </p:cTn>
                                        <p:tgtEl>
                                          <p:spTgt spid="552"/>
                                        </p:tgtEl>
                                        <p:attrNameLst>
                                          <p:attrName>style.visibility</p:attrName>
                                        </p:attrNameLst>
                                      </p:cBhvr>
                                      <p:to>
                                        <p:strVal val="visible"/>
                                      </p:to>
                                    </p:set>
                                    <p:animEffect transition="in" filter="wipe(down)">
                                      <p:cBhvr>
                                        <p:cTn id="10" dur="500"/>
                                        <p:tgtEl>
                                          <p:spTgt spid="552"/>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549"/>
                                        </p:tgtEl>
                                        <p:attrNameLst>
                                          <p:attrName>style.visibility</p:attrName>
                                        </p:attrNameLst>
                                      </p:cBhvr>
                                      <p:to>
                                        <p:strVal val="visible"/>
                                      </p:to>
                                    </p:set>
                                    <p:animEffect transition="in" filter="wipe(down)">
                                      <p:cBhvr>
                                        <p:cTn id="13" dur="500"/>
                                        <p:tgtEl>
                                          <p:spTgt spid="549"/>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551">
                                            <p:txEl>
                                              <p:pRg st="0" end="0"/>
                                            </p:txEl>
                                          </p:spTgt>
                                        </p:tgtEl>
                                        <p:attrNameLst>
                                          <p:attrName>style.visibility</p:attrName>
                                        </p:attrNameLst>
                                      </p:cBhvr>
                                      <p:to>
                                        <p:strVal val="visible"/>
                                      </p:to>
                                    </p:set>
                                    <p:animEffect transition="in" filter="wipe(down)">
                                      <p:cBhvr>
                                        <p:cTn id="16" dur="500"/>
                                        <p:tgtEl>
                                          <p:spTgt spid="55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 grpId="0" animBg="1"/>
      <p:bldP spid="549" grpId="0"/>
      <p:bldP spid="55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5344" y="-1"/>
            <a:ext cx="7881425" cy="5174625"/>
          </a:xfrm>
          <a:prstGeom prst="rect">
            <a:avLst/>
          </a:prstGeom>
          <a:blipFill>
            <a:blip r:embed="rId3"/>
            <a:stretch>
              <a:fillRect/>
            </a:stretch>
          </a:blipFill>
        </p:spPr>
      </p:pic>
      <p:sp>
        <p:nvSpPr>
          <p:cNvPr id="37" name="Freeform 36"/>
          <p:cNvSpPr/>
          <p:nvPr/>
        </p:nvSpPr>
        <p:spPr>
          <a:xfrm>
            <a:off x="87923" y="0"/>
            <a:ext cx="9144000" cy="5174625"/>
          </a:xfrm>
          <a:custGeom>
            <a:avLst/>
            <a:gdLst>
              <a:gd name="connsiteX0" fmla="*/ 3334051 w 12192000"/>
              <a:gd name="connsiteY0" fmla="*/ 4225718 h 6858000"/>
              <a:gd name="connsiteX1" fmla="*/ 2320296 w 12192000"/>
              <a:gd name="connsiteY1" fmla="*/ 5614446 h 6858000"/>
              <a:gd name="connsiteX2" fmla="*/ 3774677 w 12192000"/>
              <a:gd name="connsiteY2" fmla="*/ 6676128 h 6858000"/>
              <a:gd name="connsiteX3" fmla="*/ 4788432 w 12192000"/>
              <a:gd name="connsiteY3" fmla="*/ 5287400 h 6858000"/>
              <a:gd name="connsiteX4" fmla="*/ 1810117 w 12192000"/>
              <a:gd name="connsiteY4" fmla="*/ 3092298 h 6858000"/>
              <a:gd name="connsiteX5" fmla="*/ 796361 w 12192000"/>
              <a:gd name="connsiteY5" fmla="*/ 4481026 h 6858000"/>
              <a:gd name="connsiteX6" fmla="*/ 2250743 w 12192000"/>
              <a:gd name="connsiteY6" fmla="*/ 5542708 h 6858000"/>
              <a:gd name="connsiteX7" fmla="*/ 3264498 w 12192000"/>
              <a:gd name="connsiteY7" fmla="*/ 4153980 h 6858000"/>
              <a:gd name="connsiteX8" fmla="*/ 4060693 w 12192000"/>
              <a:gd name="connsiteY8" fmla="*/ 2514513 h 6858000"/>
              <a:gd name="connsiteX9" fmla="*/ 3046938 w 12192000"/>
              <a:gd name="connsiteY9" fmla="*/ 3903239 h 6858000"/>
              <a:gd name="connsiteX10" fmla="*/ 4501319 w 12192000"/>
              <a:gd name="connsiteY10" fmla="*/ 4964921 h 6858000"/>
              <a:gd name="connsiteX11" fmla="*/ 5515074 w 12192000"/>
              <a:gd name="connsiteY11" fmla="*/ 3576194 h 6858000"/>
              <a:gd name="connsiteX12" fmla="*/ 2519096 w 12192000"/>
              <a:gd name="connsiteY12" fmla="*/ 1405292 h 6858000"/>
              <a:gd name="connsiteX13" fmla="*/ 1505341 w 12192000"/>
              <a:gd name="connsiteY13" fmla="*/ 2794019 h 6858000"/>
              <a:gd name="connsiteX14" fmla="*/ 2959722 w 12192000"/>
              <a:gd name="connsiteY14" fmla="*/ 3855700 h 6858000"/>
              <a:gd name="connsiteX15" fmla="*/ 3973477 w 12192000"/>
              <a:gd name="connsiteY15" fmla="*/ 2466973 h 6858000"/>
              <a:gd name="connsiteX16" fmla="*/ 5459098 w 12192000"/>
              <a:gd name="connsiteY16" fmla="*/ 1314651 h 6858000"/>
              <a:gd name="connsiteX17" fmla="*/ 4445342 w 12192000"/>
              <a:gd name="connsiteY17" fmla="*/ 2703379 h 6858000"/>
              <a:gd name="connsiteX18" fmla="*/ 5899724 w 12192000"/>
              <a:gd name="connsiteY18" fmla="*/ 3765060 h 6858000"/>
              <a:gd name="connsiteX19" fmla="*/ 6913480 w 12192000"/>
              <a:gd name="connsiteY19" fmla="*/ 2376333 h 6858000"/>
              <a:gd name="connsiteX20" fmla="*/ 3925180 w 12192000"/>
              <a:gd name="connsiteY20" fmla="*/ 194908 h 6858000"/>
              <a:gd name="connsiteX21" fmla="*/ 2911424 w 12192000"/>
              <a:gd name="connsiteY21" fmla="*/ 1583636 h 6858000"/>
              <a:gd name="connsiteX22" fmla="*/ 4365806 w 12192000"/>
              <a:gd name="connsiteY22" fmla="*/ 2645318 h 6858000"/>
              <a:gd name="connsiteX23" fmla="*/ 5379561 w 12192000"/>
              <a:gd name="connsiteY23" fmla="*/ 1256590 h 6858000"/>
              <a:gd name="connsiteX24" fmla="*/ 580753 w 12192000"/>
              <a:gd name="connsiteY24" fmla="*/ 0 h 6858000"/>
              <a:gd name="connsiteX25" fmla="*/ 742027 w 12192000"/>
              <a:gd name="connsiteY25" fmla="*/ 0 h 6858000"/>
              <a:gd name="connsiteX26" fmla="*/ 1297971 w 12192000"/>
              <a:gd name="connsiteY26" fmla="*/ 405833 h 6858000"/>
              <a:gd name="connsiteX27" fmla="*/ 1594225 w 12192000"/>
              <a:gd name="connsiteY27" fmla="*/ 0 h 6858000"/>
              <a:gd name="connsiteX28" fmla="*/ 1716144 w 12192000"/>
              <a:gd name="connsiteY28" fmla="*/ 0 h 6858000"/>
              <a:gd name="connsiteX29" fmla="*/ 1377507 w 12192000"/>
              <a:gd name="connsiteY29" fmla="*/ 463894 h 6858000"/>
              <a:gd name="connsiteX30" fmla="*/ 2831888 w 12192000"/>
              <a:gd name="connsiteY30" fmla="*/ 1525575 h 6858000"/>
              <a:gd name="connsiteX31" fmla="*/ 3845643 w 12192000"/>
              <a:gd name="connsiteY31" fmla="*/ 136847 h 6858000"/>
              <a:gd name="connsiteX32" fmla="*/ 3658179 w 12192000"/>
              <a:gd name="connsiteY32" fmla="*/ 0 h 6858000"/>
              <a:gd name="connsiteX33" fmla="*/ 12192000 w 12192000"/>
              <a:gd name="connsiteY33" fmla="*/ 0 h 6858000"/>
              <a:gd name="connsiteX34" fmla="*/ 12192000 w 12192000"/>
              <a:gd name="connsiteY34" fmla="*/ 6858000 h 6858000"/>
              <a:gd name="connsiteX35" fmla="*/ 3119392 w 12192000"/>
              <a:gd name="connsiteY35" fmla="*/ 6858000 h 6858000"/>
              <a:gd name="connsiteX36" fmla="*/ 3356235 w 12192000"/>
              <a:gd name="connsiteY36" fmla="*/ 6533553 h 6858000"/>
              <a:gd name="connsiteX37" fmla="*/ 1901853 w 12192000"/>
              <a:gd name="connsiteY37" fmla="*/ 5471872 h 6858000"/>
              <a:gd name="connsiteX38" fmla="*/ 889995 w 12192000"/>
              <a:gd name="connsiteY38" fmla="*/ 6858000 h 6858000"/>
              <a:gd name="connsiteX39" fmla="*/ 0 w 12192000"/>
              <a:gd name="connsiteY39" fmla="*/ 6858000 h 6858000"/>
              <a:gd name="connsiteX40" fmla="*/ 0 w 12192000"/>
              <a:gd name="connsiteY40" fmla="*/ 6212298 h 6858000"/>
              <a:gd name="connsiteX41" fmla="*/ 819929 w 12192000"/>
              <a:gd name="connsiteY41" fmla="*/ 6810836 h 6858000"/>
              <a:gd name="connsiteX42" fmla="*/ 1833684 w 12192000"/>
              <a:gd name="connsiteY42" fmla="*/ 5422109 h 6858000"/>
              <a:gd name="connsiteX43" fmla="*/ 379302 w 12192000"/>
              <a:gd name="connsiteY43" fmla="*/ 4360427 h 6858000"/>
              <a:gd name="connsiteX44" fmla="*/ 0 w 12192000"/>
              <a:gd name="connsiteY44" fmla="*/ 4880027 h 6858000"/>
              <a:gd name="connsiteX45" fmla="*/ 0 w 12192000"/>
              <a:gd name="connsiteY45" fmla="*/ 4701080 h 6858000"/>
              <a:gd name="connsiteX46" fmla="*/ 289093 w 12192000"/>
              <a:gd name="connsiteY46" fmla="*/ 4305056 h 6858000"/>
              <a:gd name="connsiteX47" fmla="*/ 0 w 12192000"/>
              <a:gd name="connsiteY47" fmla="*/ 4094022 h 6858000"/>
              <a:gd name="connsiteX48" fmla="*/ 0 w 12192000"/>
              <a:gd name="connsiteY48" fmla="*/ 3899692 h 6858000"/>
              <a:gd name="connsiteX49" fmla="*/ 722505 w 12192000"/>
              <a:gd name="connsiteY49" fmla="*/ 4427112 h 6858000"/>
              <a:gd name="connsiteX50" fmla="*/ 1736260 w 12192000"/>
              <a:gd name="connsiteY50" fmla="*/ 3038384 h 6858000"/>
              <a:gd name="connsiteX51" fmla="*/ 281879 w 12192000"/>
              <a:gd name="connsiteY51" fmla="*/ 1976703 h 6858000"/>
              <a:gd name="connsiteX52" fmla="*/ 0 w 12192000"/>
              <a:gd name="connsiteY52" fmla="*/ 2362845 h 6858000"/>
              <a:gd name="connsiteX53" fmla="*/ 0 w 12192000"/>
              <a:gd name="connsiteY53" fmla="*/ 2183898 h 6858000"/>
              <a:gd name="connsiteX54" fmla="*/ 186678 w 12192000"/>
              <a:gd name="connsiteY54" fmla="*/ 1928172 h 6858000"/>
              <a:gd name="connsiteX55" fmla="*/ 0 w 12192000"/>
              <a:gd name="connsiteY55" fmla="*/ 1791899 h 6858000"/>
              <a:gd name="connsiteX56" fmla="*/ 0 w 12192000"/>
              <a:gd name="connsiteY56" fmla="*/ 1679010 h 6858000"/>
              <a:gd name="connsiteX57" fmla="*/ 1433485 w 12192000"/>
              <a:gd name="connsiteY57" fmla="*/ 2725438 h 6858000"/>
              <a:gd name="connsiteX58" fmla="*/ 2447240 w 12192000"/>
              <a:gd name="connsiteY58" fmla="*/ 1336711 h 6858000"/>
              <a:gd name="connsiteX59" fmla="*/ 992858 w 12192000"/>
              <a:gd name="connsiteY59" fmla="*/ 275029 h 6858000"/>
              <a:gd name="connsiteX60" fmla="*/ 0 w 12192000"/>
              <a:gd name="connsiteY60" fmla="*/ 1635130 h 6858000"/>
              <a:gd name="connsiteX61" fmla="*/ 0 w 12192000"/>
              <a:gd name="connsiteY61" fmla="*/ 1468115 h 6858000"/>
              <a:gd name="connsiteX62" fmla="*/ 901035 w 12192000"/>
              <a:gd name="connsiteY62" fmla="*/ 2338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2192000" h="6858000">
                <a:moveTo>
                  <a:pt x="3334051" y="4225718"/>
                </a:moveTo>
                <a:lnTo>
                  <a:pt x="2320296" y="5614446"/>
                </a:lnTo>
                <a:lnTo>
                  <a:pt x="3774677" y="6676128"/>
                </a:lnTo>
                <a:lnTo>
                  <a:pt x="4788432" y="5287400"/>
                </a:lnTo>
                <a:close/>
                <a:moveTo>
                  <a:pt x="1810117" y="3092298"/>
                </a:moveTo>
                <a:lnTo>
                  <a:pt x="796361" y="4481026"/>
                </a:lnTo>
                <a:lnTo>
                  <a:pt x="2250743" y="5542708"/>
                </a:lnTo>
                <a:lnTo>
                  <a:pt x="3264498" y="4153980"/>
                </a:lnTo>
                <a:close/>
                <a:moveTo>
                  <a:pt x="4060693" y="2514513"/>
                </a:moveTo>
                <a:lnTo>
                  <a:pt x="3046938" y="3903239"/>
                </a:lnTo>
                <a:lnTo>
                  <a:pt x="4501319" y="4964921"/>
                </a:lnTo>
                <a:lnTo>
                  <a:pt x="5515074" y="3576194"/>
                </a:lnTo>
                <a:close/>
                <a:moveTo>
                  <a:pt x="2519096" y="1405292"/>
                </a:moveTo>
                <a:lnTo>
                  <a:pt x="1505341" y="2794019"/>
                </a:lnTo>
                <a:lnTo>
                  <a:pt x="2959722" y="3855700"/>
                </a:lnTo>
                <a:lnTo>
                  <a:pt x="3973477" y="2466973"/>
                </a:lnTo>
                <a:close/>
                <a:moveTo>
                  <a:pt x="5459098" y="1314651"/>
                </a:moveTo>
                <a:lnTo>
                  <a:pt x="4445342" y="2703379"/>
                </a:lnTo>
                <a:lnTo>
                  <a:pt x="5899724" y="3765060"/>
                </a:lnTo>
                <a:lnTo>
                  <a:pt x="6913480" y="2376333"/>
                </a:lnTo>
                <a:close/>
                <a:moveTo>
                  <a:pt x="3925180" y="194908"/>
                </a:moveTo>
                <a:lnTo>
                  <a:pt x="2911424" y="1583636"/>
                </a:lnTo>
                <a:lnTo>
                  <a:pt x="4365806" y="2645318"/>
                </a:lnTo>
                <a:lnTo>
                  <a:pt x="5379561" y="1256590"/>
                </a:lnTo>
                <a:close/>
                <a:moveTo>
                  <a:pt x="580753" y="0"/>
                </a:moveTo>
                <a:lnTo>
                  <a:pt x="742027" y="0"/>
                </a:lnTo>
                <a:lnTo>
                  <a:pt x="1297971" y="405833"/>
                </a:lnTo>
                <a:lnTo>
                  <a:pt x="1594225" y="0"/>
                </a:lnTo>
                <a:lnTo>
                  <a:pt x="1716144" y="0"/>
                </a:lnTo>
                <a:lnTo>
                  <a:pt x="1377507" y="463894"/>
                </a:lnTo>
                <a:lnTo>
                  <a:pt x="2831888" y="1525575"/>
                </a:lnTo>
                <a:lnTo>
                  <a:pt x="3845643" y="136847"/>
                </a:lnTo>
                <a:lnTo>
                  <a:pt x="3658179" y="0"/>
                </a:lnTo>
                <a:lnTo>
                  <a:pt x="12192000" y="0"/>
                </a:lnTo>
                <a:lnTo>
                  <a:pt x="12192000" y="6858000"/>
                </a:lnTo>
                <a:lnTo>
                  <a:pt x="3119392" y="6858000"/>
                </a:lnTo>
                <a:lnTo>
                  <a:pt x="3356235" y="6533553"/>
                </a:lnTo>
                <a:lnTo>
                  <a:pt x="1901853" y="5471872"/>
                </a:lnTo>
                <a:lnTo>
                  <a:pt x="889995" y="6858000"/>
                </a:lnTo>
                <a:lnTo>
                  <a:pt x="0" y="6858000"/>
                </a:lnTo>
                <a:lnTo>
                  <a:pt x="0" y="6212298"/>
                </a:lnTo>
                <a:lnTo>
                  <a:pt x="819929" y="6810836"/>
                </a:lnTo>
                <a:lnTo>
                  <a:pt x="1833684" y="5422109"/>
                </a:lnTo>
                <a:lnTo>
                  <a:pt x="379302" y="4360427"/>
                </a:lnTo>
                <a:lnTo>
                  <a:pt x="0" y="4880027"/>
                </a:lnTo>
                <a:lnTo>
                  <a:pt x="0" y="4701080"/>
                </a:lnTo>
                <a:lnTo>
                  <a:pt x="289093" y="4305056"/>
                </a:lnTo>
                <a:lnTo>
                  <a:pt x="0" y="4094022"/>
                </a:lnTo>
                <a:lnTo>
                  <a:pt x="0" y="3899692"/>
                </a:lnTo>
                <a:lnTo>
                  <a:pt x="722505" y="4427112"/>
                </a:lnTo>
                <a:lnTo>
                  <a:pt x="1736260" y="3038384"/>
                </a:lnTo>
                <a:lnTo>
                  <a:pt x="281879" y="1976703"/>
                </a:lnTo>
                <a:lnTo>
                  <a:pt x="0" y="2362845"/>
                </a:lnTo>
                <a:lnTo>
                  <a:pt x="0" y="2183898"/>
                </a:lnTo>
                <a:lnTo>
                  <a:pt x="186678" y="1928172"/>
                </a:lnTo>
                <a:lnTo>
                  <a:pt x="0" y="1791899"/>
                </a:lnTo>
                <a:lnTo>
                  <a:pt x="0" y="1679010"/>
                </a:lnTo>
                <a:lnTo>
                  <a:pt x="1433485" y="2725438"/>
                </a:lnTo>
                <a:lnTo>
                  <a:pt x="2447240" y="1336711"/>
                </a:lnTo>
                <a:lnTo>
                  <a:pt x="992858" y="275029"/>
                </a:lnTo>
                <a:lnTo>
                  <a:pt x="0" y="1635130"/>
                </a:lnTo>
                <a:lnTo>
                  <a:pt x="0" y="1468115"/>
                </a:lnTo>
                <a:lnTo>
                  <a:pt x="901035" y="233802"/>
                </a:lnTo>
                <a:close/>
              </a:path>
            </a:pathLst>
          </a:custGeom>
          <a:gradFill>
            <a:gsLst>
              <a:gs pos="0">
                <a:srgbClr val="002060"/>
              </a:gs>
              <a:gs pos="100000">
                <a:schemeClr val="accent2">
                  <a:lumMod val="75000"/>
                </a:schemeClr>
              </a:gs>
              <a:gs pos="100000">
                <a:schemeClr val="accent5">
                  <a:lumMod val="90000"/>
                  <a:lumOff val="10000"/>
                </a:schemeClr>
              </a:gs>
            </a:gsLst>
            <a:lin ang="5400000" scaled="1"/>
          </a:gra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TextBox 38"/>
          <p:cNvSpPr txBox="1"/>
          <p:nvPr/>
        </p:nvSpPr>
        <p:spPr>
          <a:xfrm>
            <a:off x="5576081" y="87296"/>
            <a:ext cx="3545059" cy="400110"/>
          </a:xfrm>
          <a:prstGeom prst="rect">
            <a:avLst/>
          </a:prstGeom>
          <a:noFill/>
        </p:spPr>
        <p:txBody>
          <a:bodyPr wrap="square" rtlCol="0">
            <a:spAutoFit/>
          </a:bodyPr>
          <a:lstStyle/>
          <a:p>
            <a:pPr algn="ctr"/>
            <a:r>
              <a:rPr lang="en-US" sz="2000" dirty="0" smtClean="0">
                <a:ln w="0"/>
                <a:solidFill>
                  <a:srgbClr val="FFFF00"/>
                </a:solidFill>
                <a:effectLst>
                  <a:outerShdw blurRad="38100" dist="25400" dir="5400000" algn="ctr" rotWithShape="0">
                    <a:srgbClr val="6E747A">
                      <a:alpha val="43000"/>
                    </a:srgbClr>
                  </a:outerShdw>
                </a:effectLst>
                <a:latin typeface="Oswald" panose="020B0604020202020204" charset="0"/>
                <a:cs typeface="Times New Roman" panose="02020603050405020304" pitchFamily="18" charset="0"/>
              </a:rPr>
              <a:t>OBJECTIVES</a:t>
            </a:r>
            <a:endParaRPr lang="en-US" sz="2000" dirty="0">
              <a:ln w="0"/>
              <a:solidFill>
                <a:srgbClr val="FFFF00"/>
              </a:solidFill>
              <a:effectLst>
                <a:outerShdw blurRad="38100" dist="25400" dir="5400000" algn="ctr" rotWithShape="0">
                  <a:srgbClr val="6E747A">
                    <a:alpha val="43000"/>
                  </a:srgbClr>
                </a:outerShdw>
              </a:effectLst>
              <a:latin typeface="Oswald" panose="020B0604020202020204" charset="0"/>
              <a:cs typeface="Times New Roman" panose="02020603050405020304" pitchFamily="18" charset="0"/>
            </a:endParaRPr>
          </a:p>
        </p:txBody>
      </p:sp>
      <p:sp>
        <p:nvSpPr>
          <p:cNvPr id="40" name="TextBox 39"/>
          <p:cNvSpPr txBox="1"/>
          <p:nvPr/>
        </p:nvSpPr>
        <p:spPr>
          <a:xfrm>
            <a:off x="5465299" y="1213339"/>
            <a:ext cx="3766624" cy="461665"/>
          </a:xfrm>
          <a:prstGeom prst="rect">
            <a:avLst/>
          </a:prstGeom>
          <a:noFill/>
        </p:spPr>
        <p:txBody>
          <a:bodyPr wrap="square" rtlCol="0">
            <a:spAutoFit/>
          </a:bodyPr>
          <a:lstStyle/>
          <a:p>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5360277" y="487406"/>
            <a:ext cx="3760864" cy="3785652"/>
          </a:xfrm>
          <a:prstGeom prst="rect">
            <a:avLst/>
          </a:prstGeom>
          <a:noFill/>
        </p:spPr>
        <p:txBody>
          <a:bodyPr wrap="square" rtlCol="0">
            <a:spAutoFit/>
          </a:bodyPr>
          <a:lstStyle/>
          <a:p>
            <a:r>
              <a:rPr lang="en-US" sz="1600" dirty="0" smtClean="0">
                <a:solidFill>
                  <a:schemeClr val="tx1"/>
                </a:solidFill>
              </a:rPr>
              <a:t>1. To </a:t>
            </a:r>
            <a:r>
              <a:rPr lang="en-US" sz="1600" dirty="0">
                <a:solidFill>
                  <a:schemeClr val="tx1"/>
                </a:solidFill>
              </a:rPr>
              <a:t>understand the concept of deadlock in operating systems and its impact on process </a:t>
            </a:r>
            <a:r>
              <a:rPr lang="en-US" sz="1600" dirty="0" smtClean="0">
                <a:solidFill>
                  <a:schemeClr val="tx1"/>
                </a:solidFill>
              </a:rPr>
              <a:t>execution.</a:t>
            </a:r>
          </a:p>
          <a:p>
            <a:r>
              <a:rPr lang="en-US" sz="1600" dirty="0" smtClean="0">
                <a:solidFill>
                  <a:schemeClr val="tx1"/>
                </a:solidFill>
              </a:rPr>
              <a:t>2. To </a:t>
            </a:r>
            <a:r>
              <a:rPr lang="en-US" sz="1600" dirty="0">
                <a:solidFill>
                  <a:schemeClr val="tx1"/>
                </a:solidFill>
              </a:rPr>
              <a:t>implement </a:t>
            </a:r>
            <a:r>
              <a:rPr lang="en-US" sz="1600" b="1" dirty="0">
                <a:solidFill>
                  <a:schemeClr val="tx1"/>
                </a:solidFill>
              </a:rPr>
              <a:t>Banker’s Algorithm</a:t>
            </a:r>
            <a:r>
              <a:rPr lang="en-US" sz="1600" dirty="0">
                <a:solidFill>
                  <a:schemeClr val="tx1"/>
                </a:solidFill>
              </a:rPr>
              <a:t> in order to avoid deadlock by ensuring the system always remains in a safe </a:t>
            </a:r>
            <a:r>
              <a:rPr lang="en-US" sz="1600" dirty="0" smtClean="0">
                <a:solidFill>
                  <a:schemeClr val="tx1"/>
                </a:solidFill>
              </a:rPr>
              <a:t>state.</a:t>
            </a:r>
          </a:p>
          <a:p>
            <a:r>
              <a:rPr lang="en-US" sz="1600" dirty="0" smtClean="0">
                <a:solidFill>
                  <a:schemeClr val="tx1"/>
                </a:solidFill>
              </a:rPr>
              <a:t>3. To </a:t>
            </a:r>
            <a:r>
              <a:rPr lang="en-US" sz="1600" dirty="0">
                <a:solidFill>
                  <a:schemeClr val="tx1"/>
                </a:solidFill>
              </a:rPr>
              <a:t>analyze resource allocation using </a:t>
            </a:r>
            <a:r>
              <a:rPr lang="en-US" sz="1600" b="1" dirty="0">
                <a:solidFill>
                  <a:schemeClr val="tx1"/>
                </a:solidFill>
              </a:rPr>
              <a:t>Available, Allocation, Max, and Need </a:t>
            </a:r>
            <a:r>
              <a:rPr lang="en-US" sz="1600" b="1" dirty="0" smtClean="0">
                <a:solidFill>
                  <a:schemeClr val="tx1"/>
                </a:solidFill>
              </a:rPr>
              <a:t>matrices</a:t>
            </a:r>
            <a:r>
              <a:rPr lang="en-US" sz="1600" dirty="0" smtClean="0">
                <a:solidFill>
                  <a:schemeClr val="tx1"/>
                </a:solidFill>
              </a:rPr>
              <a:t>.</a:t>
            </a:r>
          </a:p>
          <a:p>
            <a:r>
              <a:rPr lang="en-US" sz="1600" dirty="0" smtClean="0">
                <a:solidFill>
                  <a:schemeClr val="tx1"/>
                </a:solidFill>
              </a:rPr>
              <a:t>4. To </a:t>
            </a:r>
            <a:r>
              <a:rPr lang="en-US" sz="1600" dirty="0">
                <a:solidFill>
                  <a:schemeClr val="tx1"/>
                </a:solidFill>
              </a:rPr>
              <a:t>determine whether a system is in a </a:t>
            </a:r>
            <a:r>
              <a:rPr lang="en-US" sz="1600" b="1" dirty="0">
                <a:solidFill>
                  <a:schemeClr val="tx1"/>
                </a:solidFill>
              </a:rPr>
              <a:t>safe or unsafe state</a:t>
            </a:r>
            <a:r>
              <a:rPr lang="en-US" sz="1600" dirty="0">
                <a:solidFill>
                  <a:schemeClr val="tx1"/>
                </a:solidFill>
              </a:rPr>
              <a:t> by identifying a valid safe sequence.</a:t>
            </a:r>
          </a:p>
          <a:p>
            <a:r>
              <a:rPr lang="en-US" sz="1600" dirty="0" smtClean="0">
                <a:solidFill>
                  <a:schemeClr val="tx1"/>
                </a:solidFill>
              </a:rPr>
              <a:t>5. To </a:t>
            </a:r>
            <a:r>
              <a:rPr lang="en-US" sz="1600" dirty="0">
                <a:solidFill>
                  <a:schemeClr val="tx1"/>
                </a:solidFill>
              </a:rPr>
              <a:t>detect deadlock situations when the system enters an unsafe state</a:t>
            </a:r>
            <a:r>
              <a:rPr lang="en-US" sz="1600" dirty="0" smtClean="0">
                <a:solidFill>
                  <a:schemeClr val="tx1"/>
                </a:solidFill>
              </a:rPr>
              <a:t>.</a:t>
            </a:r>
            <a:endParaRPr lang="en-US" sz="1600" dirty="0">
              <a:solidFill>
                <a:schemeClr val="tx1"/>
              </a:solidFill>
            </a:endParaRPr>
          </a:p>
        </p:txBody>
      </p:sp>
    </p:spTree>
    <p:extLst>
      <p:ext uri="{BB962C8B-B14F-4D97-AF65-F5344CB8AC3E}">
        <p14:creationId xmlns:p14="http://schemas.microsoft.com/office/powerpoint/2010/main" val="1194759689"/>
      </p:ext>
    </p:extLst>
  </p:cSld>
  <p:clrMapOvr>
    <a:masterClrMapping/>
  </p:clrMapOvr>
  <mc:AlternateContent xmlns:mc="http://schemas.openxmlformats.org/markup-compatibility/2006" xmlns:p14="http://schemas.microsoft.com/office/powerpoint/2010/main">
    <mc:Choice Requires="p14">
      <p:transition spd="slow" p14:dur="275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4750"/>
                                        <p:tgtEl>
                                          <p:spTgt spid="38"/>
                                        </p:tgtEl>
                                      </p:cBhvr>
                                    </p:animEffect>
                                  </p:childTnLst>
                                </p:cTn>
                              </p:par>
                              <p:par>
                                <p:cTn id="8" presetID="22" presetClass="entr" presetSubtype="4" fill="hold" nodeType="withEffect" nodePh="1">
                                  <p:stCondLst>
                                    <p:cond delay="0"/>
                                  </p:stCondLst>
                                  <p:endCondLst>
                                    <p:cond evt="begin" delay="0">
                                      <p:tn val="8"/>
                                    </p:cond>
                                  </p:endCondLst>
                                  <p:childTnLst>
                                    <p:set>
                                      <p:cBhvr>
                                        <p:cTn id="9" dur="1" fill="hold">
                                          <p:stCondLst>
                                            <p:cond delay="0"/>
                                          </p:stCondLst>
                                        </p:cTn>
                                        <p:tgtEl>
                                          <p:spTgt spid="40">
                                            <p:txEl>
                                              <p:pRg st="0" end="0"/>
                                            </p:txEl>
                                          </p:spTgt>
                                        </p:tgtEl>
                                        <p:attrNameLst>
                                          <p:attrName>style.visibility</p:attrName>
                                        </p:attrNameLst>
                                      </p:cBhvr>
                                      <p:to>
                                        <p:strVal val="visible"/>
                                      </p:to>
                                    </p:set>
                                    <p:animEffect transition="in" filter="wipe(down)">
                                      <p:cBhvr>
                                        <p:cTn id="10" dur="1500"/>
                                        <p:tgtEl>
                                          <p:spTgt spid="40">
                                            <p:txEl>
                                              <p:pRg st="0" end="0"/>
                                            </p:txEl>
                                          </p:spTgt>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1000"/>
                                        <p:tgtEl>
                                          <p:spTgt spid="39"/>
                                        </p:tgtEl>
                                      </p:cBhvr>
                                    </p:animEffect>
                                    <p:anim calcmode="lin" valueType="num">
                                      <p:cBhvr>
                                        <p:cTn id="14" dur="1000" fill="hold"/>
                                        <p:tgtEl>
                                          <p:spTgt spid="39"/>
                                        </p:tgtEl>
                                        <p:attrNameLst>
                                          <p:attrName>ppt_x</p:attrName>
                                        </p:attrNameLst>
                                      </p:cBhvr>
                                      <p:tavLst>
                                        <p:tav tm="0">
                                          <p:val>
                                            <p:strVal val="#ppt_x"/>
                                          </p:val>
                                        </p:tav>
                                        <p:tav tm="100000">
                                          <p:val>
                                            <p:strVal val="#ppt_x"/>
                                          </p:val>
                                        </p:tav>
                                      </p:tavLst>
                                    </p:anim>
                                    <p:anim calcmode="lin" valueType="num">
                                      <p:cBhvr>
                                        <p:cTn id="15" dur="1000" fill="hold"/>
                                        <p:tgtEl>
                                          <p:spTgt spid="39"/>
                                        </p:tgtEl>
                                        <p:attrNameLst>
                                          <p:attrName>ppt_y</p:attrName>
                                        </p:attrNameLst>
                                      </p:cBhvr>
                                      <p:tavLst>
                                        <p:tav tm="0">
                                          <p:val>
                                            <p:strVal val="#ppt_y+.1"/>
                                          </p:val>
                                        </p:tav>
                                        <p:tav tm="100000">
                                          <p:val>
                                            <p:strVal val="#ppt_y"/>
                                          </p:val>
                                        </p:tav>
                                      </p:tavLst>
                                    </p:anim>
                                  </p:childTnLst>
                                </p:cTn>
                              </p:par>
                              <p:par>
                                <p:cTn id="16" presetID="22" presetClass="entr" presetSubtype="4"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1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05344" y="-1"/>
            <a:ext cx="7881425" cy="5174625"/>
          </a:xfrm>
          <a:prstGeom prst="rect">
            <a:avLst/>
          </a:prstGeom>
          <a:blipFill>
            <a:blip r:embed="rId3"/>
            <a:stretch>
              <a:fillRect/>
            </a:stretch>
          </a:blipFill>
        </p:spPr>
      </p:pic>
      <p:sp>
        <p:nvSpPr>
          <p:cNvPr id="37" name="Freeform 36"/>
          <p:cNvSpPr/>
          <p:nvPr/>
        </p:nvSpPr>
        <p:spPr>
          <a:xfrm>
            <a:off x="87923" y="0"/>
            <a:ext cx="9144000" cy="5174625"/>
          </a:xfrm>
          <a:custGeom>
            <a:avLst/>
            <a:gdLst>
              <a:gd name="connsiteX0" fmla="*/ 3334051 w 12192000"/>
              <a:gd name="connsiteY0" fmla="*/ 4225718 h 6858000"/>
              <a:gd name="connsiteX1" fmla="*/ 2320296 w 12192000"/>
              <a:gd name="connsiteY1" fmla="*/ 5614446 h 6858000"/>
              <a:gd name="connsiteX2" fmla="*/ 3774677 w 12192000"/>
              <a:gd name="connsiteY2" fmla="*/ 6676128 h 6858000"/>
              <a:gd name="connsiteX3" fmla="*/ 4788432 w 12192000"/>
              <a:gd name="connsiteY3" fmla="*/ 5287400 h 6858000"/>
              <a:gd name="connsiteX4" fmla="*/ 1810117 w 12192000"/>
              <a:gd name="connsiteY4" fmla="*/ 3092298 h 6858000"/>
              <a:gd name="connsiteX5" fmla="*/ 796361 w 12192000"/>
              <a:gd name="connsiteY5" fmla="*/ 4481026 h 6858000"/>
              <a:gd name="connsiteX6" fmla="*/ 2250743 w 12192000"/>
              <a:gd name="connsiteY6" fmla="*/ 5542708 h 6858000"/>
              <a:gd name="connsiteX7" fmla="*/ 3264498 w 12192000"/>
              <a:gd name="connsiteY7" fmla="*/ 4153980 h 6858000"/>
              <a:gd name="connsiteX8" fmla="*/ 4060693 w 12192000"/>
              <a:gd name="connsiteY8" fmla="*/ 2514513 h 6858000"/>
              <a:gd name="connsiteX9" fmla="*/ 3046938 w 12192000"/>
              <a:gd name="connsiteY9" fmla="*/ 3903239 h 6858000"/>
              <a:gd name="connsiteX10" fmla="*/ 4501319 w 12192000"/>
              <a:gd name="connsiteY10" fmla="*/ 4964921 h 6858000"/>
              <a:gd name="connsiteX11" fmla="*/ 5515074 w 12192000"/>
              <a:gd name="connsiteY11" fmla="*/ 3576194 h 6858000"/>
              <a:gd name="connsiteX12" fmla="*/ 2519096 w 12192000"/>
              <a:gd name="connsiteY12" fmla="*/ 1405292 h 6858000"/>
              <a:gd name="connsiteX13" fmla="*/ 1505341 w 12192000"/>
              <a:gd name="connsiteY13" fmla="*/ 2794019 h 6858000"/>
              <a:gd name="connsiteX14" fmla="*/ 2959722 w 12192000"/>
              <a:gd name="connsiteY14" fmla="*/ 3855700 h 6858000"/>
              <a:gd name="connsiteX15" fmla="*/ 3973477 w 12192000"/>
              <a:gd name="connsiteY15" fmla="*/ 2466973 h 6858000"/>
              <a:gd name="connsiteX16" fmla="*/ 5459098 w 12192000"/>
              <a:gd name="connsiteY16" fmla="*/ 1314651 h 6858000"/>
              <a:gd name="connsiteX17" fmla="*/ 4445342 w 12192000"/>
              <a:gd name="connsiteY17" fmla="*/ 2703379 h 6858000"/>
              <a:gd name="connsiteX18" fmla="*/ 5899724 w 12192000"/>
              <a:gd name="connsiteY18" fmla="*/ 3765060 h 6858000"/>
              <a:gd name="connsiteX19" fmla="*/ 6913480 w 12192000"/>
              <a:gd name="connsiteY19" fmla="*/ 2376333 h 6858000"/>
              <a:gd name="connsiteX20" fmla="*/ 3925180 w 12192000"/>
              <a:gd name="connsiteY20" fmla="*/ 194908 h 6858000"/>
              <a:gd name="connsiteX21" fmla="*/ 2911424 w 12192000"/>
              <a:gd name="connsiteY21" fmla="*/ 1583636 h 6858000"/>
              <a:gd name="connsiteX22" fmla="*/ 4365806 w 12192000"/>
              <a:gd name="connsiteY22" fmla="*/ 2645318 h 6858000"/>
              <a:gd name="connsiteX23" fmla="*/ 5379561 w 12192000"/>
              <a:gd name="connsiteY23" fmla="*/ 1256590 h 6858000"/>
              <a:gd name="connsiteX24" fmla="*/ 580753 w 12192000"/>
              <a:gd name="connsiteY24" fmla="*/ 0 h 6858000"/>
              <a:gd name="connsiteX25" fmla="*/ 742027 w 12192000"/>
              <a:gd name="connsiteY25" fmla="*/ 0 h 6858000"/>
              <a:gd name="connsiteX26" fmla="*/ 1297971 w 12192000"/>
              <a:gd name="connsiteY26" fmla="*/ 405833 h 6858000"/>
              <a:gd name="connsiteX27" fmla="*/ 1594225 w 12192000"/>
              <a:gd name="connsiteY27" fmla="*/ 0 h 6858000"/>
              <a:gd name="connsiteX28" fmla="*/ 1716144 w 12192000"/>
              <a:gd name="connsiteY28" fmla="*/ 0 h 6858000"/>
              <a:gd name="connsiteX29" fmla="*/ 1377507 w 12192000"/>
              <a:gd name="connsiteY29" fmla="*/ 463894 h 6858000"/>
              <a:gd name="connsiteX30" fmla="*/ 2831888 w 12192000"/>
              <a:gd name="connsiteY30" fmla="*/ 1525575 h 6858000"/>
              <a:gd name="connsiteX31" fmla="*/ 3845643 w 12192000"/>
              <a:gd name="connsiteY31" fmla="*/ 136847 h 6858000"/>
              <a:gd name="connsiteX32" fmla="*/ 3658179 w 12192000"/>
              <a:gd name="connsiteY32" fmla="*/ 0 h 6858000"/>
              <a:gd name="connsiteX33" fmla="*/ 12192000 w 12192000"/>
              <a:gd name="connsiteY33" fmla="*/ 0 h 6858000"/>
              <a:gd name="connsiteX34" fmla="*/ 12192000 w 12192000"/>
              <a:gd name="connsiteY34" fmla="*/ 6858000 h 6858000"/>
              <a:gd name="connsiteX35" fmla="*/ 3119392 w 12192000"/>
              <a:gd name="connsiteY35" fmla="*/ 6858000 h 6858000"/>
              <a:gd name="connsiteX36" fmla="*/ 3356235 w 12192000"/>
              <a:gd name="connsiteY36" fmla="*/ 6533553 h 6858000"/>
              <a:gd name="connsiteX37" fmla="*/ 1901853 w 12192000"/>
              <a:gd name="connsiteY37" fmla="*/ 5471872 h 6858000"/>
              <a:gd name="connsiteX38" fmla="*/ 889995 w 12192000"/>
              <a:gd name="connsiteY38" fmla="*/ 6858000 h 6858000"/>
              <a:gd name="connsiteX39" fmla="*/ 0 w 12192000"/>
              <a:gd name="connsiteY39" fmla="*/ 6858000 h 6858000"/>
              <a:gd name="connsiteX40" fmla="*/ 0 w 12192000"/>
              <a:gd name="connsiteY40" fmla="*/ 6212298 h 6858000"/>
              <a:gd name="connsiteX41" fmla="*/ 819929 w 12192000"/>
              <a:gd name="connsiteY41" fmla="*/ 6810836 h 6858000"/>
              <a:gd name="connsiteX42" fmla="*/ 1833684 w 12192000"/>
              <a:gd name="connsiteY42" fmla="*/ 5422109 h 6858000"/>
              <a:gd name="connsiteX43" fmla="*/ 379302 w 12192000"/>
              <a:gd name="connsiteY43" fmla="*/ 4360427 h 6858000"/>
              <a:gd name="connsiteX44" fmla="*/ 0 w 12192000"/>
              <a:gd name="connsiteY44" fmla="*/ 4880027 h 6858000"/>
              <a:gd name="connsiteX45" fmla="*/ 0 w 12192000"/>
              <a:gd name="connsiteY45" fmla="*/ 4701080 h 6858000"/>
              <a:gd name="connsiteX46" fmla="*/ 289093 w 12192000"/>
              <a:gd name="connsiteY46" fmla="*/ 4305056 h 6858000"/>
              <a:gd name="connsiteX47" fmla="*/ 0 w 12192000"/>
              <a:gd name="connsiteY47" fmla="*/ 4094022 h 6858000"/>
              <a:gd name="connsiteX48" fmla="*/ 0 w 12192000"/>
              <a:gd name="connsiteY48" fmla="*/ 3899692 h 6858000"/>
              <a:gd name="connsiteX49" fmla="*/ 722505 w 12192000"/>
              <a:gd name="connsiteY49" fmla="*/ 4427112 h 6858000"/>
              <a:gd name="connsiteX50" fmla="*/ 1736260 w 12192000"/>
              <a:gd name="connsiteY50" fmla="*/ 3038384 h 6858000"/>
              <a:gd name="connsiteX51" fmla="*/ 281879 w 12192000"/>
              <a:gd name="connsiteY51" fmla="*/ 1976703 h 6858000"/>
              <a:gd name="connsiteX52" fmla="*/ 0 w 12192000"/>
              <a:gd name="connsiteY52" fmla="*/ 2362845 h 6858000"/>
              <a:gd name="connsiteX53" fmla="*/ 0 w 12192000"/>
              <a:gd name="connsiteY53" fmla="*/ 2183898 h 6858000"/>
              <a:gd name="connsiteX54" fmla="*/ 186678 w 12192000"/>
              <a:gd name="connsiteY54" fmla="*/ 1928172 h 6858000"/>
              <a:gd name="connsiteX55" fmla="*/ 0 w 12192000"/>
              <a:gd name="connsiteY55" fmla="*/ 1791899 h 6858000"/>
              <a:gd name="connsiteX56" fmla="*/ 0 w 12192000"/>
              <a:gd name="connsiteY56" fmla="*/ 1679010 h 6858000"/>
              <a:gd name="connsiteX57" fmla="*/ 1433485 w 12192000"/>
              <a:gd name="connsiteY57" fmla="*/ 2725438 h 6858000"/>
              <a:gd name="connsiteX58" fmla="*/ 2447240 w 12192000"/>
              <a:gd name="connsiteY58" fmla="*/ 1336711 h 6858000"/>
              <a:gd name="connsiteX59" fmla="*/ 992858 w 12192000"/>
              <a:gd name="connsiteY59" fmla="*/ 275029 h 6858000"/>
              <a:gd name="connsiteX60" fmla="*/ 0 w 12192000"/>
              <a:gd name="connsiteY60" fmla="*/ 1635130 h 6858000"/>
              <a:gd name="connsiteX61" fmla="*/ 0 w 12192000"/>
              <a:gd name="connsiteY61" fmla="*/ 1468115 h 6858000"/>
              <a:gd name="connsiteX62" fmla="*/ 901035 w 12192000"/>
              <a:gd name="connsiteY62" fmla="*/ 23380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2192000" h="6858000">
                <a:moveTo>
                  <a:pt x="3334051" y="4225718"/>
                </a:moveTo>
                <a:lnTo>
                  <a:pt x="2320296" y="5614446"/>
                </a:lnTo>
                <a:lnTo>
                  <a:pt x="3774677" y="6676128"/>
                </a:lnTo>
                <a:lnTo>
                  <a:pt x="4788432" y="5287400"/>
                </a:lnTo>
                <a:close/>
                <a:moveTo>
                  <a:pt x="1810117" y="3092298"/>
                </a:moveTo>
                <a:lnTo>
                  <a:pt x="796361" y="4481026"/>
                </a:lnTo>
                <a:lnTo>
                  <a:pt x="2250743" y="5542708"/>
                </a:lnTo>
                <a:lnTo>
                  <a:pt x="3264498" y="4153980"/>
                </a:lnTo>
                <a:close/>
                <a:moveTo>
                  <a:pt x="4060693" y="2514513"/>
                </a:moveTo>
                <a:lnTo>
                  <a:pt x="3046938" y="3903239"/>
                </a:lnTo>
                <a:lnTo>
                  <a:pt x="4501319" y="4964921"/>
                </a:lnTo>
                <a:lnTo>
                  <a:pt x="5515074" y="3576194"/>
                </a:lnTo>
                <a:close/>
                <a:moveTo>
                  <a:pt x="2519096" y="1405292"/>
                </a:moveTo>
                <a:lnTo>
                  <a:pt x="1505341" y="2794019"/>
                </a:lnTo>
                <a:lnTo>
                  <a:pt x="2959722" y="3855700"/>
                </a:lnTo>
                <a:lnTo>
                  <a:pt x="3973477" y="2466973"/>
                </a:lnTo>
                <a:close/>
                <a:moveTo>
                  <a:pt x="5459098" y="1314651"/>
                </a:moveTo>
                <a:lnTo>
                  <a:pt x="4445342" y="2703379"/>
                </a:lnTo>
                <a:lnTo>
                  <a:pt x="5899724" y="3765060"/>
                </a:lnTo>
                <a:lnTo>
                  <a:pt x="6913480" y="2376333"/>
                </a:lnTo>
                <a:close/>
                <a:moveTo>
                  <a:pt x="3925180" y="194908"/>
                </a:moveTo>
                <a:lnTo>
                  <a:pt x="2911424" y="1583636"/>
                </a:lnTo>
                <a:lnTo>
                  <a:pt x="4365806" y="2645318"/>
                </a:lnTo>
                <a:lnTo>
                  <a:pt x="5379561" y="1256590"/>
                </a:lnTo>
                <a:close/>
                <a:moveTo>
                  <a:pt x="580753" y="0"/>
                </a:moveTo>
                <a:lnTo>
                  <a:pt x="742027" y="0"/>
                </a:lnTo>
                <a:lnTo>
                  <a:pt x="1297971" y="405833"/>
                </a:lnTo>
                <a:lnTo>
                  <a:pt x="1594225" y="0"/>
                </a:lnTo>
                <a:lnTo>
                  <a:pt x="1716144" y="0"/>
                </a:lnTo>
                <a:lnTo>
                  <a:pt x="1377507" y="463894"/>
                </a:lnTo>
                <a:lnTo>
                  <a:pt x="2831888" y="1525575"/>
                </a:lnTo>
                <a:lnTo>
                  <a:pt x="3845643" y="136847"/>
                </a:lnTo>
                <a:lnTo>
                  <a:pt x="3658179" y="0"/>
                </a:lnTo>
                <a:lnTo>
                  <a:pt x="12192000" y="0"/>
                </a:lnTo>
                <a:lnTo>
                  <a:pt x="12192000" y="6858000"/>
                </a:lnTo>
                <a:lnTo>
                  <a:pt x="3119392" y="6858000"/>
                </a:lnTo>
                <a:lnTo>
                  <a:pt x="3356235" y="6533553"/>
                </a:lnTo>
                <a:lnTo>
                  <a:pt x="1901853" y="5471872"/>
                </a:lnTo>
                <a:lnTo>
                  <a:pt x="889995" y="6858000"/>
                </a:lnTo>
                <a:lnTo>
                  <a:pt x="0" y="6858000"/>
                </a:lnTo>
                <a:lnTo>
                  <a:pt x="0" y="6212298"/>
                </a:lnTo>
                <a:lnTo>
                  <a:pt x="819929" y="6810836"/>
                </a:lnTo>
                <a:lnTo>
                  <a:pt x="1833684" y="5422109"/>
                </a:lnTo>
                <a:lnTo>
                  <a:pt x="379302" y="4360427"/>
                </a:lnTo>
                <a:lnTo>
                  <a:pt x="0" y="4880027"/>
                </a:lnTo>
                <a:lnTo>
                  <a:pt x="0" y="4701080"/>
                </a:lnTo>
                <a:lnTo>
                  <a:pt x="289093" y="4305056"/>
                </a:lnTo>
                <a:lnTo>
                  <a:pt x="0" y="4094022"/>
                </a:lnTo>
                <a:lnTo>
                  <a:pt x="0" y="3899692"/>
                </a:lnTo>
                <a:lnTo>
                  <a:pt x="722505" y="4427112"/>
                </a:lnTo>
                <a:lnTo>
                  <a:pt x="1736260" y="3038384"/>
                </a:lnTo>
                <a:lnTo>
                  <a:pt x="281879" y="1976703"/>
                </a:lnTo>
                <a:lnTo>
                  <a:pt x="0" y="2362845"/>
                </a:lnTo>
                <a:lnTo>
                  <a:pt x="0" y="2183898"/>
                </a:lnTo>
                <a:lnTo>
                  <a:pt x="186678" y="1928172"/>
                </a:lnTo>
                <a:lnTo>
                  <a:pt x="0" y="1791899"/>
                </a:lnTo>
                <a:lnTo>
                  <a:pt x="0" y="1679010"/>
                </a:lnTo>
                <a:lnTo>
                  <a:pt x="1433485" y="2725438"/>
                </a:lnTo>
                <a:lnTo>
                  <a:pt x="2447240" y="1336711"/>
                </a:lnTo>
                <a:lnTo>
                  <a:pt x="992858" y="275029"/>
                </a:lnTo>
                <a:lnTo>
                  <a:pt x="0" y="1635130"/>
                </a:lnTo>
                <a:lnTo>
                  <a:pt x="0" y="1468115"/>
                </a:lnTo>
                <a:lnTo>
                  <a:pt x="901035" y="233802"/>
                </a:lnTo>
                <a:close/>
              </a:path>
            </a:pathLst>
          </a:custGeom>
          <a:gradFill>
            <a:gsLst>
              <a:gs pos="0">
                <a:srgbClr val="002060"/>
              </a:gs>
              <a:gs pos="100000">
                <a:schemeClr val="accent2">
                  <a:lumMod val="75000"/>
                </a:schemeClr>
              </a:gs>
              <a:gs pos="100000">
                <a:schemeClr val="accent5">
                  <a:lumMod val="90000"/>
                  <a:lumOff val="10000"/>
                </a:schemeClr>
              </a:gs>
            </a:gsLst>
            <a:lin ang="5400000" scaled="1"/>
          </a:gra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9" name="TextBox 38"/>
          <p:cNvSpPr txBox="1"/>
          <p:nvPr/>
        </p:nvSpPr>
        <p:spPr>
          <a:xfrm>
            <a:off x="5576081" y="87296"/>
            <a:ext cx="3545059" cy="400110"/>
          </a:xfrm>
          <a:prstGeom prst="rect">
            <a:avLst/>
          </a:prstGeom>
          <a:noFill/>
        </p:spPr>
        <p:txBody>
          <a:bodyPr wrap="square" rtlCol="0">
            <a:spAutoFit/>
          </a:bodyPr>
          <a:lstStyle/>
          <a:p>
            <a:pPr algn="ctr"/>
            <a:r>
              <a:rPr lang="en-US" sz="2000" dirty="0" smtClean="0">
                <a:ln w="0"/>
                <a:solidFill>
                  <a:srgbClr val="FFFF00"/>
                </a:solidFill>
                <a:effectLst>
                  <a:outerShdw blurRad="38100" dist="25400" dir="5400000" algn="ctr" rotWithShape="0">
                    <a:srgbClr val="6E747A">
                      <a:alpha val="43000"/>
                    </a:srgbClr>
                  </a:outerShdw>
                </a:effectLst>
                <a:latin typeface="Oswald" panose="020B0604020202020204" charset="0"/>
                <a:cs typeface="Times New Roman" panose="02020603050405020304" pitchFamily="18" charset="0"/>
              </a:rPr>
              <a:t>OBJECTIVES</a:t>
            </a:r>
            <a:endParaRPr lang="en-US" sz="2000" dirty="0">
              <a:ln w="0"/>
              <a:solidFill>
                <a:srgbClr val="FFFF00"/>
              </a:solidFill>
              <a:effectLst>
                <a:outerShdw blurRad="38100" dist="25400" dir="5400000" algn="ctr" rotWithShape="0">
                  <a:srgbClr val="6E747A">
                    <a:alpha val="43000"/>
                  </a:srgbClr>
                </a:outerShdw>
              </a:effectLst>
              <a:latin typeface="Oswald" panose="020B0604020202020204" charset="0"/>
              <a:cs typeface="Times New Roman" panose="02020603050405020304" pitchFamily="18" charset="0"/>
            </a:endParaRPr>
          </a:p>
        </p:txBody>
      </p:sp>
      <p:sp>
        <p:nvSpPr>
          <p:cNvPr id="40" name="TextBox 39"/>
          <p:cNvSpPr txBox="1"/>
          <p:nvPr/>
        </p:nvSpPr>
        <p:spPr>
          <a:xfrm>
            <a:off x="5465299" y="1213339"/>
            <a:ext cx="3766624" cy="461665"/>
          </a:xfrm>
          <a:prstGeom prst="rect">
            <a:avLst/>
          </a:prstGeom>
          <a:noFill/>
        </p:spPr>
        <p:txBody>
          <a:bodyPr wrap="square" rtlCol="0">
            <a:spAutoFit/>
          </a:bodyPr>
          <a:lstStyle/>
          <a:p>
            <a:endParaRPr lang="en-US" sz="2400" b="1" dirty="0">
              <a:solidFill>
                <a:schemeClr val="bg1"/>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5360277" y="487406"/>
            <a:ext cx="3760864" cy="4524315"/>
          </a:xfrm>
          <a:prstGeom prst="rect">
            <a:avLst/>
          </a:prstGeom>
          <a:noFill/>
        </p:spPr>
        <p:txBody>
          <a:bodyPr wrap="square" rtlCol="0">
            <a:spAutoFit/>
          </a:bodyPr>
          <a:lstStyle/>
          <a:p>
            <a:r>
              <a:rPr lang="en-US" sz="1600">
                <a:solidFill>
                  <a:schemeClr val="tx1"/>
                </a:solidFill>
              </a:rPr>
              <a:t>6. To implement a deadlock recovery mechanism by terminating deadlocked processes and releasing their resources.</a:t>
            </a:r>
          </a:p>
          <a:p>
            <a:r>
              <a:rPr lang="en-US" sz="1600">
                <a:solidFill>
                  <a:schemeClr val="tx1"/>
                </a:solidFill>
              </a:rPr>
              <a:t>7. To simulate the complete deadlock handling process using a CLI-based Python application.</a:t>
            </a:r>
          </a:p>
          <a:p>
            <a:r>
              <a:rPr lang="en-US" sz="1600">
                <a:solidFill>
                  <a:schemeClr val="tx1"/>
                </a:solidFill>
              </a:rPr>
              <a:t>8. To provide a clear backend flow and dry-run explanation for better understanding of operating system concepts.</a:t>
            </a:r>
          </a:p>
          <a:p>
            <a:r>
              <a:rPr lang="en-US" sz="1600">
                <a:solidFill>
                  <a:schemeClr val="tx1"/>
                </a:solidFill>
              </a:rPr>
              <a:t>9. To demonstrate how operating systems manage multiple processes and resources efficiently.</a:t>
            </a:r>
          </a:p>
          <a:p>
            <a:r>
              <a:rPr lang="en-US" sz="1600">
                <a:solidFill>
                  <a:schemeClr val="tx1"/>
                </a:solidFill>
              </a:rPr>
              <a:t>10. To strengthen practical understanding of deadlock prevention, avoidance, detection, and recovery techniques.</a:t>
            </a:r>
            <a:endParaRPr lang="en-US" sz="1600" dirty="0">
              <a:solidFill>
                <a:schemeClr val="tx1"/>
              </a:solidFill>
            </a:endParaRPr>
          </a:p>
        </p:txBody>
      </p:sp>
    </p:spTree>
    <p:extLst>
      <p:ext uri="{BB962C8B-B14F-4D97-AF65-F5344CB8AC3E}">
        <p14:creationId xmlns:p14="http://schemas.microsoft.com/office/powerpoint/2010/main" val="2890956210"/>
      </p:ext>
    </p:extLst>
  </p:cSld>
  <p:clrMapOvr>
    <a:masterClrMapping/>
  </p:clrMapOvr>
  <mc:AlternateContent xmlns:mc="http://schemas.openxmlformats.org/markup-compatibility/2006" xmlns:p14="http://schemas.microsoft.com/office/powerpoint/2010/main">
    <mc:Choice Requires="p14">
      <p:transition spd="slow" p14:dur="2750">
        <p:checker/>
      </p:transition>
    </mc:Choice>
    <mc:Fallback xmlns="">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down)">
                                      <p:cBhvr>
                                        <p:cTn id="7" dur="4750"/>
                                        <p:tgtEl>
                                          <p:spTgt spid="38"/>
                                        </p:tgtEl>
                                      </p:cBhvr>
                                    </p:animEffect>
                                  </p:childTnLst>
                                </p:cTn>
                              </p:par>
                              <p:par>
                                <p:cTn id="8" presetID="22" presetClass="entr" presetSubtype="4" fill="hold" nodeType="withEffect" nodePh="1">
                                  <p:stCondLst>
                                    <p:cond delay="0"/>
                                  </p:stCondLst>
                                  <p:endCondLst>
                                    <p:cond evt="begin" delay="0">
                                      <p:tn val="8"/>
                                    </p:cond>
                                  </p:endCondLst>
                                  <p:childTnLst>
                                    <p:set>
                                      <p:cBhvr>
                                        <p:cTn id="9" dur="1" fill="hold">
                                          <p:stCondLst>
                                            <p:cond delay="0"/>
                                          </p:stCondLst>
                                        </p:cTn>
                                        <p:tgtEl>
                                          <p:spTgt spid="40">
                                            <p:txEl>
                                              <p:pRg st="0" end="0"/>
                                            </p:txEl>
                                          </p:spTgt>
                                        </p:tgtEl>
                                        <p:attrNameLst>
                                          <p:attrName>style.visibility</p:attrName>
                                        </p:attrNameLst>
                                      </p:cBhvr>
                                      <p:to>
                                        <p:strVal val="visible"/>
                                      </p:to>
                                    </p:set>
                                    <p:animEffect transition="in" filter="wipe(down)">
                                      <p:cBhvr>
                                        <p:cTn id="10" dur="1500"/>
                                        <p:tgtEl>
                                          <p:spTgt spid="40">
                                            <p:txEl>
                                              <p:pRg st="0" end="0"/>
                                            </p:txEl>
                                          </p:spTgt>
                                        </p:tgtEl>
                                      </p:cBhvr>
                                    </p:animEffect>
                                  </p:childTnLst>
                                </p:cTn>
                              </p:par>
                              <p:par>
                                <p:cTn id="11" presetID="42" presetClass="entr" presetSubtype="0" fill="hold" grpId="0" nodeType="withEffect">
                                  <p:stCondLst>
                                    <p:cond delay="0"/>
                                  </p:stCondLst>
                                  <p:childTnLst>
                                    <p:set>
                                      <p:cBhvr>
                                        <p:cTn id="12" dur="1" fill="hold">
                                          <p:stCondLst>
                                            <p:cond delay="0"/>
                                          </p:stCondLst>
                                        </p:cTn>
                                        <p:tgtEl>
                                          <p:spTgt spid="39"/>
                                        </p:tgtEl>
                                        <p:attrNameLst>
                                          <p:attrName>style.visibility</p:attrName>
                                        </p:attrNameLst>
                                      </p:cBhvr>
                                      <p:to>
                                        <p:strVal val="visible"/>
                                      </p:to>
                                    </p:set>
                                    <p:animEffect transition="in" filter="fade">
                                      <p:cBhvr>
                                        <p:cTn id="13" dur="1000"/>
                                        <p:tgtEl>
                                          <p:spTgt spid="39"/>
                                        </p:tgtEl>
                                      </p:cBhvr>
                                    </p:animEffect>
                                    <p:anim calcmode="lin" valueType="num">
                                      <p:cBhvr>
                                        <p:cTn id="14" dur="1000" fill="hold"/>
                                        <p:tgtEl>
                                          <p:spTgt spid="39"/>
                                        </p:tgtEl>
                                        <p:attrNameLst>
                                          <p:attrName>ppt_x</p:attrName>
                                        </p:attrNameLst>
                                      </p:cBhvr>
                                      <p:tavLst>
                                        <p:tav tm="0">
                                          <p:val>
                                            <p:strVal val="#ppt_x"/>
                                          </p:val>
                                        </p:tav>
                                        <p:tav tm="100000">
                                          <p:val>
                                            <p:strVal val="#ppt_x"/>
                                          </p:val>
                                        </p:tav>
                                      </p:tavLst>
                                    </p:anim>
                                    <p:anim calcmode="lin" valueType="num">
                                      <p:cBhvr>
                                        <p:cTn id="15" dur="1000" fill="hold"/>
                                        <p:tgtEl>
                                          <p:spTgt spid="39"/>
                                        </p:tgtEl>
                                        <p:attrNameLst>
                                          <p:attrName>ppt_y</p:attrName>
                                        </p:attrNameLst>
                                      </p:cBhvr>
                                      <p:tavLst>
                                        <p:tav tm="0">
                                          <p:val>
                                            <p:strVal val="#ppt_y+.1"/>
                                          </p:val>
                                        </p:tav>
                                        <p:tav tm="100000">
                                          <p:val>
                                            <p:strVal val="#ppt_y"/>
                                          </p:val>
                                        </p:tav>
                                      </p:tavLst>
                                    </p:anim>
                                  </p:childTnLst>
                                </p:cTn>
                              </p:par>
                              <p:par>
                                <p:cTn id="16" presetID="22" presetClass="entr" presetSubtype="4"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down)">
                                      <p:cBhvr>
                                        <p:cTn id="18" dur="1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sp>
        <p:nvSpPr>
          <p:cNvPr id="229" name="Google Shape;229;p30"/>
          <p:cNvSpPr txBox="1">
            <a:spLocks noGrp="1"/>
          </p:cNvSpPr>
          <p:nvPr>
            <p:ph type="ctrTitle"/>
          </p:nvPr>
        </p:nvSpPr>
        <p:spPr>
          <a:xfrm>
            <a:off x="230338" y="872359"/>
            <a:ext cx="5019756" cy="2733931"/>
          </a:xfrm>
          <a:prstGeom prst="rect">
            <a:avLst/>
          </a:prstGeom>
        </p:spPr>
        <p:txBody>
          <a:bodyPr spcFirstLastPara="1" wrap="square" lIns="0" tIns="0" rIns="0" bIns="0" anchor="ctr" anchorCtr="0">
            <a:noAutofit/>
          </a:bodyPr>
          <a:lstStyle/>
          <a:p>
            <a:pPr lvl="0"/>
            <a:r>
              <a:rPr lang="en-US" sz="3200" dirty="0" smtClean="0">
                <a:solidFill>
                  <a:schemeClr val="accent1"/>
                </a:solidFill>
              </a:rPr>
              <a:t>Banker’s Algorithm</a:t>
            </a:r>
            <a:r>
              <a:rPr lang="en-US" sz="3200" dirty="0" smtClean="0">
                <a:solidFill>
                  <a:schemeClr val="accent1"/>
                </a:solidFill>
              </a:rPr>
              <a:t/>
            </a:r>
            <a:br>
              <a:rPr lang="en-US" sz="3200" dirty="0" smtClean="0">
                <a:solidFill>
                  <a:schemeClr val="accent1"/>
                </a:solidFill>
              </a:rPr>
            </a:br>
            <a:r>
              <a:rPr lang="en-US" sz="2000" dirty="0" smtClean="0">
                <a:solidFill>
                  <a:schemeClr val="tx1"/>
                </a:solidFill>
              </a:rPr>
              <a:t>Banker's </a:t>
            </a:r>
            <a:r>
              <a:rPr lang="en-US" sz="2000" dirty="0">
                <a:solidFill>
                  <a:schemeClr val="tx1"/>
                </a:solidFill>
              </a:rPr>
              <a:t>Algorithm is a resource allocation and deadlock avoidance algorithm used in operating systems. It ensures that a system remains in a safe state by carefully allocating resources to processes while avoiding unsafe states that could lead to </a:t>
            </a:r>
            <a:r>
              <a:rPr lang="en-US" sz="2000" dirty="0" smtClean="0">
                <a:solidFill>
                  <a:schemeClr val="tx1"/>
                </a:solidFill>
              </a:rPr>
              <a:t>deadlocks</a:t>
            </a:r>
            <a:endParaRPr sz="2400" dirty="0"/>
          </a:p>
        </p:txBody>
      </p:sp>
    </p:spTree>
  </p:cSld>
  <p:clrMapOvr>
    <a:masterClrMapping/>
  </p:clrMapOvr>
  <mc:AlternateContent xmlns:mc="http://schemas.openxmlformats.org/markup-compatibility/2006" xmlns:p14="http://schemas.microsoft.com/office/powerpoint/2010/main">
    <mc:Choice Requires="p14">
      <p:transition spd="slow" p14:dur="325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29"/>
                                        </p:tgtEl>
                                        <p:attrNameLst>
                                          <p:attrName>style.visibility</p:attrName>
                                        </p:attrNameLst>
                                      </p:cBhvr>
                                      <p:to>
                                        <p:strVal val="visible"/>
                                      </p:to>
                                    </p:set>
                                    <p:animEffect transition="in" filter="wipe(down)">
                                      <p:cBhvr>
                                        <p:cTn id="7" dur="10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sp>
        <p:nvSpPr>
          <p:cNvPr id="229" name="Google Shape;229;p30"/>
          <p:cNvSpPr txBox="1">
            <a:spLocks noGrp="1"/>
          </p:cNvSpPr>
          <p:nvPr>
            <p:ph type="ctrTitle"/>
          </p:nvPr>
        </p:nvSpPr>
        <p:spPr>
          <a:xfrm>
            <a:off x="230337" y="872359"/>
            <a:ext cx="5949745" cy="3846785"/>
          </a:xfrm>
          <a:prstGeom prst="rect">
            <a:avLst/>
          </a:prstGeom>
          <a:solidFill>
            <a:schemeClr val="bg1">
              <a:lumMod val="25000"/>
              <a:alpha val="56000"/>
            </a:schemeClr>
          </a:solidFill>
          <a:ln>
            <a:noFill/>
          </a:ln>
          <a:effectLst/>
          <a:scene3d>
            <a:camera prst="orthographicFront">
              <a:rot lat="0" lon="0" rev="0"/>
            </a:camera>
            <a:lightRig rig="contrasting" dir="t">
              <a:rot lat="0" lon="0" rev="7800000"/>
            </a:lightRig>
          </a:scene3d>
          <a:sp3d>
            <a:bevelT w="139700" h="139700"/>
          </a:sp3d>
        </p:spPr>
        <p:txBody>
          <a:bodyPr spcFirstLastPara="1" wrap="square" lIns="0" tIns="0" rIns="0" bIns="0" anchor="ctr" anchorCtr="0">
            <a:noAutofit/>
          </a:bodyPr>
          <a:lstStyle/>
          <a:p>
            <a:pPr lvl="0"/>
            <a:r>
              <a:rPr lang="en-US" sz="2800" dirty="0" smtClean="0">
                <a:solidFill>
                  <a:schemeClr val="accent1"/>
                </a:solidFill>
              </a:rPr>
              <a:t>Banker’s Algorithm</a:t>
            </a:r>
            <a:r>
              <a:rPr lang="en-US" sz="3200" dirty="0" smtClean="0">
                <a:solidFill>
                  <a:schemeClr val="accent1"/>
                </a:solidFill>
              </a:rPr>
              <a:t/>
            </a:r>
            <a:br>
              <a:rPr lang="en-US" sz="3200" dirty="0" smtClean="0">
                <a:solidFill>
                  <a:schemeClr val="accent1"/>
                </a:solidFill>
              </a:rPr>
            </a:br>
            <a:r>
              <a:rPr lang="en-US" sz="2000" dirty="0" smtClean="0">
                <a:solidFill>
                  <a:schemeClr val="tx1"/>
                </a:solidFill>
              </a:rPr>
              <a:t>The </a:t>
            </a:r>
            <a:r>
              <a:rPr lang="en-US" sz="2000" dirty="0">
                <a:solidFill>
                  <a:schemeClr val="tx1"/>
                </a:solidFill>
              </a:rPr>
              <a:t>Banker's Algorithm is a smart way for computer systems to manage how programs use resources, like memory or CPU time.</a:t>
            </a:r>
            <a:br>
              <a:rPr lang="en-US" sz="2000" dirty="0">
                <a:solidFill>
                  <a:schemeClr val="tx1"/>
                </a:solidFill>
              </a:rPr>
            </a:br>
            <a:r>
              <a:rPr lang="en-US" sz="2000" dirty="0">
                <a:solidFill>
                  <a:schemeClr val="tx1"/>
                </a:solidFill>
              </a:rPr>
              <a:t>It helps prevent situations where programs get stuck and can not finish their tasks. This condition is known as deadlock.</a:t>
            </a:r>
            <a:br>
              <a:rPr lang="en-US" sz="2000" dirty="0">
                <a:solidFill>
                  <a:schemeClr val="tx1"/>
                </a:solidFill>
              </a:rPr>
            </a:br>
            <a:r>
              <a:rPr lang="en-US" sz="2000" dirty="0">
                <a:solidFill>
                  <a:schemeClr val="tx1"/>
                </a:solidFill>
              </a:rPr>
              <a:t>By keeping track of what resources each program needs and what's available, the banker algorithm makes sure that programs only get what they need in a safe order.</a:t>
            </a:r>
            <a:r>
              <a:rPr lang="en" sz="2400" dirty="0" smtClean="0">
                <a:solidFill>
                  <a:schemeClr val="accent1"/>
                </a:solidFill>
              </a:rPr>
              <a:t/>
            </a:r>
            <a:br>
              <a:rPr lang="en" sz="2400" dirty="0" smtClean="0">
                <a:solidFill>
                  <a:schemeClr val="accent1"/>
                </a:solidFill>
              </a:rPr>
            </a:br>
            <a:r>
              <a:rPr lang="en" sz="2400" dirty="0" smtClean="0">
                <a:solidFill>
                  <a:schemeClr val="accent1"/>
                </a:solidFill>
              </a:rPr>
              <a:t> </a:t>
            </a:r>
            <a:endParaRPr sz="2400" dirty="0"/>
          </a:p>
        </p:txBody>
      </p:sp>
    </p:spTree>
    <p:extLst>
      <p:ext uri="{BB962C8B-B14F-4D97-AF65-F5344CB8AC3E}">
        <p14:creationId xmlns:p14="http://schemas.microsoft.com/office/powerpoint/2010/main" val="4004256906"/>
      </p:ext>
    </p:extLst>
  </p:cSld>
  <p:clrMapOvr>
    <a:masterClrMapping/>
  </p:clrMapOvr>
  <mc:AlternateContent xmlns:mc="http://schemas.openxmlformats.org/markup-compatibility/2006" xmlns:p14="http://schemas.microsoft.com/office/powerpoint/2010/main">
    <mc:Choice Requires="p14">
      <p:transition spd="slow" p14:dur="325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29"/>
                                        </p:tgtEl>
                                        <p:attrNameLst>
                                          <p:attrName>style.visibility</p:attrName>
                                        </p:attrNameLst>
                                      </p:cBhvr>
                                      <p:to>
                                        <p:strVal val="visible"/>
                                      </p:to>
                                    </p:set>
                                    <p:animEffect transition="in" filter="wipe(down)">
                                      <p:cBhvr>
                                        <p:cTn id="7" dur="1000"/>
                                        <p:tgtEl>
                                          <p:spTgt spid="2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41"/>
        <p:cNvGrpSpPr/>
        <p:nvPr/>
      </p:nvGrpSpPr>
      <p:grpSpPr>
        <a:xfrm>
          <a:off x="0" y="0"/>
          <a:ext cx="0" cy="0"/>
          <a:chOff x="0" y="0"/>
          <a:chExt cx="0" cy="0"/>
        </a:xfrm>
      </p:grpSpPr>
      <p:sp>
        <p:nvSpPr>
          <p:cNvPr id="243" name="Google Shape;243;p32"/>
          <p:cNvSpPr txBox="1">
            <a:spLocks noGrp="1"/>
          </p:cNvSpPr>
          <p:nvPr>
            <p:ph type="title" idx="2"/>
          </p:nvPr>
        </p:nvSpPr>
        <p:spPr>
          <a:xfrm>
            <a:off x="695771" y="1749900"/>
            <a:ext cx="867300" cy="804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01</a:t>
            </a:r>
            <a:endParaRPr dirty="0"/>
          </a:p>
        </p:txBody>
      </p:sp>
      <p:sp>
        <p:nvSpPr>
          <p:cNvPr id="244" name="Google Shape;244;p32"/>
          <p:cNvSpPr txBox="1">
            <a:spLocks noGrp="1"/>
          </p:cNvSpPr>
          <p:nvPr>
            <p:ph type="subTitle" idx="1"/>
          </p:nvPr>
        </p:nvSpPr>
        <p:spPr>
          <a:xfrm>
            <a:off x="1849287" y="1721200"/>
            <a:ext cx="5257579" cy="1843933"/>
          </a:xfrm>
          <a:prstGeom prst="rect">
            <a:avLst/>
          </a:prstGeom>
          <a:solidFill>
            <a:schemeClr val="accent4">
              <a:lumMod val="75000"/>
              <a:alpha val="41000"/>
            </a:schemeClr>
          </a:solidFill>
        </p:spPr>
        <p:txBody>
          <a:bodyPr spcFirstLastPara="1" wrap="square" lIns="91425" tIns="91425" rIns="91425" bIns="91425" anchor="ctr" anchorCtr="0">
            <a:noAutofit/>
          </a:bodyPr>
          <a:lstStyle/>
          <a:p>
            <a:pPr fontAlgn="base"/>
            <a:r>
              <a:rPr lang="en-US" sz="1600" dirty="0">
                <a:solidFill>
                  <a:schemeClr val="accent1">
                    <a:lumMod val="60000"/>
                    <a:lumOff val="40000"/>
                  </a:schemeClr>
                </a:solidFill>
                <a:latin typeface="+mn-lt"/>
              </a:rPr>
              <a:t>Let </a:t>
            </a:r>
            <a:r>
              <a:rPr lang="en-US" sz="1600" b="1" dirty="0">
                <a:solidFill>
                  <a:schemeClr val="accent1">
                    <a:lumMod val="60000"/>
                    <a:lumOff val="40000"/>
                  </a:schemeClr>
                </a:solidFill>
                <a:latin typeface="+mn-lt"/>
              </a:rPr>
              <a:t>'n' </a:t>
            </a:r>
            <a:r>
              <a:rPr lang="en-US" sz="1600" dirty="0">
                <a:solidFill>
                  <a:schemeClr val="accent1">
                    <a:lumMod val="60000"/>
                    <a:lumOff val="40000"/>
                  </a:schemeClr>
                </a:solidFill>
                <a:latin typeface="+mn-lt"/>
              </a:rPr>
              <a:t>be the number of processes in the system and </a:t>
            </a:r>
            <a:r>
              <a:rPr lang="en-US" sz="1600" b="1" dirty="0">
                <a:solidFill>
                  <a:schemeClr val="accent1">
                    <a:lumMod val="60000"/>
                    <a:lumOff val="40000"/>
                  </a:schemeClr>
                </a:solidFill>
                <a:latin typeface="+mn-lt"/>
              </a:rPr>
              <a:t>'m' </a:t>
            </a:r>
            <a:r>
              <a:rPr lang="en-US" sz="1600" dirty="0">
                <a:solidFill>
                  <a:schemeClr val="accent1">
                    <a:lumMod val="60000"/>
                    <a:lumOff val="40000"/>
                  </a:schemeClr>
                </a:solidFill>
                <a:latin typeface="+mn-lt"/>
              </a:rPr>
              <a:t>be the number of resource types.</a:t>
            </a:r>
          </a:p>
          <a:p>
            <a:pPr fontAlgn="base"/>
            <a:r>
              <a:rPr lang="en-US" sz="1600" b="1" dirty="0" smtClean="0">
                <a:solidFill>
                  <a:srgbClr val="FFFF00"/>
                </a:solidFill>
                <a:latin typeface="+mn-lt"/>
              </a:rPr>
              <a:t>Available</a:t>
            </a:r>
            <a:endParaRPr lang="en-US" sz="1600" dirty="0">
              <a:solidFill>
                <a:srgbClr val="FFFF00"/>
              </a:solidFill>
              <a:latin typeface="+mn-lt"/>
            </a:endParaRPr>
          </a:p>
          <a:p>
            <a:pPr fontAlgn="base"/>
            <a:r>
              <a:rPr lang="en-US" sz="1600" dirty="0">
                <a:solidFill>
                  <a:schemeClr val="accent1">
                    <a:lumMod val="60000"/>
                    <a:lumOff val="40000"/>
                  </a:schemeClr>
                </a:solidFill>
                <a:latin typeface="+mn-lt"/>
              </a:rPr>
              <a:t>It is a 1-D array of size </a:t>
            </a:r>
            <a:r>
              <a:rPr lang="en-US" sz="1600" b="1" dirty="0">
                <a:solidFill>
                  <a:schemeClr val="accent1">
                    <a:lumMod val="60000"/>
                    <a:lumOff val="40000"/>
                  </a:schemeClr>
                </a:solidFill>
                <a:latin typeface="+mn-lt"/>
              </a:rPr>
              <a:t>'m' </a:t>
            </a:r>
            <a:r>
              <a:rPr lang="en-US" sz="1600" dirty="0">
                <a:solidFill>
                  <a:schemeClr val="accent1">
                    <a:lumMod val="60000"/>
                    <a:lumOff val="40000"/>
                  </a:schemeClr>
                </a:solidFill>
                <a:latin typeface="+mn-lt"/>
              </a:rPr>
              <a:t>indicating the number of available resources of each type.</a:t>
            </a:r>
          </a:p>
          <a:p>
            <a:pPr fontAlgn="base"/>
            <a:r>
              <a:rPr lang="en-US" sz="1600" dirty="0">
                <a:solidFill>
                  <a:schemeClr val="accent1">
                    <a:lumMod val="60000"/>
                    <a:lumOff val="40000"/>
                  </a:schemeClr>
                </a:solidFill>
                <a:latin typeface="+mn-lt"/>
              </a:rPr>
              <a:t>Available[ j ] = k means there are </a:t>
            </a:r>
            <a:r>
              <a:rPr lang="en-US" sz="1600" b="1" dirty="0">
                <a:solidFill>
                  <a:schemeClr val="accent1">
                    <a:lumMod val="60000"/>
                    <a:lumOff val="40000"/>
                  </a:schemeClr>
                </a:solidFill>
                <a:latin typeface="+mn-lt"/>
              </a:rPr>
              <a:t>'k' </a:t>
            </a:r>
            <a:r>
              <a:rPr lang="en-US" sz="1600" dirty="0">
                <a:solidFill>
                  <a:schemeClr val="accent1">
                    <a:lumMod val="60000"/>
                    <a:lumOff val="40000"/>
                  </a:schemeClr>
                </a:solidFill>
                <a:latin typeface="+mn-lt"/>
              </a:rPr>
              <a:t>instances of resource type </a:t>
            </a:r>
            <a:r>
              <a:rPr lang="en-US" sz="1600" b="1" dirty="0" err="1" smtClean="0">
                <a:solidFill>
                  <a:schemeClr val="accent1">
                    <a:lumMod val="60000"/>
                    <a:lumOff val="40000"/>
                  </a:schemeClr>
                </a:solidFill>
                <a:latin typeface="+mn-lt"/>
              </a:rPr>
              <a:t>R</a:t>
            </a:r>
            <a:r>
              <a:rPr lang="en-US" sz="1600" b="1" baseline="-25000" dirty="0" err="1" smtClean="0">
                <a:solidFill>
                  <a:schemeClr val="accent1">
                    <a:lumMod val="60000"/>
                    <a:lumOff val="40000"/>
                  </a:schemeClr>
                </a:solidFill>
                <a:latin typeface="+mn-lt"/>
              </a:rPr>
              <a:t>j</a:t>
            </a:r>
            <a:endParaRPr lang="en-US" sz="1600" dirty="0">
              <a:solidFill>
                <a:schemeClr val="accent1">
                  <a:lumMod val="60000"/>
                  <a:lumOff val="40000"/>
                </a:schemeClr>
              </a:solidFill>
              <a:latin typeface="+mn-lt"/>
            </a:endParaRPr>
          </a:p>
        </p:txBody>
      </p:sp>
      <p:sp>
        <p:nvSpPr>
          <p:cNvPr id="254" name="Google Shape;254;p32"/>
          <p:cNvSpPr txBox="1">
            <a:spLocks noGrp="1"/>
          </p:cNvSpPr>
          <p:nvPr>
            <p:ph type="title" idx="15"/>
          </p:nvPr>
        </p:nvSpPr>
        <p:spPr>
          <a:xfrm>
            <a:off x="720000" y="539496"/>
            <a:ext cx="7704000" cy="576000"/>
          </a:xfrm>
          <a:prstGeom prst="rect">
            <a:avLst/>
          </a:prstGeom>
        </p:spPr>
        <p:txBody>
          <a:bodyPr spcFirstLastPara="1" wrap="square" lIns="0" tIns="0" rIns="0" bIns="0" anchor="t" anchorCtr="0">
            <a:noAutofit/>
          </a:bodyPr>
          <a:lstStyle/>
          <a:p>
            <a:pPr lvl="0"/>
            <a:r>
              <a:rPr lang="en-US" sz="2800" dirty="0">
                <a:solidFill>
                  <a:srgbClr val="FFFF00"/>
                </a:solidFill>
              </a:rPr>
              <a:t>Components of the Banker's Algorithm</a:t>
            </a:r>
            <a:endParaRPr sz="2800" dirty="0">
              <a:solidFill>
                <a:srgbClr val="FFFF00"/>
              </a:solidFill>
            </a:endParaRPr>
          </a:p>
        </p:txBody>
      </p:sp>
      <p:cxnSp>
        <p:nvCxnSpPr>
          <p:cNvPr id="255" name="Google Shape;255;p32"/>
          <p:cNvCxnSpPr/>
          <p:nvPr/>
        </p:nvCxnSpPr>
        <p:spPr>
          <a:xfrm>
            <a:off x="1611488" y="1721200"/>
            <a:ext cx="0" cy="8640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cxnSp>
        <p:nvCxnSpPr>
          <p:cNvPr id="258" name="Google Shape;258;p32"/>
          <p:cNvCxnSpPr/>
          <p:nvPr/>
        </p:nvCxnSpPr>
        <p:spPr>
          <a:xfrm>
            <a:off x="1611488" y="1723337"/>
            <a:ext cx="0" cy="1841796"/>
          </a:xfrm>
          <a:prstGeom prst="straightConnector1">
            <a:avLst/>
          </a:prstGeom>
          <a:noFill/>
          <a:ln w="19050" cap="flat" cmpd="sng">
            <a:solidFill>
              <a:schemeClr val="accent1"/>
            </a:solidFill>
            <a:prstDash val="solid"/>
            <a:round/>
            <a:headEnd type="none" w="med" len="med"/>
            <a:tailEnd type="none" w="med" len="med"/>
          </a:ln>
          <a:effectLst>
            <a:outerShdw blurRad="200025" dist="19050" dir="2640000" algn="bl" rotWithShape="0">
              <a:schemeClr val="accent1">
                <a:alpha val="68000"/>
              </a:schemeClr>
            </a:outerShdw>
          </a:effectLst>
        </p:spPr>
      </p:cxnSp>
      <p:grpSp>
        <p:nvGrpSpPr>
          <p:cNvPr id="260" name="Google Shape;260;p32"/>
          <p:cNvGrpSpPr/>
          <p:nvPr/>
        </p:nvGrpSpPr>
        <p:grpSpPr>
          <a:xfrm rot="-5400000" flipH="1">
            <a:off x="45184" y="-603610"/>
            <a:ext cx="1182802" cy="2546215"/>
            <a:chOff x="7350442" y="2608992"/>
            <a:chExt cx="777239" cy="1673160"/>
          </a:xfrm>
        </p:grpSpPr>
        <p:sp>
          <p:nvSpPr>
            <p:cNvPr id="261" name="Google Shape;261;p32"/>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32"/>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 name="Google Shape;263;p32"/>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 name="Google Shape;264;p32"/>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 name="Google Shape;265;p32"/>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 name="Google Shape;266;p32"/>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 name="Google Shape;267;p32"/>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32"/>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9" name="Google Shape;269;p32"/>
          <p:cNvGrpSpPr/>
          <p:nvPr/>
        </p:nvGrpSpPr>
        <p:grpSpPr>
          <a:xfrm rot="5400000">
            <a:off x="7856837" y="-587624"/>
            <a:ext cx="1182802" cy="2555083"/>
            <a:chOff x="7350442" y="2608992"/>
            <a:chExt cx="777239" cy="1673160"/>
          </a:xfrm>
        </p:grpSpPr>
        <p:sp>
          <p:nvSpPr>
            <p:cNvPr id="270" name="Google Shape;270;p32"/>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32"/>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 name="Google Shape;272;p32"/>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 name="Google Shape;273;p32"/>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32"/>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 name="Google Shape;275;p32"/>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 name="Google Shape;276;p32"/>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 name="Google Shape;277;p32"/>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6867" y="3726503"/>
            <a:ext cx="1865376" cy="1416997"/>
          </a:xfrm>
          <a:prstGeom prst="rect">
            <a:avLst/>
          </a:prstGeom>
          <a:ln>
            <a:noFill/>
          </a:ln>
          <a:effectLst>
            <a:softEdge rad="112500"/>
          </a:effectLst>
        </p:spPr>
      </p:pic>
    </p:spTree>
    <p:extLst>
      <p:ext uri="{BB962C8B-B14F-4D97-AF65-F5344CB8AC3E}">
        <p14:creationId xmlns:p14="http://schemas.microsoft.com/office/powerpoint/2010/main" val="3151434884"/>
      </p:ext>
    </p:extLst>
  </p:cSld>
  <p:clrMapOvr>
    <a:masterClrMapping/>
  </p:clrMapOvr>
  <mc:AlternateContent xmlns:mc="http://schemas.openxmlformats.org/markup-compatibility/2006" xmlns:p14="http://schemas.microsoft.com/office/powerpoint/2010/main">
    <mc:Choice Requires="p14">
      <p:transition spd="slow" p14:dur="15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barn(inVertical)">
                                      <p:cBhvr>
                                        <p:cTn id="7" dur="500"/>
                                        <p:tgtEl>
                                          <p:spTgt spid="260"/>
                                        </p:tgtEl>
                                      </p:cBhvr>
                                    </p:animEffect>
                                  </p:childTnLst>
                                </p:cTn>
                              </p:par>
                              <p:par>
                                <p:cTn id="8" presetID="22" presetClass="entr" presetSubtype="4" fill="hold" nodeType="withEffect">
                                  <p:stCondLst>
                                    <p:cond delay="0"/>
                                  </p:stCondLst>
                                  <p:childTnLst>
                                    <p:set>
                                      <p:cBhvr>
                                        <p:cTn id="9" dur="1" fill="hold">
                                          <p:stCondLst>
                                            <p:cond delay="0"/>
                                          </p:stCondLst>
                                        </p:cTn>
                                        <p:tgtEl>
                                          <p:spTgt spid="269"/>
                                        </p:tgtEl>
                                        <p:attrNameLst>
                                          <p:attrName>style.visibility</p:attrName>
                                        </p:attrNameLst>
                                      </p:cBhvr>
                                      <p:to>
                                        <p:strVal val="visible"/>
                                      </p:to>
                                    </p:set>
                                    <p:animEffect transition="in" filter="wipe(down)">
                                      <p:cBhvr>
                                        <p:cTn id="10" dur="500"/>
                                        <p:tgtEl>
                                          <p:spTgt spid="269"/>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254"/>
                                        </p:tgtEl>
                                        <p:attrNameLst>
                                          <p:attrName>style.visibility</p:attrName>
                                        </p:attrNameLst>
                                      </p:cBhvr>
                                      <p:to>
                                        <p:strVal val="visible"/>
                                      </p:to>
                                    </p:set>
                                    <p:animEffect transition="in" filter="wipe(down)">
                                      <p:cBhvr>
                                        <p:cTn id="14" dur="500"/>
                                        <p:tgtEl>
                                          <p:spTgt spid="254"/>
                                        </p:tgtEl>
                                      </p:cBhvr>
                                    </p:animEffect>
                                  </p:childTnLst>
                                </p:cTn>
                              </p:par>
                            </p:childTnLst>
                          </p:cTn>
                        </p:par>
                        <p:par>
                          <p:cTn id="15" fill="hold">
                            <p:stCondLst>
                              <p:cond delay="1000"/>
                            </p:stCondLst>
                            <p:childTnLst>
                              <p:par>
                                <p:cTn id="16" presetID="26" presetClass="emph" presetSubtype="0" fill="hold" nodeType="afterEffect">
                                  <p:stCondLst>
                                    <p:cond delay="0"/>
                                  </p:stCondLst>
                                  <p:childTnLst>
                                    <p:animEffect transition="out" filter="fade">
                                      <p:cBhvr>
                                        <p:cTn id="17" dur="5000" tmFilter="0, 0; .2, .5; .8, .5; 1, 0"/>
                                        <p:tgtEl>
                                          <p:spTgt spid="14"/>
                                        </p:tgtEl>
                                      </p:cBhvr>
                                    </p:animEffect>
                                    <p:animScale>
                                      <p:cBhvr>
                                        <p:cTn id="18" dur="2500" autoRev="1" fill="hold"/>
                                        <p:tgtEl>
                                          <p:spTgt spid="14"/>
                                        </p:tgtEl>
                                      </p:cBhvr>
                                      <p:by x="105000" y="105000"/>
                                    </p:animScale>
                                  </p:childTnLst>
                                </p:cTn>
                              </p:par>
                              <p:par>
                                <p:cTn id="19" presetID="22" presetClass="entr" presetSubtype="4" fill="hold" grpId="0" nodeType="withEffect">
                                  <p:stCondLst>
                                    <p:cond delay="0"/>
                                  </p:stCondLst>
                                  <p:childTnLst>
                                    <p:set>
                                      <p:cBhvr>
                                        <p:cTn id="20" dur="1" fill="hold">
                                          <p:stCondLst>
                                            <p:cond delay="0"/>
                                          </p:stCondLst>
                                        </p:cTn>
                                        <p:tgtEl>
                                          <p:spTgt spid="243"/>
                                        </p:tgtEl>
                                        <p:attrNameLst>
                                          <p:attrName>style.visibility</p:attrName>
                                        </p:attrNameLst>
                                      </p:cBhvr>
                                      <p:to>
                                        <p:strVal val="visible"/>
                                      </p:to>
                                    </p:set>
                                    <p:animEffect transition="in" filter="wipe(down)">
                                      <p:cBhvr>
                                        <p:cTn id="21" dur="500"/>
                                        <p:tgtEl>
                                          <p:spTgt spid="243"/>
                                        </p:tgtEl>
                                      </p:cBhvr>
                                    </p:animEffect>
                                  </p:childTnLst>
                                </p:cTn>
                              </p:par>
                              <p:par>
                                <p:cTn id="22" presetID="22" presetClass="entr" presetSubtype="4" fill="hold" nodeType="withEffect">
                                  <p:stCondLst>
                                    <p:cond delay="0"/>
                                  </p:stCondLst>
                                  <p:childTnLst>
                                    <p:set>
                                      <p:cBhvr>
                                        <p:cTn id="23" dur="1" fill="hold">
                                          <p:stCondLst>
                                            <p:cond delay="0"/>
                                          </p:stCondLst>
                                        </p:cTn>
                                        <p:tgtEl>
                                          <p:spTgt spid="258"/>
                                        </p:tgtEl>
                                        <p:attrNameLst>
                                          <p:attrName>style.visibility</p:attrName>
                                        </p:attrNameLst>
                                      </p:cBhvr>
                                      <p:to>
                                        <p:strVal val="visible"/>
                                      </p:to>
                                    </p:set>
                                    <p:animEffect transition="in" filter="wipe(down)">
                                      <p:cBhvr>
                                        <p:cTn id="24" dur="500"/>
                                        <p:tgtEl>
                                          <p:spTgt spid="258"/>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44">
                                            <p:bg/>
                                          </p:spTgt>
                                        </p:tgtEl>
                                        <p:attrNameLst>
                                          <p:attrName>style.visibility</p:attrName>
                                        </p:attrNameLst>
                                      </p:cBhvr>
                                      <p:to>
                                        <p:strVal val="visible"/>
                                      </p:to>
                                    </p:set>
                                    <p:animEffect transition="in" filter="wipe(down)">
                                      <p:cBhvr>
                                        <p:cTn id="27" dur="500"/>
                                        <p:tgtEl>
                                          <p:spTgt spid="244">
                                            <p:bg/>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44">
                                            <p:txEl>
                                              <p:pRg st="0" end="0"/>
                                            </p:txEl>
                                          </p:spTgt>
                                        </p:tgtEl>
                                        <p:attrNameLst>
                                          <p:attrName>style.visibility</p:attrName>
                                        </p:attrNameLst>
                                      </p:cBhvr>
                                      <p:to>
                                        <p:strVal val="visible"/>
                                      </p:to>
                                    </p:set>
                                    <p:animEffect transition="in" filter="wipe(down)">
                                      <p:cBhvr>
                                        <p:cTn id="32" dur="500"/>
                                        <p:tgtEl>
                                          <p:spTgt spid="244">
                                            <p:txEl>
                                              <p:pRg st="0" end="0"/>
                                            </p:txEl>
                                          </p:spTgt>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244">
                                            <p:txEl>
                                              <p:pRg st="1" end="1"/>
                                            </p:txEl>
                                          </p:spTgt>
                                        </p:tgtEl>
                                        <p:attrNameLst>
                                          <p:attrName>style.visibility</p:attrName>
                                        </p:attrNameLst>
                                      </p:cBhvr>
                                      <p:to>
                                        <p:strVal val="visible"/>
                                      </p:to>
                                    </p:set>
                                    <p:animEffect transition="in" filter="wipe(down)">
                                      <p:cBhvr>
                                        <p:cTn id="35" dur="500"/>
                                        <p:tgtEl>
                                          <p:spTgt spid="244">
                                            <p:txEl>
                                              <p:pRg st="1" end="1"/>
                                            </p:txEl>
                                          </p:spTgt>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244">
                                            <p:txEl>
                                              <p:pRg st="2" end="2"/>
                                            </p:txEl>
                                          </p:spTgt>
                                        </p:tgtEl>
                                        <p:attrNameLst>
                                          <p:attrName>style.visibility</p:attrName>
                                        </p:attrNameLst>
                                      </p:cBhvr>
                                      <p:to>
                                        <p:strVal val="visible"/>
                                      </p:to>
                                    </p:set>
                                    <p:animEffect transition="in" filter="wipe(down)">
                                      <p:cBhvr>
                                        <p:cTn id="38" dur="500"/>
                                        <p:tgtEl>
                                          <p:spTgt spid="244">
                                            <p:txEl>
                                              <p:pRg st="2" end="2"/>
                                            </p:txEl>
                                          </p:spTgt>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244">
                                            <p:txEl>
                                              <p:pRg st="3" end="3"/>
                                            </p:txEl>
                                          </p:spTgt>
                                        </p:tgtEl>
                                        <p:attrNameLst>
                                          <p:attrName>style.visibility</p:attrName>
                                        </p:attrNameLst>
                                      </p:cBhvr>
                                      <p:to>
                                        <p:strVal val="visible"/>
                                      </p:to>
                                    </p:set>
                                    <p:animEffect transition="in" filter="wipe(down)">
                                      <p:cBhvr>
                                        <p:cTn id="41" dur="500"/>
                                        <p:tgtEl>
                                          <p:spTgt spid="24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 grpId="0"/>
      <p:bldP spid="244" grpId="0" build="p" animBg="1"/>
      <p:bldP spid="25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41"/>
        <p:cNvGrpSpPr/>
        <p:nvPr/>
      </p:nvGrpSpPr>
      <p:grpSpPr>
        <a:xfrm>
          <a:off x="0" y="0"/>
          <a:ext cx="0" cy="0"/>
          <a:chOff x="0" y="0"/>
          <a:chExt cx="0" cy="0"/>
        </a:xfrm>
      </p:grpSpPr>
      <p:sp>
        <p:nvSpPr>
          <p:cNvPr id="243" name="Google Shape;243;p32"/>
          <p:cNvSpPr txBox="1">
            <a:spLocks noGrp="1"/>
          </p:cNvSpPr>
          <p:nvPr>
            <p:ph type="title" idx="2"/>
          </p:nvPr>
        </p:nvSpPr>
        <p:spPr>
          <a:xfrm>
            <a:off x="695771" y="1749900"/>
            <a:ext cx="867300" cy="804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02</a:t>
            </a:r>
            <a:endParaRPr dirty="0"/>
          </a:p>
        </p:txBody>
      </p:sp>
      <p:sp>
        <p:nvSpPr>
          <p:cNvPr id="244" name="Google Shape;244;p32"/>
          <p:cNvSpPr txBox="1">
            <a:spLocks noGrp="1"/>
          </p:cNvSpPr>
          <p:nvPr>
            <p:ph type="subTitle" idx="1"/>
          </p:nvPr>
        </p:nvSpPr>
        <p:spPr>
          <a:xfrm>
            <a:off x="1849287" y="1721200"/>
            <a:ext cx="5257579" cy="1843933"/>
          </a:xfrm>
          <a:prstGeom prst="rect">
            <a:avLst/>
          </a:prstGeom>
          <a:solidFill>
            <a:schemeClr val="accent4">
              <a:lumMod val="75000"/>
              <a:alpha val="41000"/>
            </a:schemeClr>
          </a:solidFill>
        </p:spPr>
        <p:txBody>
          <a:bodyPr spcFirstLastPara="1" wrap="square" lIns="91425" tIns="91425" rIns="91425" bIns="91425" anchor="ctr" anchorCtr="0">
            <a:noAutofit/>
          </a:bodyPr>
          <a:lstStyle/>
          <a:p>
            <a:pPr fontAlgn="base"/>
            <a:r>
              <a:rPr lang="en-US" sz="1600" dirty="0" smtClean="0">
                <a:solidFill>
                  <a:srgbClr val="FFFF00"/>
                </a:solidFill>
                <a:latin typeface="+mn-lt"/>
              </a:rPr>
              <a:t>Max</a:t>
            </a:r>
            <a:endParaRPr lang="en-US" sz="1600" dirty="0">
              <a:solidFill>
                <a:srgbClr val="FFFF00"/>
              </a:solidFill>
              <a:latin typeface="+mn-lt"/>
            </a:endParaRPr>
          </a:p>
          <a:p>
            <a:pPr fontAlgn="base"/>
            <a:r>
              <a:rPr lang="en-US" sz="1600" dirty="0">
                <a:solidFill>
                  <a:schemeClr val="accent1">
                    <a:lumMod val="60000"/>
                    <a:lumOff val="40000"/>
                  </a:schemeClr>
                </a:solidFill>
                <a:latin typeface="+mn-lt"/>
              </a:rPr>
              <a:t>It is a 2-d array of size 'n*m' that defines the maximum demand of each process in a system.</a:t>
            </a:r>
          </a:p>
          <a:p>
            <a:pPr fontAlgn="base"/>
            <a:r>
              <a:rPr lang="en-US" sz="1600" dirty="0">
                <a:solidFill>
                  <a:schemeClr val="accent1">
                    <a:lumMod val="60000"/>
                    <a:lumOff val="40000"/>
                  </a:schemeClr>
                </a:solidFill>
                <a:latin typeface="+mn-lt"/>
              </a:rPr>
              <a:t>Max[ </a:t>
            </a:r>
            <a:r>
              <a:rPr lang="en-US" sz="1600" dirty="0" err="1">
                <a:solidFill>
                  <a:schemeClr val="accent1">
                    <a:lumMod val="60000"/>
                    <a:lumOff val="40000"/>
                  </a:schemeClr>
                </a:solidFill>
                <a:latin typeface="+mn-lt"/>
              </a:rPr>
              <a:t>i</a:t>
            </a:r>
            <a:r>
              <a:rPr lang="en-US" sz="1600" dirty="0">
                <a:solidFill>
                  <a:schemeClr val="accent1">
                    <a:lumMod val="60000"/>
                    <a:lumOff val="40000"/>
                  </a:schemeClr>
                </a:solidFill>
                <a:latin typeface="+mn-lt"/>
              </a:rPr>
              <a:t>, j ] = k means process Pi may request at most 'k' instances of resource type </a:t>
            </a:r>
            <a:r>
              <a:rPr lang="en-US" sz="1600" dirty="0" err="1">
                <a:solidFill>
                  <a:schemeClr val="accent1">
                    <a:lumMod val="60000"/>
                    <a:lumOff val="40000"/>
                  </a:schemeClr>
                </a:solidFill>
                <a:latin typeface="+mn-lt"/>
              </a:rPr>
              <a:t>Rj</a:t>
            </a:r>
            <a:endParaRPr lang="en-US" sz="1600" dirty="0">
              <a:solidFill>
                <a:schemeClr val="accent1">
                  <a:lumMod val="60000"/>
                  <a:lumOff val="40000"/>
                </a:schemeClr>
              </a:solidFill>
              <a:latin typeface="+mn-lt"/>
            </a:endParaRPr>
          </a:p>
          <a:p>
            <a:pPr fontAlgn="base"/>
            <a:endParaRPr lang="en-US" sz="1600" dirty="0">
              <a:solidFill>
                <a:schemeClr val="accent1">
                  <a:lumMod val="60000"/>
                  <a:lumOff val="40000"/>
                </a:schemeClr>
              </a:solidFill>
              <a:latin typeface="+mn-lt"/>
            </a:endParaRPr>
          </a:p>
        </p:txBody>
      </p:sp>
      <p:sp>
        <p:nvSpPr>
          <p:cNvPr id="254" name="Google Shape;254;p32"/>
          <p:cNvSpPr txBox="1">
            <a:spLocks noGrp="1"/>
          </p:cNvSpPr>
          <p:nvPr>
            <p:ph type="title" idx="15"/>
          </p:nvPr>
        </p:nvSpPr>
        <p:spPr>
          <a:xfrm>
            <a:off x="720000" y="539496"/>
            <a:ext cx="7704000" cy="576000"/>
          </a:xfrm>
          <a:prstGeom prst="rect">
            <a:avLst/>
          </a:prstGeom>
        </p:spPr>
        <p:txBody>
          <a:bodyPr spcFirstLastPara="1" wrap="square" lIns="0" tIns="0" rIns="0" bIns="0" anchor="t" anchorCtr="0">
            <a:noAutofit/>
          </a:bodyPr>
          <a:lstStyle/>
          <a:p>
            <a:pPr lvl="0"/>
            <a:r>
              <a:rPr lang="en-US" sz="2800" dirty="0">
                <a:solidFill>
                  <a:srgbClr val="FFFF00"/>
                </a:solidFill>
              </a:rPr>
              <a:t>Components of the Banker's Algorithm</a:t>
            </a:r>
            <a:endParaRPr sz="2800" dirty="0">
              <a:solidFill>
                <a:srgbClr val="FFFF00"/>
              </a:solidFill>
            </a:endParaRPr>
          </a:p>
        </p:txBody>
      </p:sp>
      <p:cxnSp>
        <p:nvCxnSpPr>
          <p:cNvPr id="255" name="Google Shape;255;p32"/>
          <p:cNvCxnSpPr/>
          <p:nvPr/>
        </p:nvCxnSpPr>
        <p:spPr>
          <a:xfrm>
            <a:off x="1611488" y="1721200"/>
            <a:ext cx="0" cy="8640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cxnSp>
        <p:nvCxnSpPr>
          <p:cNvPr id="258" name="Google Shape;258;p32"/>
          <p:cNvCxnSpPr/>
          <p:nvPr/>
        </p:nvCxnSpPr>
        <p:spPr>
          <a:xfrm>
            <a:off x="1611488" y="1723337"/>
            <a:ext cx="0" cy="1841796"/>
          </a:xfrm>
          <a:prstGeom prst="straightConnector1">
            <a:avLst/>
          </a:prstGeom>
          <a:noFill/>
          <a:ln w="19050" cap="flat" cmpd="sng">
            <a:solidFill>
              <a:schemeClr val="accent1"/>
            </a:solidFill>
            <a:prstDash val="solid"/>
            <a:round/>
            <a:headEnd type="none" w="med" len="med"/>
            <a:tailEnd type="none" w="med" len="med"/>
          </a:ln>
          <a:effectLst>
            <a:outerShdw blurRad="200025" dist="19050" dir="2640000" algn="bl" rotWithShape="0">
              <a:schemeClr val="accent1">
                <a:alpha val="68000"/>
              </a:schemeClr>
            </a:outerShdw>
          </a:effectLst>
        </p:spPr>
      </p:cxnSp>
      <p:grpSp>
        <p:nvGrpSpPr>
          <p:cNvPr id="260" name="Google Shape;260;p32"/>
          <p:cNvGrpSpPr/>
          <p:nvPr/>
        </p:nvGrpSpPr>
        <p:grpSpPr>
          <a:xfrm rot="-5400000" flipH="1">
            <a:off x="45184" y="-603610"/>
            <a:ext cx="1182802" cy="2546215"/>
            <a:chOff x="7350442" y="2608992"/>
            <a:chExt cx="777239" cy="1673160"/>
          </a:xfrm>
        </p:grpSpPr>
        <p:sp>
          <p:nvSpPr>
            <p:cNvPr id="261" name="Google Shape;261;p32"/>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32"/>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 name="Google Shape;263;p32"/>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 name="Google Shape;264;p32"/>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 name="Google Shape;265;p32"/>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 name="Google Shape;266;p32"/>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 name="Google Shape;267;p32"/>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32"/>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9" name="Google Shape;269;p32"/>
          <p:cNvGrpSpPr/>
          <p:nvPr/>
        </p:nvGrpSpPr>
        <p:grpSpPr>
          <a:xfrm rot="5400000">
            <a:off x="7856837" y="-587624"/>
            <a:ext cx="1182802" cy="2555083"/>
            <a:chOff x="7350442" y="2608992"/>
            <a:chExt cx="777239" cy="1673160"/>
          </a:xfrm>
        </p:grpSpPr>
        <p:sp>
          <p:nvSpPr>
            <p:cNvPr id="270" name="Google Shape;270;p32"/>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32"/>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 name="Google Shape;272;p32"/>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 name="Google Shape;273;p32"/>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32"/>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 name="Google Shape;275;p32"/>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 name="Google Shape;276;p32"/>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 name="Google Shape;277;p32"/>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6867" y="3726503"/>
            <a:ext cx="1865376" cy="1416997"/>
          </a:xfrm>
          <a:prstGeom prst="rect">
            <a:avLst/>
          </a:prstGeom>
          <a:ln>
            <a:noFill/>
          </a:ln>
          <a:effectLst>
            <a:softEdge rad="112500"/>
          </a:effectLst>
        </p:spPr>
      </p:pic>
    </p:spTree>
    <p:extLst>
      <p:ext uri="{BB962C8B-B14F-4D97-AF65-F5344CB8AC3E}">
        <p14:creationId xmlns:p14="http://schemas.microsoft.com/office/powerpoint/2010/main" val="2416098301"/>
      </p:ext>
    </p:extLst>
  </p:cSld>
  <p:clrMapOvr>
    <a:masterClrMapping/>
  </p:clrMapOvr>
  <mc:AlternateContent xmlns:mc="http://schemas.openxmlformats.org/markup-compatibility/2006" xmlns:p14="http://schemas.microsoft.com/office/powerpoint/2010/main">
    <mc:Choice Requires="p14">
      <p:transition spd="slow" p14:dur="15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barn(inVertical)">
                                      <p:cBhvr>
                                        <p:cTn id="7" dur="500"/>
                                        <p:tgtEl>
                                          <p:spTgt spid="260"/>
                                        </p:tgtEl>
                                      </p:cBhvr>
                                    </p:animEffect>
                                  </p:childTnLst>
                                </p:cTn>
                              </p:par>
                              <p:par>
                                <p:cTn id="8" presetID="22" presetClass="entr" presetSubtype="4" fill="hold" nodeType="withEffect">
                                  <p:stCondLst>
                                    <p:cond delay="0"/>
                                  </p:stCondLst>
                                  <p:childTnLst>
                                    <p:set>
                                      <p:cBhvr>
                                        <p:cTn id="9" dur="1" fill="hold">
                                          <p:stCondLst>
                                            <p:cond delay="0"/>
                                          </p:stCondLst>
                                        </p:cTn>
                                        <p:tgtEl>
                                          <p:spTgt spid="269"/>
                                        </p:tgtEl>
                                        <p:attrNameLst>
                                          <p:attrName>style.visibility</p:attrName>
                                        </p:attrNameLst>
                                      </p:cBhvr>
                                      <p:to>
                                        <p:strVal val="visible"/>
                                      </p:to>
                                    </p:set>
                                    <p:animEffect transition="in" filter="wipe(down)">
                                      <p:cBhvr>
                                        <p:cTn id="10" dur="500"/>
                                        <p:tgtEl>
                                          <p:spTgt spid="269"/>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254"/>
                                        </p:tgtEl>
                                        <p:attrNameLst>
                                          <p:attrName>style.visibility</p:attrName>
                                        </p:attrNameLst>
                                      </p:cBhvr>
                                      <p:to>
                                        <p:strVal val="visible"/>
                                      </p:to>
                                    </p:set>
                                    <p:animEffect transition="in" filter="wipe(down)">
                                      <p:cBhvr>
                                        <p:cTn id="14" dur="500"/>
                                        <p:tgtEl>
                                          <p:spTgt spid="254"/>
                                        </p:tgtEl>
                                      </p:cBhvr>
                                    </p:animEffect>
                                  </p:childTnLst>
                                </p:cTn>
                              </p:par>
                            </p:childTnLst>
                          </p:cTn>
                        </p:par>
                        <p:par>
                          <p:cTn id="15" fill="hold">
                            <p:stCondLst>
                              <p:cond delay="1000"/>
                            </p:stCondLst>
                            <p:childTnLst>
                              <p:par>
                                <p:cTn id="16" presetID="26" presetClass="emph" presetSubtype="0" fill="hold" nodeType="afterEffect">
                                  <p:stCondLst>
                                    <p:cond delay="0"/>
                                  </p:stCondLst>
                                  <p:childTnLst>
                                    <p:animEffect transition="out" filter="fade">
                                      <p:cBhvr>
                                        <p:cTn id="17" dur="5000" tmFilter="0, 0; .2, .5; .8, .5; 1, 0"/>
                                        <p:tgtEl>
                                          <p:spTgt spid="14"/>
                                        </p:tgtEl>
                                      </p:cBhvr>
                                    </p:animEffect>
                                    <p:animScale>
                                      <p:cBhvr>
                                        <p:cTn id="18" dur="2500" autoRev="1" fill="hold"/>
                                        <p:tgtEl>
                                          <p:spTgt spid="14"/>
                                        </p:tgtEl>
                                      </p:cBhvr>
                                      <p:by x="105000" y="105000"/>
                                    </p:animScale>
                                  </p:childTnLst>
                                </p:cTn>
                              </p:par>
                              <p:par>
                                <p:cTn id="19" presetID="22" presetClass="entr" presetSubtype="4" fill="hold" grpId="0" nodeType="withEffect">
                                  <p:stCondLst>
                                    <p:cond delay="0"/>
                                  </p:stCondLst>
                                  <p:childTnLst>
                                    <p:set>
                                      <p:cBhvr>
                                        <p:cTn id="20" dur="1" fill="hold">
                                          <p:stCondLst>
                                            <p:cond delay="0"/>
                                          </p:stCondLst>
                                        </p:cTn>
                                        <p:tgtEl>
                                          <p:spTgt spid="243"/>
                                        </p:tgtEl>
                                        <p:attrNameLst>
                                          <p:attrName>style.visibility</p:attrName>
                                        </p:attrNameLst>
                                      </p:cBhvr>
                                      <p:to>
                                        <p:strVal val="visible"/>
                                      </p:to>
                                    </p:set>
                                    <p:animEffect transition="in" filter="wipe(down)">
                                      <p:cBhvr>
                                        <p:cTn id="21" dur="500"/>
                                        <p:tgtEl>
                                          <p:spTgt spid="243"/>
                                        </p:tgtEl>
                                      </p:cBhvr>
                                    </p:animEffect>
                                  </p:childTnLst>
                                </p:cTn>
                              </p:par>
                              <p:par>
                                <p:cTn id="22" presetID="22" presetClass="entr" presetSubtype="4" fill="hold" nodeType="withEffect">
                                  <p:stCondLst>
                                    <p:cond delay="0"/>
                                  </p:stCondLst>
                                  <p:childTnLst>
                                    <p:set>
                                      <p:cBhvr>
                                        <p:cTn id="23" dur="1" fill="hold">
                                          <p:stCondLst>
                                            <p:cond delay="0"/>
                                          </p:stCondLst>
                                        </p:cTn>
                                        <p:tgtEl>
                                          <p:spTgt spid="258"/>
                                        </p:tgtEl>
                                        <p:attrNameLst>
                                          <p:attrName>style.visibility</p:attrName>
                                        </p:attrNameLst>
                                      </p:cBhvr>
                                      <p:to>
                                        <p:strVal val="visible"/>
                                      </p:to>
                                    </p:set>
                                    <p:animEffect transition="in" filter="wipe(down)">
                                      <p:cBhvr>
                                        <p:cTn id="24" dur="500"/>
                                        <p:tgtEl>
                                          <p:spTgt spid="258"/>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44">
                                            <p:bg/>
                                          </p:spTgt>
                                        </p:tgtEl>
                                        <p:attrNameLst>
                                          <p:attrName>style.visibility</p:attrName>
                                        </p:attrNameLst>
                                      </p:cBhvr>
                                      <p:to>
                                        <p:strVal val="visible"/>
                                      </p:to>
                                    </p:set>
                                    <p:animEffect transition="in" filter="wipe(down)">
                                      <p:cBhvr>
                                        <p:cTn id="27" dur="500"/>
                                        <p:tgtEl>
                                          <p:spTgt spid="244">
                                            <p:bg/>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44">
                                            <p:txEl>
                                              <p:pRg st="0" end="0"/>
                                            </p:txEl>
                                          </p:spTgt>
                                        </p:tgtEl>
                                        <p:attrNameLst>
                                          <p:attrName>style.visibility</p:attrName>
                                        </p:attrNameLst>
                                      </p:cBhvr>
                                      <p:to>
                                        <p:strVal val="visible"/>
                                      </p:to>
                                    </p:set>
                                    <p:animEffect transition="in" filter="wipe(down)">
                                      <p:cBhvr>
                                        <p:cTn id="32" dur="500"/>
                                        <p:tgtEl>
                                          <p:spTgt spid="24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44">
                                            <p:txEl>
                                              <p:pRg st="1" end="1"/>
                                            </p:txEl>
                                          </p:spTgt>
                                        </p:tgtEl>
                                        <p:attrNameLst>
                                          <p:attrName>style.visibility</p:attrName>
                                        </p:attrNameLst>
                                      </p:cBhvr>
                                      <p:to>
                                        <p:strVal val="visible"/>
                                      </p:to>
                                    </p:set>
                                    <p:animEffect transition="in" filter="wipe(down)">
                                      <p:cBhvr>
                                        <p:cTn id="37" dur="500"/>
                                        <p:tgtEl>
                                          <p:spTgt spid="24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44">
                                            <p:txEl>
                                              <p:pRg st="2" end="2"/>
                                            </p:txEl>
                                          </p:spTgt>
                                        </p:tgtEl>
                                        <p:attrNameLst>
                                          <p:attrName>style.visibility</p:attrName>
                                        </p:attrNameLst>
                                      </p:cBhvr>
                                      <p:to>
                                        <p:strVal val="visible"/>
                                      </p:to>
                                    </p:set>
                                    <p:animEffect transition="in" filter="wipe(down)">
                                      <p:cBhvr>
                                        <p:cTn id="42" dur="500"/>
                                        <p:tgtEl>
                                          <p:spTgt spid="24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 grpId="0"/>
      <p:bldP spid="244" grpId="0" build="p" animBg="1"/>
      <p:bldP spid="25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41"/>
        <p:cNvGrpSpPr/>
        <p:nvPr/>
      </p:nvGrpSpPr>
      <p:grpSpPr>
        <a:xfrm>
          <a:off x="0" y="0"/>
          <a:ext cx="0" cy="0"/>
          <a:chOff x="0" y="0"/>
          <a:chExt cx="0" cy="0"/>
        </a:xfrm>
      </p:grpSpPr>
      <p:sp>
        <p:nvSpPr>
          <p:cNvPr id="243" name="Google Shape;243;p32"/>
          <p:cNvSpPr txBox="1">
            <a:spLocks noGrp="1"/>
          </p:cNvSpPr>
          <p:nvPr>
            <p:ph type="title" idx="2"/>
          </p:nvPr>
        </p:nvSpPr>
        <p:spPr>
          <a:xfrm>
            <a:off x="695771" y="1749900"/>
            <a:ext cx="867300" cy="804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03</a:t>
            </a:r>
            <a:endParaRPr dirty="0"/>
          </a:p>
        </p:txBody>
      </p:sp>
      <p:sp>
        <p:nvSpPr>
          <p:cNvPr id="244" name="Google Shape;244;p32"/>
          <p:cNvSpPr txBox="1">
            <a:spLocks noGrp="1"/>
          </p:cNvSpPr>
          <p:nvPr>
            <p:ph type="subTitle" idx="1"/>
          </p:nvPr>
        </p:nvSpPr>
        <p:spPr>
          <a:xfrm>
            <a:off x="1849287" y="1721200"/>
            <a:ext cx="5257579" cy="1843933"/>
          </a:xfrm>
          <a:prstGeom prst="rect">
            <a:avLst/>
          </a:prstGeom>
          <a:solidFill>
            <a:schemeClr val="accent4">
              <a:lumMod val="75000"/>
              <a:alpha val="41000"/>
            </a:schemeClr>
          </a:solidFill>
        </p:spPr>
        <p:txBody>
          <a:bodyPr spcFirstLastPara="1" wrap="square" lIns="91425" tIns="91425" rIns="91425" bIns="91425" anchor="ctr" anchorCtr="0">
            <a:noAutofit/>
          </a:bodyPr>
          <a:lstStyle/>
          <a:p>
            <a:pPr fontAlgn="base"/>
            <a:r>
              <a:rPr lang="en-US" sz="1600" dirty="0" smtClean="0">
                <a:solidFill>
                  <a:srgbClr val="FFFF00"/>
                </a:solidFill>
                <a:latin typeface="+mn-lt"/>
              </a:rPr>
              <a:t>Allocation</a:t>
            </a:r>
            <a:endParaRPr lang="en-US" sz="1600" dirty="0">
              <a:solidFill>
                <a:srgbClr val="FFFF00"/>
              </a:solidFill>
              <a:latin typeface="+mn-lt"/>
            </a:endParaRPr>
          </a:p>
          <a:p>
            <a:pPr fontAlgn="base"/>
            <a:r>
              <a:rPr lang="en-US" sz="1600" dirty="0">
                <a:solidFill>
                  <a:schemeClr val="accent1">
                    <a:lumMod val="60000"/>
                    <a:lumOff val="40000"/>
                  </a:schemeClr>
                </a:solidFill>
                <a:latin typeface="+mn-lt"/>
              </a:rPr>
              <a:t>It is a 2-d array of size 'n*m' that defines the number of resources of each type currently allocated to each process.</a:t>
            </a:r>
          </a:p>
          <a:p>
            <a:pPr fontAlgn="base"/>
            <a:r>
              <a:rPr lang="en-US" sz="1600" dirty="0">
                <a:solidFill>
                  <a:schemeClr val="accent1">
                    <a:lumMod val="60000"/>
                    <a:lumOff val="40000"/>
                  </a:schemeClr>
                </a:solidFill>
                <a:latin typeface="+mn-lt"/>
              </a:rPr>
              <a:t>Allocation[ </a:t>
            </a:r>
            <a:r>
              <a:rPr lang="en-US" sz="1600" dirty="0" err="1">
                <a:solidFill>
                  <a:schemeClr val="accent1">
                    <a:lumMod val="60000"/>
                    <a:lumOff val="40000"/>
                  </a:schemeClr>
                </a:solidFill>
                <a:latin typeface="+mn-lt"/>
              </a:rPr>
              <a:t>i</a:t>
            </a:r>
            <a:r>
              <a:rPr lang="en-US" sz="1600" dirty="0">
                <a:solidFill>
                  <a:schemeClr val="accent1">
                    <a:lumMod val="60000"/>
                    <a:lumOff val="40000"/>
                  </a:schemeClr>
                </a:solidFill>
                <a:latin typeface="+mn-lt"/>
              </a:rPr>
              <a:t>, j ] = k means process Pi is currently allocated 'k' instances of resource type </a:t>
            </a:r>
            <a:r>
              <a:rPr lang="en-US" sz="1600" dirty="0" err="1">
                <a:solidFill>
                  <a:schemeClr val="accent1">
                    <a:lumMod val="60000"/>
                    <a:lumOff val="40000"/>
                  </a:schemeClr>
                </a:solidFill>
                <a:latin typeface="+mn-lt"/>
              </a:rPr>
              <a:t>Rj</a:t>
            </a:r>
            <a:endParaRPr lang="en-US" sz="1600" dirty="0">
              <a:solidFill>
                <a:schemeClr val="accent1">
                  <a:lumMod val="60000"/>
                  <a:lumOff val="40000"/>
                </a:schemeClr>
              </a:solidFill>
              <a:latin typeface="+mn-lt"/>
            </a:endParaRPr>
          </a:p>
        </p:txBody>
      </p:sp>
      <p:sp>
        <p:nvSpPr>
          <p:cNvPr id="254" name="Google Shape;254;p32"/>
          <p:cNvSpPr txBox="1">
            <a:spLocks noGrp="1"/>
          </p:cNvSpPr>
          <p:nvPr>
            <p:ph type="title" idx="15"/>
          </p:nvPr>
        </p:nvSpPr>
        <p:spPr>
          <a:xfrm>
            <a:off x="720000" y="539496"/>
            <a:ext cx="7704000" cy="576000"/>
          </a:xfrm>
          <a:prstGeom prst="rect">
            <a:avLst/>
          </a:prstGeom>
        </p:spPr>
        <p:txBody>
          <a:bodyPr spcFirstLastPara="1" wrap="square" lIns="0" tIns="0" rIns="0" bIns="0" anchor="t" anchorCtr="0">
            <a:noAutofit/>
          </a:bodyPr>
          <a:lstStyle/>
          <a:p>
            <a:pPr lvl="0"/>
            <a:r>
              <a:rPr lang="en-US" sz="2800" dirty="0">
                <a:solidFill>
                  <a:srgbClr val="FFFF00"/>
                </a:solidFill>
              </a:rPr>
              <a:t>Components of the Banker's Algorithm</a:t>
            </a:r>
            <a:endParaRPr sz="2800" dirty="0">
              <a:solidFill>
                <a:srgbClr val="FFFF00"/>
              </a:solidFill>
            </a:endParaRPr>
          </a:p>
        </p:txBody>
      </p:sp>
      <p:cxnSp>
        <p:nvCxnSpPr>
          <p:cNvPr id="255" name="Google Shape;255;p32"/>
          <p:cNvCxnSpPr/>
          <p:nvPr/>
        </p:nvCxnSpPr>
        <p:spPr>
          <a:xfrm>
            <a:off x="1611488" y="1721200"/>
            <a:ext cx="0" cy="8640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cxnSp>
        <p:nvCxnSpPr>
          <p:cNvPr id="258" name="Google Shape;258;p32"/>
          <p:cNvCxnSpPr/>
          <p:nvPr/>
        </p:nvCxnSpPr>
        <p:spPr>
          <a:xfrm>
            <a:off x="1611488" y="1723337"/>
            <a:ext cx="0" cy="1841796"/>
          </a:xfrm>
          <a:prstGeom prst="straightConnector1">
            <a:avLst/>
          </a:prstGeom>
          <a:noFill/>
          <a:ln w="19050" cap="flat" cmpd="sng">
            <a:solidFill>
              <a:schemeClr val="accent1"/>
            </a:solidFill>
            <a:prstDash val="solid"/>
            <a:round/>
            <a:headEnd type="none" w="med" len="med"/>
            <a:tailEnd type="none" w="med" len="med"/>
          </a:ln>
          <a:effectLst>
            <a:outerShdw blurRad="200025" dist="19050" dir="2640000" algn="bl" rotWithShape="0">
              <a:schemeClr val="accent1">
                <a:alpha val="68000"/>
              </a:schemeClr>
            </a:outerShdw>
          </a:effectLst>
        </p:spPr>
      </p:cxnSp>
      <p:grpSp>
        <p:nvGrpSpPr>
          <p:cNvPr id="260" name="Google Shape;260;p32"/>
          <p:cNvGrpSpPr/>
          <p:nvPr/>
        </p:nvGrpSpPr>
        <p:grpSpPr>
          <a:xfrm rot="-5400000" flipH="1">
            <a:off x="45184" y="-603610"/>
            <a:ext cx="1182802" cy="2546215"/>
            <a:chOff x="7350442" y="2608992"/>
            <a:chExt cx="777239" cy="1673160"/>
          </a:xfrm>
        </p:grpSpPr>
        <p:sp>
          <p:nvSpPr>
            <p:cNvPr id="261" name="Google Shape;261;p32"/>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32"/>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 name="Google Shape;263;p32"/>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 name="Google Shape;264;p32"/>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 name="Google Shape;265;p32"/>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 name="Google Shape;266;p32"/>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 name="Google Shape;267;p32"/>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32"/>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9" name="Google Shape;269;p32"/>
          <p:cNvGrpSpPr/>
          <p:nvPr/>
        </p:nvGrpSpPr>
        <p:grpSpPr>
          <a:xfrm rot="5400000">
            <a:off x="7856837" y="-587624"/>
            <a:ext cx="1182802" cy="2555083"/>
            <a:chOff x="7350442" y="2608992"/>
            <a:chExt cx="777239" cy="1673160"/>
          </a:xfrm>
        </p:grpSpPr>
        <p:sp>
          <p:nvSpPr>
            <p:cNvPr id="270" name="Google Shape;270;p32"/>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32"/>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 name="Google Shape;272;p32"/>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 name="Google Shape;273;p32"/>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32"/>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 name="Google Shape;275;p32"/>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 name="Google Shape;276;p32"/>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 name="Google Shape;277;p32"/>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6867" y="3726503"/>
            <a:ext cx="1865376" cy="1416997"/>
          </a:xfrm>
          <a:prstGeom prst="rect">
            <a:avLst/>
          </a:prstGeom>
          <a:ln>
            <a:noFill/>
          </a:ln>
          <a:effectLst>
            <a:softEdge rad="112500"/>
          </a:effectLst>
        </p:spPr>
      </p:pic>
    </p:spTree>
    <p:extLst>
      <p:ext uri="{BB962C8B-B14F-4D97-AF65-F5344CB8AC3E}">
        <p14:creationId xmlns:p14="http://schemas.microsoft.com/office/powerpoint/2010/main" val="2490905416"/>
      </p:ext>
    </p:extLst>
  </p:cSld>
  <p:clrMapOvr>
    <a:masterClrMapping/>
  </p:clrMapOvr>
  <mc:AlternateContent xmlns:mc="http://schemas.openxmlformats.org/markup-compatibility/2006" xmlns:p14="http://schemas.microsoft.com/office/powerpoint/2010/main">
    <mc:Choice Requires="p14">
      <p:transition spd="slow" p14:dur="15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barn(inVertical)">
                                      <p:cBhvr>
                                        <p:cTn id="7" dur="500"/>
                                        <p:tgtEl>
                                          <p:spTgt spid="260"/>
                                        </p:tgtEl>
                                      </p:cBhvr>
                                    </p:animEffect>
                                  </p:childTnLst>
                                </p:cTn>
                              </p:par>
                              <p:par>
                                <p:cTn id="8" presetID="22" presetClass="entr" presetSubtype="4" fill="hold" nodeType="withEffect">
                                  <p:stCondLst>
                                    <p:cond delay="0"/>
                                  </p:stCondLst>
                                  <p:childTnLst>
                                    <p:set>
                                      <p:cBhvr>
                                        <p:cTn id="9" dur="1" fill="hold">
                                          <p:stCondLst>
                                            <p:cond delay="0"/>
                                          </p:stCondLst>
                                        </p:cTn>
                                        <p:tgtEl>
                                          <p:spTgt spid="269"/>
                                        </p:tgtEl>
                                        <p:attrNameLst>
                                          <p:attrName>style.visibility</p:attrName>
                                        </p:attrNameLst>
                                      </p:cBhvr>
                                      <p:to>
                                        <p:strVal val="visible"/>
                                      </p:to>
                                    </p:set>
                                    <p:animEffect transition="in" filter="wipe(down)">
                                      <p:cBhvr>
                                        <p:cTn id="10" dur="500"/>
                                        <p:tgtEl>
                                          <p:spTgt spid="269"/>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254"/>
                                        </p:tgtEl>
                                        <p:attrNameLst>
                                          <p:attrName>style.visibility</p:attrName>
                                        </p:attrNameLst>
                                      </p:cBhvr>
                                      <p:to>
                                        <p:strVal val="visible"/>
                                      </p:to>
                                    </p:set>
                                    <p:animEffect transition="in" filter="wipe(down)">
                                      <p:cBhvr>
                                        <p:cTn id="14" dur="500"/>
                                        <p:tgtEl>
                                          <p:spTgt spid="254"/>
                                        </p:tgtEl>
                                      </p:cBhvr>
                                    </p:animEffect>
                                  </p:childTnLst>
                                </p:cTn>
                              </p:par>
                            </p:childTnLst>
                          </p:cTn>
                        </p:par>
                        <p:par>
                          <p:cTn id="15" fill="hold">
                            <p:stCondLst>
                              <p:cond delay="1000"/>
                            </p:stCondLst>
                            <p:childTnLst>
                              <p:par>
                                <p:cTn id="16" presetID="26" presetClass="emph" presetSubtype="0" fill="hold" nodeType="afterEffect">
                                  <p:stCondLst>
                                    <p:cond delay="0"/>
                                  </p:stCondLst>
                                  <p:childTnLst>
                                    <p:animEffect transition="out" filter="fade">
                                      <p:cBhvr>
                                        <p:cTn id="17" dur="5000" tmFilter="0, 0; .2, .5; .8, .5; 1, 0"/>
                                        <p:tgtEl>
                                          <p:spTgt spid="14"/>
                                        </p:tgtEl>
                                      </p:cBhvr>
                                    </p:animEffect>
                                    <p:animScale>
                                      <p:cBhvr>
                                        <p:cTn id="18" dur="2500" autoRev="1" fill="hold"/>
                                        <p:tgtEl>
                                          <p:spTgt spid="14"/>
                                        </p:tgtEl>
                                      </p:cBhvr>
                                      <p:by x="105000" y="105000"/>
                                    </p:animScale>
                                  </p:childTnLst>
                                </p:cTn>
                              </p:par>
                              <p:par>
                                <p:cTn id="19" presetID="22" presetClass="entr" presetSubtype="4" fill="hold" grpId="0" nodeType="withEffect">
                                  <p:stCondLst>
                                    <p:cond delay="0"/>
                                  </p:stCondLst>
                                  <p:childTnLst>
                                    <p:set>
                                      <p:cBhvr>
                                        <p:cTn id="20" dur="1" fill="hold">
                                          <p:stCondLst>
                                            <p:cond delay="0"/>
                                          </p:stCondLst>
                                        </p:cTn>
                                        <p:tgtEl>
                                          <p:spTgt spid="243"/>
                                        </p:tgtEl>
                                        <p:attrNameLst>
                                          <p:attrName>style.visibility</p:attrName>
                                        </p:attrNameLst>
                                      </p:cBhvr>
                                      <p:to>
                                        <p:strVal val="visible"/>
                                      </p:to>
                                    </p:set>
                                    <p:animEffect transition="in" filter="wipe(down)">
                                      <p:cBhvr>
                                        <p:cTn id="21" dur="500"/>
                                        <p:tgtEl>
                                          <p:spTgt spid="243"/>
                                        </p:tgtEl>
                                      </p:cBhvr>
                                    </p:animEffect>
                                  </p:childTnLst>
                                </p:cTn>
                              </p:par>
                              <p:par>
                                <p:cTn id="22" presetID="22" presetClass="entr" presetSubtype="4" fill="hold" nodeType="withEffect">
                                  <p:stCondLst>
                                    <p:cond delay="0"/>
                                  </p:stCondLst>
                                  <p:childTnLst>
                                    <p:set>
                                      <p:cBhvr>
                                        <p:cTn id="23" dur="1" fill="hold">
                                          <p:stCondLst>
                                            <p:cond delay="0"/>
                                          </p:stCondLst>
                                        </p:cTn>
                                        <p:tgtEl>
                                          <p:spTgt spid="258"/>
                                        </p:tgtEl>
                                        <p:attrNameLst>
                                          <p:attrName>style.visibility</p:attrName>
                                        </p:attrNameLst>
                                      </p:cBhvr>
                                      <p:to>
                                        <p:strVal val="visible"/>
                                      </p:to>
                                    </p:set>
                                    <p:animEffect transition="in" filter="wipe(down)">
                                      <p:cBhvr>
                                        <p:cTn id="24" dur="500"/>
                                        <p:tgtEl>
                                          <p:spTgt spid="258"/>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44">
                                            <p:bg/>
                                          </p:spTgt>
                                        </p:tgtEl>
                                        <p:attrNameLst>
                                          <p:attrName>style.visibility</p:attrName>
                                        </p:attrNameLst>
                                      </p:cBhvr>
                                      <p:to>
                                        <p:strVal val="visible"/>
                                      </p:to>
                                    </p:set>
                                    <p:animEffect transition="in" filter="wipe(down)">
                                      <p:cBhvr>
                                        <p:cTn id="27" dur="500"/>
                                        <p:tgtEl>
                                          <p:spTgt spid="244">
                                            <p:bg/>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44">
                                            <p:txEl>
                                              <p:pRg st="0" end="0"/>
                                            </p:txEl>
                                          </p:spTgt>
                                        </p:tgtEl>
                                        <p:attrNameLst>
                                          <p:attrName>style.visibility</p:attrName>
                                        </p:attrNameLst>
                                      </p:cBhvr>
                                      <p:to>
                                        <p:strVal val="visible"/>
                                      </p:to>
                                    </p:set>
                                    <p:animEffect transition="in" filter="wipe(down)">
                                      <p:cBhvr>
                                        <p:cTn id="32" dur="500"/>
                                        <p:tgtEl>
                                          <p:spTgt spid="24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44">
                                            <p:txEl>
                                              <p:pRg st="1" end="1"/>
                                            </p:txEl>
                                          </p:spTgt>
                                        </p:tgtEl>
                                        <p:attrNameLst>
                                          <p:attrName>style.visibility</p:attrName>
                                        </p:attrNameLst>
                                      </p:cBhvr>
                                      <p:to>
                                        <p:strVal val="visible"/>
                                      </p:to>
                                    </p:set>
                                    <p:animEffect transition="in" filter="wipe(down)">
                                      <p:cBhvr>
                                        <p:cTn id="37" dur="500"/>
                                        <p:tgtEl>
                                          <p:spTgt spid="24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44">
                                            <p:txEl>
                                              <p:pRg st="2" end="2"/>
                                            </p:txEl>
                                          </p:spTgt>
                                        </p:tgtEl>
                                        <p:attrNameLst>
                                          <p:attrName>style.visibility</p:attrName>
                                        </p:attrNameLst>
                                      </p:cBhvr>
                                      <p:to>
                                        <p:strVal val="visible"/>
                                      </p:to>
                                    </p:set>
                                    <p:animEffect transition="in" filter="wipe(down)">
                                      <p:cBhvr>
                                        <p:cTn id="42" dur="500"/>
                                        <p:tgtEl>
                                          <p:spTgt spid="24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 grpId="0"/>
      <p:bldP spid="244" grpId="0" build="p" animBg="1"/>
      <p:bldP spid="25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41"/>
        <p:cNvGrpSpPr/>
        <p:nvPr/>
      </p:nvGrpSpPr>
      <p:grpSpPr>
        <a:xfrm>
          <a:off x="0" y="0"/>
          <a:ext cx="0" cy="0"/>
          <a:chOff x="0" y="0"/>
          <a:chExt cx="0" cy="0"/>
        </a:xfrm>
      </p:grpSpPr>
      <p:sp>
        <p:nvSpPr>
          <p:cNvPr id="243" name="Google Shape;243;p32"/>
          <p:cNvSpPr txBox="1">
            <a:spLocks noGrp="1"/>
          </p:cNvSpPr>
          <p:nvPr>
            <p:ph type="title" idx="2"/>
          </p:nvPr>
        </p:nvSpPr>
        <p:spPr>
          <a:xfrm>
            <a:off x="695771" y="1749900"/>
            <a:ext cx="867300" cy="804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04</a:t>
            </a:r>
            <a:endParaRPr dirty="0"/>
          </a:p>
        </p:txBody>
      </p:sp>
      <p:sp>
        <p:nvSpPr>
          <p:cNvPr id="244" name="Google Shape;244;p32"/>
          <p:cNvSpPr txBox="1">
            <a:spLocks noGrp="1"/>
          </p:cNvSpPr>
          <p:nvPr>
            <p:ph type="subTitle" idx="1"/>
          </p:nvPr>
        </p:nvSpPr>
        <p:spPr>
          <a:xfrm>
            <a:off x="1849287" y="1721200"/>
            <a:ext cx="5257579" cy="1843933"/>
          </a:xfrm>
          <a:prstGeom prst="rect">
            <a:avLst/>
          </a:prstGeom>
          <a:solidFill>
            <a:schemeClr val="accent4">
              <a:lumMod val="75000"/>
              <a:alpha val="41000"/>
            </a:schemeClr>
          </a:solidFill>
        </p:spPr>
        <p:txBody>
          <a:bodyPr spcFirstLastPara="1" wrap="square" lIns="91425" tIns="91425" rIns="91425" bIns="91425" anchor="ctr" anchorCtr="0">
            <a:noAutofit/>
          </a:bodyPr>
          <a:lstStyle/>
          <a:p>
            <a:pPr fontAlgn="base"/>
            <a:r>
              <a:rPr lang="en-US" sz="1600" dirty="0" smtClean="0">
                <a:solidFill>
                  <a:srgbClr val="FFFF00"/>
                </a:solidFill>
                <a:latin typeface="+mn-lt"/>
              </a:rPr>
              <a:t>Need</a:t>
            </a:r>
            <a:endParaRPr lang="en-US" sz="1600" dirty="0">
              <a:solidFill>
                <a:srgbClr val="FFFF00"/>
              </a:solidFill>
              <a:latin typeface="+mn-lt"/>
            </a:endParaRPr>
          </a:p>
          <a:p>
            <a:pPr fontAlgn="base"/>
            <a:r>
              <a:rPr lang="en-US" sz="1600" dirty="0">
                <a:solidFill>
                  <a:schemeClr val="accent1">
                    <a:lumMod val="60000"/>
                    <a:lumOff val="40000"/>
                  </a:schemeClr>
                </a:solidFill>
                <a:latin typeface="+mn-lt"/>
              </a:rPr>
              <a:t>It is a 2-d array of size 'n*m' that indicates the remaining resource need of each process.</a:t>
            </a:r>
          </a:p>
          <a:p>
            <a:pPr fontAlgn="base"/>
            <a:r>
              <a:rPr lang="en-US" sz="1600" dirty="0">
                <a:solidFill>
                  <a:schemeClr val="accent1">
                    <a:lumMod val="60000"/>
                    <a:lumOff val="40000"/>
                  </a:schemeClr>
                </a:solidFill>
                <a:latin typeface="+mn-lt"/>
              </a:rPr>
              <a:t>Need [ </a:t>
            </a:r>
            <a:r>
              <a:rPr lang="en-US" sz="1600" dirty="0" err="1">
                <a:solidFill>
                  <a:schemeClr val="accent1">
                    <a:lumMod val="60000"/>
                    <a:lumOff val="40000"/>
                  </a:schemeClr>
                </a:solidFill>
                <a:latin typeface="+mn-lt"/>
              </a:rPr>
              <a:t>i</a:t>
            </a:r>
            <a:r>
              <a:rPr lang="en-US" sz="1600" dirty="0">
                <a:solidFill>
                  <a:schemeClr val="accent1">
                    <a:lumMod val="60000"/>
                    <a:lumOff val="40000"/>
                  </a:schemeClr>
                </a:solidFill>
                <a:latin typeface="+mn-lt"/>
              </a:rPr>
              <a:t>,   j ] = k means process Pi currently needs 'k' instances of resource type </a:t>
            </a:r>
            <a:r>
              <a:rPr lang="en-US" sz="1600" dirty="0" err="1">
                <a:solidFill>
                  <a:schemeClr val="accent1">
                    <a:lumMod val="60000"/>
                    <a:lumOff val="40000"/>
                  </a:schemeClr>
                </a:solidFill>
                <a:latin typeface="+mn-lt"/>
              </a:rPr>
              <a:t>Rj</a:t>
            </a:r>
            <a:endParaRPr lang="en-US" sz="1600" dirty="0">
              <a:solidFill>
                <a:schemeClr val="accent1">
                  <a:lumMod val="60000"/>
                  <a:lumOff val="40000"/>
                </a:schemeClr>
              </a:solidFill>
              <a:latin typeface="+mn-lt"/>
            </a:endParaRPr>
          </a:p>
          <a:p>
            <a:pPr fontAlgn="base"/>
            <a:r>
              <a:rPr lang="en-US" sz="1600" dirty="0">
                <a:solidFill>
                  <a:schemeClr val="accent1">
                    <a:lumMod val="60000"/>
                    <a:lumOff val="40000"/>
                  </a:schemeClr>
                </a:solidFill>
                <a:latin typeface="+mn-lt"/>
              </a:rPr>
              <a:t>Need [ </a:t>
            </a:r>
            <a:r>
              <a:rPr lang="en-US" sz="1600" dirty="0" err="1">
                <a:solidFill>
                  <a:schemeClr val="accent1">
                    <a:lumMod val="60000"/>
                    <a:lumOff val="40000"/>
                  </a:schemeClr>
                </a:solidFill>
                <a:latin typeface="+mn-lt"/>
              </a:rPr>
              <a:t>i</a:t>
            </a:r>
            <a:r>
              <a:rPr lang="en-US" sz="1600" dirty="0">
                <a:solidFill>
                  <a:schemeClr val="accent1">
                    <a:lumMod val="60000"/>
                    <a:lumOff val="40000"/>
                  </a:schemeClr>
                </a:solidFill>
                <a:latin typeface="+mn-lt"/>
              </a:rPr>
              <a:t>,   j ] = Max [ </a:t>
            </a:r>
            <a:r>
              <a:rPr lang="en-US" sz="1600" dirty="0" err="1">
                <a:solidFill>
                  <a:schemeClr val="accent1">
                    <a:lumMod val="60000"/>
                    <a:lumOff val="40000"/>
                  </a:schemeClr>
                </a:solidFill>
                <a:latin typeface="+mn-lt"/>
              </a:rPr>
              <a:t>i</a:t>
            </a:r>
            <a:r>
              <a:rPr lang="en-US" sz="1600" dirty="0">
                <a:solidFill>
                  <a:schemeClr val="accent1">
                    <a:lumMod val="60000"/>
                    <a:lumOff val="40000"/>
                  </a:schemeClr>
                </a:solidFill>
                <a:latin typeface="+mn-lt"/>
              </a:rPr>
              <a:t>,   j ] – Allocation [ </a:t>
            </a:r>
            <a:r>
              <a:rPr lang="en-US" sz="1600" dirty="0" err="1">
                <a:solidFill>
                  <a:schemeClr val="accent1">
                    <a:lumMod val="60000"/>
                    <a:lumOff val="40000"/>
                  </a:schemeClr>
                </a:solidFill>
                <a:latin typeface="+mn-lt"/>
              </a:rPr>
              <a:t>i</a:t>
            </a:r>
            <a:r>
              <a:rPr lang="en-US" sz="1600" dirty="0">
                <a:solidFill>
                  <a:schemeClr val="accent1">
                    <a:lumMod val="60000"/>
                    <a:lumOff val="40000"/>
                  </a:schemeClr>
                </a:solidFill>
                <a:latin typeface="+mn-lt"/>
              </a:rPr>
              <a:t>,   j ]</a:t>
            </a:r>
            <a:endParaRPr lang="en-US" sz="1600" dirty="0">
              <a:solidFill>
                <a:schemeClr val="accent1">
                  <a:lumMod val="60000"/>
                  <a:lumOff val="40000"/>
                </a:schemeClr>
              </a:solidFill>
              <a:latin typeface="+mn-lt"/>
            </a:endParaRPr>
          </a:p>
        </p:txBody>
      </p:sp>
      <p:sp>
        <p:nvSpPr>
          <p:cNvPr id="254" name="Google Shape;254;p32"/>
          <p:cNvSpPr txBox="1">
            <a:spLocks noGrp="1"/>
          </p:cNvSpPr>
          <p:nvPr>
            <p:ph type="title" idx="15"/>
          </p:nvPr>
        </p:nvSpPr>
        <p:spPr>
          <a:xfrm>
            <a:off x="720000" y="539496"/>
            <a:ext cx="7704000" cy="576000"/>
          </a:xfrm>
          <a:prstGeom prst="rect">
            <a:avLst/>
          </a:prstGeom>
        </p:spPr>
        <p:txBody>
          <a:bodyPr spcFirstLastPara="1" wrap="square" lIns="0" tIns="0" rIns="0" bIns="0" anchor="t" anchorCtr="0">
            <a:noAutofit/>
          </a:bodyPr>
          <a:lstStyle/>
          <a:p>
            <a:pPr lvl="0"/>
            <a:r>
              <a:rPr lang="en-US" sz="2800" dirty="0">
                <a:solidFill>
                  <a:srgbClr val="FFFF00"/>
                </a:solidFill>
              </a:rPr>
              <a:t>Components of the Banker's Algorithm</a:t>
            </a:r>
            <a:endParaRPr sz="2800" dirty="0">
              <a:solidFill>
                <a:srgbClr val="FFFF00"/>
              </a:solidFill>
            </a:endParaRPr>
          </a:p>
        </p:txBody>
      </p:sp>
      <p:cxnSp>
        <p:nvCxnSpPr>
          <p:cNvPr id="255" name="Google Shape;255;p32"/>
          <p:cNvCxnSpPr/>
          <p:nvPr/>
        </p:nvCxnSpPr>
        <p:spPr>
          <a:xfrm>
            <a:off x="1611488" y="1721200"/>
            <a:ext cx="0" cy="8640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cxnSp>
        <p:nvCxnSpPr>
          <p:cNvPr id="258" name="Google Shape;258;p32"/>
          <p:cNvCxnSpPr/>
          <p:nvPr/>
        </p:nvCxnSpPr>
        <p:spPr>
          <a:xfrm>
            <a:off x="1611488" y="1723337"/>
            <a:ext cx="0" cy="1841796"/>
          </a:xfrm>
          <a:prstGeom prst="straightConnector1">
            <a:avLst/>
          </a:prstGeom>
          <a:noFill/>
          <a:ln w="19050" cap="flat" cmpd="sng">
            <a:solidFill>
              <a:schemeClr val="accent1"/>
            </a:solidFill>
            <a:prstDash val="solid"/>
            <a:round/>
            <a:headEnd type="none" w="med" len="med"/>
            <a:tailEnd type="none" w="med" len="med"/>
          </a:ln>
          <a:effectLst>
            <a:outerShdw blurRad="200025" dist="19050" dir="2640000" algn="bl" rotWithShape="0">
              <a:schemeClr val="accent1">
                <a:alpha val="68000"/>
              </a:schemeClr>
            </a:outerShdw>
          </a:effectLst>
        </p:spPr>
      </p:cxnSp>
      <p:grpSp>
        <p:nvGrpSpPr>
          <p:cNvPr id="260" name="Google Shape;260;p32"/>
          <p:cNvGrpSpPr/>
          <p:nvPr/>
        </p:nvGrpSpPr>
        <p:grpSpPr>
          <a:xfrm rot="-5400000" flipH="1">
            <a:off x="45184" y="-603610"/>
            <a:ext cx="1182802" cy="2546215"/>
            <a:chOff x="7350442" y="2608992"/>
            <a:chExt cx="777239" cy="1673160"/>
          </a:xfrm>
        </p:grpSpPr>
        <p:sp>
          <p:nvSpPr>
            <p:cNvPr id="261" name="Google Shape;261;p32"/>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2" name="Google Shape;262;p32"/>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3" name="Google Shape;263;p32"/>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4" name="Google Shape;264;p32"/>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5" name="Google Shape;265;p32"/>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6" name="Google Shape;266;p32"/>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7" name="Google Shape;267;p32"/>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8" name="Google Shape;268;p32"/>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solidFill>
                <a:schemeClr val="accent5">
                  <a:lumMod val="25000"/>
                  <a:lumOff val="75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69" name="Google Shape;269;p32"/>
          <p:cNvGrpSpPr/>
          <p:nvPr/>
        </p:nvGrpSpPr>
        <p:grpSpPr>
          <a:xfrm rot="5400000">
            <a:off x="7856837" y="-587624"/>
            <a:ext cx="1182802" cy="2555083"/>
            <a:chOff x="7350442" y="2608992"/>
            <a:chExt cx="777239" cy="1673160"/>
          </a:xfrm>
        </p:grpSpPr>
        <p:sp>
          <p:nvSpPr>
            <p:cNvPr id="270" name="Google Shape;270;p32"/>
            <p:cNvSpPr/>
            <p:nvPr/>
          </p:nvSpPr>
          <p:spPr>
            <a:xfrm>
              <a:off x="7486745" y="2608992"/>
              <a:ext cx="300894" cy="898874"/>
            </a:xfrm>
            <a:custGeom>
              <a:avLst/>
              <a:gdLst/>
              <a:ahLst/>
              <a:cxnLst/>
              <a:rect l="l" t="t" r="r" b="b"/>
              <a:pathLst>
                <a:path w="300894" h="898874" extrusionOk="0">
                  <a:moveTo>
                    <a:pt x="16764" y="858488"/>
                  </a:moveTo>
                  <a:cubicBezTo>
                    <a:pt x="7334" y="860203"/>
                    <a:pt x="0" y="868585"/>
                    <a:pt x="0" y="878491"/>
                  </a:cubicBezTo>
                  <a:cubicBezTo>
                    <a:pt x="0" y="889730"/>
                    <a:pt x="9144" y="898874"/>
                    <a:pt x="20288" y="898874"/>
                  </a:cubicBezTo>
                  <a:cubicBezTo>
                    <a:pt x="31528" y="898874"/>
                    <a:pt x="40672" y="889730"/>
                    <a:pt x="40672" y="878491"/>
                  </a:cubicBezTo>
                  <a:cubicBezTo>
                    <a:pt x="40672" y="868585"/>
                    <a:pt x="33433" y="860203"/>
                    <a:pt x="23908" y="858488"/>
                  </a:cubicBezTo>
                  <a:lnTo>
                    <a:pt x="23908" y="733997"/>
                  </a:lnTo>
                  <a:lnTo>
                    <a:pt x="300895" y="457009"/>
                  </a:lnTo>
                  <a:lnTo>
                    <a:pt x="300895" y="0"/>
                  </a:lnTo>
                  <a:lnTo>
                    <a:pt x="293751" y="0"/>
                  </a:lnTo>
                  <a:lnTo>
                    <a:pt x="293751" y="454057"/>
                  </a:lnTo>
                  <a:lnTo>
                    <a:pt x="16764" y="731044"/>
                  </a:lnTo>
                  <a:lnTo>
                    <a:pt x="16764" y="858488"/>
                  </a:lnTo>
                  <a:close/>
                  <a:moveTo>
                    <a:pt x="33528" y="878491"/>
                  </a:moveTo>
                  <a:cubicBezTo>
                    <a:pt x="33528" y="885825"/>
                    <a:pt x="27622" y="891730"/>
                    <a:pt x="20288" y="891730"/>
                  </a:cubicBezTo>
                  <a:cubicBezTo>
                    <a:pt x="13049" y="891730"/>
                    <a:pt x="7144" y="885825"/>
                    <a:pt x="7144" y="878491"/>
                  </a:cubicBezTo>
                  <a:cubicBezTo>
                    <a:pt x="7144" y="872490"/>
                    <a:pt x="11239" y="867347"/>
                    <a:pt x="16764" y="865918"/>
                  </a:cubicBezTo>
                  <a:cubicBezTo>
                    <a:pt x="17907" y="865537"/>
                    <a:pt x="19050" y="865346"/>
                    <a:pt x="20288" y="865346"/>
                  </a:cubicBezTo>
                  <a:cubicBezTo>
                    <a:pt x="21526" y="865346"/>
                    <a:pt x="22765" y="865537"/>
                    <a:pt x="23908" y="865918"/>
                  </a:cubicBezTo>
                  <a:cubicBezTo>
                    <a:pt x="29527" y="867442"/>
                    <a:pt x="33528" y="872490"/>
                    <a:pt x="33528" y="878491"/>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1" name="Google Shape;271;p32"/>
            <p:cNvSpPr/>
            <p:nvPr/>
          </p:nvSpPr>
          <p:spPr>
            <a:xfrm>
              <a:off x="7430357" y="3185731"/>
              <a:ext cx="149161" cy="440054"/>
            </a:xfrm>
            <a:custGeom>
              <a:avLst/>
              <a:gdLst/>
              <a:ahLst/>
              <a:cxnLst/>
              <a:rect l="l" t="t" r="r" b="b"/>
              <a:pathLst>
                <a:path w="149161" h="440054" extrusionOk="0">
                  <a:moveTo>
                    <a:pt x="123349" y="30861"/>
                  </a:moveTo>
                  <a:cubicBezTo>
                    <a:pt x="125921" y="32575"/>
                    <a:pt x="129064" y="33528"/>
                    <a:pt x="132397" y="33528"/>
                  </a:cubicBezTo>
                  <a:cubicBezTo>
                    <a:pt x="141637" y="33528"/>
                    <a:pt x="149162" y="26003"/>
                    <a:pt x="149162" y="16764"/>
                  </a:cubicBezTo>
                  <a:cubicBezTo>
                    <a:pt x="149162" y="7525"/>
                    <a:pt x="141637" y="0"/>
                    <a:pt x="132397" y="0"/>
                  </a:cubicBezTo>
                  <a:cubicBezTo>
                    <a:pt x="123158" y="0"/>
                    <a:pt x="115634" y="7525"/>
                    <a:pt x="115634" y="16764"/>
                  </a:cubicBezTo>
                  <a:cubicBezTo>
                    <a:pt x="115634" y="20098"/>
                    <a:pt x="116586" y="23146"/>
                    <a:pt x="118301" y="25813"/>
                  </a:cubicBezTo>
                  <a:lnTo>
                    <a:pt x="16764" y="127349"/>
                  </a:lnTo>
                  <a:lnTo>
                    <a:pt x="16764" y="399669"/>
                  </a:lnTo>
                  <a:cubicBezTo>
                    <a:pt x="7334" y="401384"/>
                    <a:pt x="0" y="409765"/>
                    <a:pt x="0" y="419671"/>
                  </a:cubicBezTo>
                  <a:cubicBezTo>
                    <a:pt x="0" y="430911"/>
                    <a:pt x="9144" y="440055"/>
                    <a:pt x="20288" y="440055"/>
                  </a:cubicBezTo>
                  <a:cubicBezTo>
                    <a:pt x="31528" y="440055"/>
                    <a:pt x="40672" y="430911"/>
                    <a:pt x="40672" y="419671"/>
                  </a:cubicBezTo>
                  <a:cubicBezTo>
                    <a:pt x="40672" y="409765"/>
                    <a:pt x="33433" y="401384"/>
                    <a:pt x="23908" y="399669"/>
                  </a:cubicBezTo>
                  <a:lnTo>
                    <a:pt x="23908" y="130302"/>
                  </a:lnTo>
                  <a:lnTo>
                    <a:pt x="123349" y="30861"/>
                  </a:lnTo>
                  <a:close/>
                  <a:moveTo>
                    <a:pt x="33623" y="419671"/>
                  </a:moveTo>
                  <a:cubicBezTo>
                    <a:pt x="33623" y="427006"/>
                    <a:pt x="27718" y="432911"/>
                    <a:pt x="20384" y="432911"/>
                  </a:cubicBezTo>
                  <a:cubicBezTo>
                    <a:pt x="13145" y="432911"/>
                    <a:pt x="7239" y="427006"/>
                    <a:pt x="7239" y="419671"/>
                  </a:cubicBezTo>
                  <a:cubicBezTo>
                    <a:pt x="7239" y="413671"/>
                    <a:pt x="11335" y="408527"/>
                    <a:pt x="16859" y="407098"/>
                  </a:cubicBezTo>
                  <a:cubicBezTo>
                    <a:pt x="18002" y="406717"/>
                    <a:pt x="19145" y="406527"/>
                    <a:pt x="20384" y="406527"/>
                  </a:cubicBezTo>
                  <a:cubicBezTo>
                    <a:pt x="21622" y="406527"/>
                    <a:pt x="22860" y="406717"/>
                    <a:pt x="24003" y="407098"/>
                  </a:cubicBezTo>
                  <a:cubicBezTo>
                    <a:pt x="29623" y="408622"/>
                    <a:pt x="33623" y="413671"/>
                    <a:pt x="33623" y="419671"/>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2" name="Google Shape;272;p32"/>
            <p:cNvSpPr/>
            <p:nvPr/>
          </p:nvSpPr>
          <p:spPr>
            <a:xfrm>
              <a:off x="7350442" y="2713767"/>
              <a:ext cx="389000" cy="777335"/>
            </a:xfrm>
            <a:custGeom>
              <a:avLst/>
              <a:gdLst/>
              <a:ahLst/>
              <a:cxnLst/>
              <a:rect l="l" t="t" r="r" b="b"/>
              <a:pathLst>
                <a:path w="389000" h="777335" extrusionOk="0">
                  <a:moveTo>
                    <a:pt x="297466" y="400812"/>
                  </a:moveTo>
                  <a:lnTo>
                    <a:pt x="188976" y="400812"/>
                  </a:lnTo>
                  <a:lnTo>
                    <a:pt x="16669" y="573024"/>
                  </a:lnTo>
                  <a:lnTo>
                    <a:pt x="16669" y="736949"/>
                  </a:lnTo>
                  <a:cubicBezTo>
                    <a:pt x="7144" y="738664"/>
                    <a:pt x="0" y="747046"/>
                    <a:pt x="0" y="757047"/>
                  </a:cubicBezTo>
                  <a:cubicBezTo>
                    <a:pt x="0" y="768191"/>
                    <a:pt x="9049" y="777335"/>
                    <a:pt x="20288" y="777335"/>
                  </a:cubicBezTo>
                  <a:cubicBezTo>
                    <a:pt x="31432" y="777335"/>
                    <a:pt x="40576" y="768191"/>
                    <a:pt x="40576" y="757047"/>
                  </a:cubicBezTo>
                  <a:cubicBezTo>
                    <a:pt x="40576" y="747046"/>
                    <a:pt x="33242" y="738664"/>
                    <a:pt x="23813" y="736949"/>
                  </a:cubicBezTo>
                  <a:lnTo>
                    <a:pt x="23813" y="575977"/>
                  </a:lnTo>
                  <a:lnTo>
                    <a:pt x="191929" y="407956"/>
                  </a:lnTo>
                  <a:lnTo>
                    <a:pt x="300418" y="407956"/>
                  </a:lnTo>
                  <a:lnTo>
                    <a:pt x="372237" y="336042"/>
                  </a:lnTo>
                  <a:lnTo>
                    <a:pt x="372237" y="40291"/>
                  </a:lnTo>
                  <a:cubicBezTo>
                    <a:pt x="381667" y="38576"/>
                    <a:pt x="389001" y="30289"/>
                    <a:pt x="389001" y="20288"/>
                  </a:cubicBezTo>
                  <a:cubicBezTo>
                    <a:pt x="389001" y="9049"/>
                    <a:pt x="379857" y="0"/>
                    <a:pt x="368713" y="0"/>
                  </a:cubicBezTo>
                  <a:cubicBezTo>
                    <a:pt x="357473" y="0"/>
                    <a:pt x="348329" y="9049"/>
                    <a:pt x="348329" y="20288"/>
                  </a:cubicBezTo>
                  <a:cubicBezTo>
                    <a:pt x="348329" y="30289"/>
                    <a:pt x="355568" y="38576"/>
                    <a:pt x="365093" y="40291"/>
                  </a:cubicBezTo>
                  <a:lnTo>
                    <a:pt x="365093" y="333089"/>
                  </a:lnTo>
                  <a:lnTo>
                    <a:pt x="297466" y="400812"/>
                  </a:lnTo>
                  <a:close/>
                  <a:moveTo>
                    <a:pt x="33433" y="757047"/>
                  </a:moveTo>
                  <a:cubicBezTo>
                    <a:pt x="33433" y="764286"/>
                    <a:pt x="27527" y="770192"/>
                    <a:pt x="20288" y="770192"/>
                  </a:cubicBezTo>
                  <a:cubicBezTo>
                    <a:pt x="13049" y="770192"/>
                    <a:pt x="7144" y="764286"/>
                    <a:pt x="7144" y="757047"/>
                  </a:cubicBezTo>
                  <a:cubicBezTo>
                    <a:pt x="7144" y="750951"/>
                    <a:pt x="11144" y="745903"/>
                    <a:pt x="16669" y="744379"/>
                  </a:cubicBezTo>
                  <a:cubicBezTo>
                    <a:pt x="17812" y="743998"/>
                    <a:pt x="19050" y="743807"/>
                    <a:pt x="20288" y="743807"/>
                  </a:cubicBezTo>
                  <a:cubicBezTo>
                    <a:pt x="21526" y="743807"/>
                    <a:pt x="22669" y="743998"/>
                    <a:pt x="23813" y="744379"/>
                  </a:cubicBezTo>
                  <a:cubicBezTo>
                    <a:pt x="29337" y="745808"/>
                    <a:pt x="33433" y="750951"/>
                    <a:pt x="33433" y="757047"/>
                  </a:cubicBezTo>
                  <a:close/>
                  <a:moveTo>
                    <a:pt x="355473" y="20288"/>
                  </a:moveTo>
                  <a:cubicBezTo>
                    <a:pt x="355473" y="13049"/>
                    <a:pt x="361379" y="7144"/>
                    <a:pt x="368713" y="7144"/>
                  </a:cubicBezTo>
                  <a:cubicBezTo>
                    <a:pt x="375952" y="7144"/>
                    <a:pt x="381857" y="13049"/>
                    <a:pt x="381857" y="20288"/>
                  </a:cubicBezTo>
                  <a:cubicBezTo>
                    <a:pt x="381857" y="26289"/>
                    <a:pt x="377761" y="31432"/>
                    <a:pt x="372237" y="32861"/>
                  </a:cubicBezTo>
                  <a:cubicBezTo>
                    <a:pt x="371094" y="33242"/>
                    <a:pt x="369951" y="33433"/>
                    <a:pt x="368713" y="33433"/>
                  </a:cubicBezTo>
                  <a:cubicBezTo>
                    <a:pt x="367474" y="33433"/>
                    <a:pt x="366236" y="33242"/>
                    <a:pt x="365093" y="32861"/>
                  </a:cubicBezTo>
                  <a:cubicBezTo>
                    <a:pt x="359473" y="31337"/>
                    <a:pt x="355473" y="26289"/>
                    <a:pt x="355473" y="20288"/>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3" name="Google Shape;273;p32"/>
            <p:cNvSpPr/>
            <p:nvPr/>
          </p:nvSpPr>
          <p:spPr>
            <a:xfrm>
              <a:off x="7860696" y="2608992"/>
              <a:ext cx="266985" cy="1341405"/>
            </a:xfrm>
            <a:custGeom>
              <a:avLst/>
              <a:gdLst/>
              <a:ahLst/>
              <a:cxnLst/>
              <a:rect l="l" t="t" r="r" b="b"/>
              <a:pathLst>
                <a:path w="266985" h="1341405" extrusionOk="0">
                  <a:moveTo>
                    <a:pt x="266986" y="744569"/>
                  </a:moveTo>
                  <a:lnTo>
                    <a:pt x="266986" y="0"/>
                  </a:lnTo>
                  <a:lnTo>
                    <a:pt x="259842" y="0"/>
                  </a:lnTo>
                  <a:lnTo>
                    <a:pt x="259842" y="741617"/>
                  </a:lnTo>
                  <a:lnTo>
                    <a:pt x="13145" y="988314"/>
                  </a:lnTo>
                  <a:lnTo>
                    <a:pt x="13145" y="1308259"/>
                  </a:lnTo>
                  <a:cubicBezTo>
                    <a:pt x="5620" y="1309878"/>
                    <a:pt x="0" y="1316546"/>
                    <a:pt x="0" y="1324642"/>
                  </a:cubicBezTo>
                  <a:cubicBezTo>
                    <a:pt x="0" y="1333881"/>
                    <a:pt x="7525" y="1341406"/>
                    <a:pt x="16764" y="1341406"/>
                  </a:cubicBezTo>
                  <a:cubicBezTo>
                    <a:pt x="26003" y="1341406"/>
                    <a:pt x="33528" y="1333881"/>
                    <a:pt x="33528" y="1324642"/>
                  </a:cubicBezTo>
                  <a:cubicBezTo>
                    <a:pt x="33528" y="1316641"/>
                    <a:pt x="27908" y="1309973"/>
                    <a:pt x="20384" y="1308259"/>
                  </a:cubicBezTo>
                  <a:lnTo>
                    <a:pt x="20384" y="991267"/>
                  </a:lnTo>
                  <a:lnTo>
                    <a:pt x="266986" y="744569"/>
                  </a:ln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4" name="Google Shape;274;p32"/>
            <p:cNvSpPr/>
            <p:nvPr/>
          </p:nvSpPr>
          <p:spPr>
            <a:xfrm>
              <a:off x="7616094" y="2608992"/>
              <a:ext cx="370998" cy="1562195"/>
            </a:xfrm>
            <a:custGeom>
              <a:avLst/>
              <a:gdLst/>
              <a:ahLst/>
              <a:cxnLst/>
              <a:rect l="l" t="t" r="r" b="b"/>
              <a:pathLst>
                <a:path w="370998" h="1562195" extrusionOk="0">
                  <a:moveTo>
                    <a:pt x="158496" y="1521905"/>
                  </a:moveTo>
                  <a:lnTo>
                    <a:pt x="158496" y="1225868"/>
                  </a:lnTo>
                  <a:lnTo>
                    <a:pt x="95155" y="1162431"/>
                  </a:lnTo>
                  <a:lnTo>
                    <a:pt x="95155" y="939070"/>
                  </a:lnTo>
                  <a:lnTo>
                    <a:pt x="156210" y="878014"/>
                  </a:lnTo>
                  <a:lnTo>
                    <a:pt x="156210" y="839534"/>
                  </a:lnTo>
                  <a:lnTo>
                    <a:pt x="317659" y="678085"/>
                  </a:lnTo>
                  <a:cubicBezTo>
                    <a:pt x="320897" y="680466"/>
                    <a:pt x="324898" y="681800"/>
                    <a:pt x="329184" y="681800"/>
                  </a:cubicBezTo>
                  <a:cubicBezTo>
                    <a:pt x="340423" y="681800"/>
                    <a:pt x="349568" y="672655"/>
                    <a:pt x="349568" y="661511"/>
                  </a:cubicBezTo>
                  <a:cubicBezTo>
                    <a:pt x="349568" y="650272"/>
                    <a:pt x="340423" y="641128"/>
                    <a:pt x="329184" y="641128"/>
                  </a:cubicBezTo>
                  <a:cubicBezTo>
                    <a:pt x="318040" y="641128"/>
                    <a:pt x="308896" y="650272"/>
                    <a:pt x="308896" y="661511"/>
                  </a:cubicBezTo>
                  <a:cubicBezTo>
                    <a:pt x="308896" y="665797"/>
                    <a:pt x="310229" y="669798"/>
                    <a:pt x="312611" y="673037"/>
                  </a:cubicBezTo>
                  <a:lnTo>
                    <a:pt x="267843" y="717804"/>
                  </a:lnTo>
                  <a:lnTo>
                    <a:pt x="267843" y="635413"/>
                  </a:lnTo>
                  <a:lnTo>
                    <a:pt x="370999" y="532257"/>
                  </a:lnTo>
                  <a:lnTo>
                    <a:pt x="370999" y="273844"/>
                  </a:lnTo>
                  <a:lnTo>
                    <a:pt x="319183" y="222028"/>
                  </a:lnTo>
                  <a:lnTo>
                    <a:pt x="319183" y="0"/>
                  </a:lnTo>
                  <a:lnTo>
                    <a:pt x="312039" y="0"/>
                  </a:lnTo>
                  <a:lnTo>
                    <a:pt x="312039" y="503777"/>
                  </a:lnTo>
                  <a:lnTo>
                    <a:pt x="16669" y="799147"/>
                  </a:lnTo>
                  <a:lnTo>
                    <a:pt x="16669" y="1479995"/>
                  </a:lnTo>
                  <a:cubicBezTo>
                    <a:pt x="7144" y="1481709"/>
                    <a:pt x="0" y="1490091"/>
                    <a:pt x="0" y="1500092"/>
                  </a:cubicBezTo>
                  <a:cubicBezTo>
                    <a:pt x="0" y="1511237"/>
                    <a:pt x="9049" y="1520381"/>
                    <a:pt x="20288" y="1520381"/>
                  </a:cubicBezTo>
                  <a:cubicBezTo>
                    <a:pt x="31528" y="1520381"/>
                    <a:pt x="40577" y="1511237"/>
                    <a:pt x="40577" y="1500092"/>
                  </a:cubicBezTo>
                  <a:cubicBezTo>
                    <a:pt x="40577" y="1490091"/>
                    <a:pt x="33338" y="1481709"/>
                    <a:pt x="23813" y="1479995"/>
                  </a:cubicBezTo>
                  <a:lnTo>
                    <a:pt x="23813" y="802100"/>
                  </a:lnTo>
                  <a:lnTo>
                    <a:pt x="319183" y="506730"/>
                  </a:lnTo>
                  <a:lnTo>
                    <a:pt x="319183" y="232124"/>
                  </a:lnTo>
                  <a:lnTo>
                    <a:pt x="363855" y="276796"/>
                  </a:lnTo>
                  <a:lnTo>
                    <a:pt x="363855" y="529304"/>
                  </a:lnTo>
                  <a:lnTo>
                    <a:pt x="260699" y="632460"/>
                  </a:lnTo>
                  <a:lnTo>
                    <a:pt x="260699" y="724948"/>
                  </a:lnTo>
                  <a:lnTo>
                    <a:pt x="260699" y="724948"/>
                  </a:lnTo>
                  <a:lnTo>
                    <a:pt x="149066" y="836485"/>
                  </a:lnTo>
                  <a:lnTo>
                    <a:pt x="149066" y="874967"/>
                  </a:lnTo>
                  <a:lnTo>
                    <a:pt x="95155" y="928973"/>
                  </a:lnTo>
                  <a:lnTo>
                    <a:pt x="95155" y="821341"/>
                  </a:lnTo>
                  <a:lnTo>
                    <a:pt x="178498" y="738092"/>
                  </a:lnTo>
                  <a:cubicBezTo>
                    <a:pt x="181737" y="740473"/>
                    <a:pt x="185738" y="741807"/>
                    <a:pt x="190024" y="741807"/>
                  </a:cubicBezTo>
                  <a:cubicBezTo>
                    <a:pt x="201263" y="741807"/>
                    <a:pt x="210312" y="732663"/>
                    <a:pt x="210312" y="721423"/>
                  </a:cubicBezTo>
                  <a:cubicBezTo>
                    <a:pt x="210312" y="710279"/>
                    <a:pt x="201263" y="701135"/>
                    <a:pt x="190024" y="701135"/>
                  </a:cubicBezTo>
                  <a:cubicBezTo>
                    <a:pt x="178784" y="701135"/>
                    <a:pt x="169736" y="710279"/>
                    <a:pt x="169736" y="721423"/>
                  </a:cubicBezTo>
                  <a:cubicBezTo>
                    <a:pt x="169736" y="725805"/>
                    <a:pt x="171069" y="729805"/>
                    <a:pt x="173355" y="733044"/>
                  </a:cubicBezTo>
                  <a:lnTo>
                    <a:pt x="88011" y="818388"/>
                  </a:lnTo>
                  <a:lnTo>
                    <a:pt x="88011" y="1165384"/>
                  </a:lnTo>
                  <a:lnTo>
                    <a:pt x="151352" y="1228820"/>
                  </a:lnTo>
                  <a:lnTo>
                    <a:pt x="151352" y="1521905"/>
                  </a:lnTo>
                  <a:cubicBezTo>
                    <a:pt x="141732" y="1523524"/>
                    <a:pt x="134493" y="1531906"/>
                    <a:pt x="134493" y="1541907"/>
                  </a:cubicBezTo>
                  <a:cubicBezTo>
                    <a:pt x="134493" y="1553147"/>
                    <a:pt x="143542" y="1562195"/>
                    <a:pt x="154781" y="1562195"/>
                  </a:cubicBezTo>
                  <a:cubicBezTo>
                    <a:pt x="166021" y="1562195"/>
                    <a:pt x="175070" y="1553147"/>
                    <a:pt x="175070" y="1541907"/>
                  </a:cubicBezTo>
                  <a:cubicBezTo>
                    <a:pt x="175070" y="1532001"/>
                    <a:pt x="167926" y="1523714"/>
                    <a:pt x="158496" y="1521905"/>
                  </a:cubicBezTo>
                  <a:close/>
                  <a:moveTo>
                    <a:pt x="316039" y="661511"/>
                  </a:moveTo>
                  <a:cubicBezTo>
                    <a:pt x="316039" y="654177"/>
                    <a:pt x="321945" y="648272"/>
                    <a:pt x="329184" y="648272"/>
                  </a:cubicBezTo>
                  <a:cubicBezTo>
                    <a:pt x="336518" y="648272"/>
                    <a:pt x="342424" y="654177"/>
                    <a:pt x="342424" y="661511"/>
                  </a:cubicBezTo>
                  <a:cubicBezTo>
                    <a:pt x="342424" y="668750"/>
                    <a:pt x="336518" y="674656"/>
                    <a:pt x="329184" y="674656"/>
                  </a:cubicBezTo>
                  <a:cubicBezTo>
                    <a:pt x="326898" y="674656"/>
                    <a:pt x="324707" y="674084"/>
                    <a:pt x="322802" y="672941"/>
                  </a:cubicBezTo>
                  <a:cubicBezTo>
                    <a:pt x="320707" y="671798"/>
                    <a:pt x="318897" y="669988"/>
                    <a:pt x="317754" y="667893"/>
                  </a:cubicBezTo>
                  <a:cubicBezTo>
                    <a:pt x="316611" y="665988"/>
                    <a:pt x="316039" y="663797"/>
                    <a:pt x="316039" y="661511"/>
                  </a:cubicBezTo>
                  <a:close/>
                  <a:moveTo>
                    <a:pt x="33433" y="1500092"/>
                  </a:moveTo>
                  <a:cubicBezTo>
                    <a:pt x="33433" y="1507331"/>
                    <a:pt x="27527" y="1513237"/>
                    <a:pt x="20288" y="1513237"/>
                  </a:cubicBezTo>
                  <a:cubicBezTo>
                    <a:pt x="13049" y="1513237"/>
                    <a:pt x="7144" y="1507331"/>
                    <a:pt x="7144" y="1500092"/>
                  </a:cubicBezTo>
                  <a:cubicBezTo>
                    <a:pt x="7144" y="1493996"/>
                    <a:pt x="11144" y="1488948"/>
                    <a:pt x="16669" y="1487424"/>
                  </a:cubicBezTo>
                  <a:cubicBezTo>
                    <a:pt x="17812" y="1487043"/>
                    <a:pt x="19050" y="1486853"/>
                    <a:pt x="20288" y="1486853"/>
                  </a:cubicBezTo>
                  <a:cubicBezTo>
                    <a:pt x="21527" y="1486853"/>
                    <a:pt x="22670" y="1487043"/>
                    <a:pt x="23813" y="1487424"/>
                  </a:cubicBezTo>
                  <a:cubicBezTo>
                    <a:pt x="29337" y="1488853"/>
                    <a:pt x="33433" y="1493996"/>
                    <a:pt x="33433" y="1500092"/>
                  </a:cubicBezTo>
                  <a:close/>
                  <a:moveTo>
                    <a:pt x="176879" y="721423"/>
                  </a:moveTo>
                  <a:cubicBezTo>
                    <a:pt x="176879" y="714184"/>
                    <a:pt x="182785" y="708279"/>
                    <a:pt x="190024" y="708279"/>
                  </a:cubicBezTo>
                  <a:cubicBezTo>
                    <a:pt x="197263" y="708279"/>
                    <a:pt x="203168" y="714184"/>
                    <a:pt x="203168" y="721423"/>
                  </a:cubicBezTo>
                  <a:cubicBezTo>
                    <a:pt x="203168" y="728758"/>
                    <a:pt x="197263" y="734663"/>
                    <a:pt x="190024" y="734663"/>
                  </a:cubicBezTo>
                  <a:cubicBezTo>
                    <a:pt x="187738" y="734663"/>
                    <a:pt x="185547" y="734092"/>
                    <a:pt x="183642" y="732949"/>
                  </a:cubicBezTo>
                  <a:cubicBezTo>
                    <a:pt x="181546" y="731806"/>
                    <a:pt x="179737" y="730091"/>
                    <a:pt x="178594" y="727901"/>
                  </a:cubicBezTo>
                  <a:cubicBezTo>
                    <a:pt x="177451" y="725996"/>
                    <a:pt x="176879" y="723805"/>
                    <a:pt x="176879" y="721423"/>
                  </a:cubicBezTo>
                  <a:close/>
                  <a:moveTo>
                    <a:pt x="154781" y="1555052"/>
                  </a:moveTo>
                  <a:cubicBezTo>
                    <a:pt x="147542" y="1555052"/>
                    <a:pt x="141637" y="1549146"/>
                    <a:pt x="141637" y="1541907"/>
                  </a:cubicBezTo>
                  <a:cubicBezTo>
                    <a:pt x="141637" y="1535811"/>
                    <a:pt x="145733" y="1530763"/>
                    <a:pt x="151352" y="1529239"/>
                  </a:cubicBezTo>
                  <a:cubicBezTo>
                    <a:pt x="152495" y="1528953"/>
                    <a:pt x="153638" y="1528763"/>
                    <a:pt x="154781" y="1528763"/>
                  </a:cubicBezTo>
                  <a:cubicBezTo>
                    <a:pt x="156115" y="1528763"/>
                    <a:pt x="157353" y="1528953"/>
                    <a:pt x="158496" y="1529334"/>
                  </a:cubicBezTo>
                  <a:cubicBezTo>
                    <a:pt x="163925" y="1530953"/>
                    <a:pt x="167926" y="1536002"/>
                    <a:pt x="167926" y="1541907"/>
                  </a:cubicBezTo>
                  <a:cubicBezTo>
                    <a:pt x="167926" y="1549146"/>
                    <a:pt x="162020" y="1555052"/>
                    <a:pt x="154781" y="1555052"/>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5" name="Google Shape;275;p32"/>
            <p:cNvSpPr/>
            <p:nvPr/>
          </p:nvSpPr>
          <p:spPr>
            <a:xfrm>
              <a:off x="7666005" y="3837621"/>
              <a:ext cx="75628" cy="444531"/>
            </a:xfrm>
            <a:custGeom>
              <a:avLst/>
              <a:gdLst/>
              <a:ahLst/>
              <a:cxnLst/>
              <a:rect l="l" t="t" r="r" b="b"/>
              <a:pathLst>
                <a:path w="75628" h="444531" extrusionOk="0">
                  <a:moveTo>
                    <a:pt x="58865" y="404146"/>
                  </a:moveTo>
                  <a:lnTo>
                    <a:pt x="58865" y="53816"/>
                  </a:lnTo>
                  <a:lnTo>
                    <a:pt x="30861" y="25813"/>
                  </a:lnTo>
                  <a:cubicBezTo>
                    <a:pt x="32576" y="23241"/>
                    <a:pt x="33528" y="20098"/>
                    <a:pt x="33528" y="16764"/>
                  </a:cubicBezTo>
                  <a:cubicBezTo>
                    <a:pt x="33528" y="7525"/>
                    <a:pt x="26003" y="0"/>
                    <a:pt x="16764" y="0"/>
                  </a:cubicBezTo>
                  <a:cubicBezTo>
                    <a:pt x="7525" y="0"/>
                    <a:pt x="0" y="7525"/>
                    <a:pt x="0" y="16764"/>
                  </a:cubicBezTo>
                  <a:cubicBezTo>
                    <a:pt x="0" y="26003"/>
                    <a:pt x="7525" y="33528"/>
                    <a:pt x="16764" y="33528"/>
                  </a:cubicBezTo>
                  <a:cubicBezTo>
                    <a:pt x="20098" y="33528"/>
                    <a:pt x="23146" y="32480"/>
                    <a:pt x="25813" y="30861"/>
                  </a:cubicBezTo>
                  <a:lnTo>
                    <a:pt x="25813" y="30861"/>
                  </a:lnTo>
                  <a:lnTo>
                    <a:pt x="51721" y="56769"/>
                  </a:lnTo>
                  <a:lnTo>
                    <a:pt x="51721" y="404146"/>
                  </a:lnTo>
                  <a:cubicBezTo>
                    <a:pt x="42196" y="405860"/>
                    <a:pt x="34957" y="414242"/>
                    <a:pt x="34957" y="424148"/>
                  </a:cubicBezTo>
                  <a:cubicBezTo>
                    <a:pt x="34957" y="435388"/>
                    <a:pt x="44101" y="444532"/>
                    <a:pt x="55341" y="444532"/>
                  </a:cubicBezTo>
                  <a:cubicBezTo>
                    <a:pt x="66485" y="444532"/>
                    <a:pt x="75629" y="435388"/>
                    <a:pt x="75629" y="424148"/>
                  </a:cubicBezTo>
                  <a:cubicBezTo>
                    <a:pt x="75629" y="414242"/>
                    <a:pt x="68294" y="405860"/>
                    <a:pt x="58865" y="404146"/>
                  </a:cubicBezTo>
                  <a:close/>
                  <a:moveTo>
                    <a:pt x="55341" y="437388"/>
                  </a:moveTo>
                  <a:cubicBezTo>
                    <a:pt x="48006" y="437388"/>
                    <a:pt x="42101" y="431483"/>
                    <a:pt x="42101" y="424148"/>
                  </a:cubicBezTo>
                  <a:cubicBezTo>
                    <a:pt x="42101" y="418147"/>
                    <a:pt x="46101" y="413099"/>
                    <a:pt x="51721" y="411575"/>
                  </a:cubicBezTo>
                  <a:cubicBezTo>
                    <a:pt x="52864" y="411194"/>
                    <a:pt x="54102" y="411004"/>
                    <a:pt x="55341" y="411004"/>
                  </a:cubicBezTo>
                  <a:cubicBezTo>
                    <a:pt x="56579" y="411004"/>
                    <a:pt x="57722" y="411194"/>
                    <a:pt x="58865" y="411575"/>
                  </a:cubicBezTo>
                  <a:cubicBezTo>
                    <a:pt x="64389" y="413004"/>
                    <a:pt x="68485" y="418147"/>
                    <a:pt x="68485" y="424148"/>
                  </a:cubicBezTo>
                  <a:cubicBezTo>
                    <a:pt x="68485" y="431483"/>
                    <a:pt x="62579" y="437388"/>
                    <a:pt x="55341" y="437388"/>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6" name="Google Shape;276;p32"/>
            <p:cNvSpPr/>
            <p:nvPr/>
          </p:nvSpPr>
          <p:spPr>
            <a:xfrm>
              <a:off x="7350442" y="3539870"/>
              <a:ext cx="240982" cy="701039"/>
            </a:xfrm>
            <a:custGeom>
              <a:avLst/>
              <a:gdLst/>
              <a:ahLst/>
              <a:cxnLst/>
              <a:rect l="l" t="t" r="r" b="b"/>
              <a:pathLst>
                <a:path w="240982" h="701039" extrusionOk="0">
                  <a:moveTo>
                    <a:pt x="227838" y="667893"/>
                  </a:moveTo>
                  <a:lnTo>
                    <a:pt x="227838" y="410146"/>
                  </a:lnTo>
                  <a:lnTo>
                    <a:pt x="160210" y="342519"/>
                  </a:lnTo>
                  <a:lnTo>
                    <a:pt x="160210" y="214503"/>
                  </a:lnTo>
                  <a:cubicBezTo>
                    <a:pt x="169545" y="212693"/>
                    <a:pt x="176689" y="204407"/>
                    <a:pt x="176689" y="194596"/>
                  </a:cubicBezTo>
                  <a:cubicBezTo>
                    <a:pt x="176689" y="183356"/>
                    <a:pt x="167545" y="174308"/>
                    <a:pt x="156400" y="174308"/>
                  </a:cubicBezTo>
                  <a:cubicBezTo>
                    <a:pt x="145161" y="174308"/>
                    <a:pt x="136017" y="183356"/>
                    <a:pt x="136017" y="194596"/>
                  </a:cubicBezTo>
                  <a:cubicBezTo>
                    <a:pt x="136017" y="204597"/>
                    <a:pt x="143446" y="212979"/>
                    <a:pt x="153067" y="214598"/>
                  </a:cubicBezTo>
                  <a:lnTo>
                    <a:pt x="153067" y="345472"/>
                  </a:lnTo>
                  <a:lnTo>
                    <a:pt x="220694" y="413099"/>
                  </a:lnTo>
                  <a:lnTo>
                    <a:pt x="220694" y="493681"/>
                  </a:lnTo>
                  <a:lnTo>
                    <a:pt x="103441" y="376428"/>
                  </a:lnTo>
                  <a:lnTo>
                    <a:pt x="103441" y="216122"/>
                  </a:lnTo>
                  <a:lnTo>
                    <a:pt x="23813" y="136493"/>
                  </a:lnTo>
                  <a:lnTo>
                    <a:pt x="23813" y="40291"/>
                  </a:lnTo>
                  <a:cubicBezTo>
                    <a:pt x="33242" y="38576"/>
                    <a:pt x="40576" y="30290"/>
                    <a:pt x="40576" y="20288"/>
                  </a:cubicBezTo>
                  <a:cubicBezTo>
                    <a:pt x="40576" y="9144"/>
                    <a:pt x="31432" y="0"/>
                    <a:pt x="20288" y="0"/>
                  </a:cubicBezTo>
                  <a:cubicBezTo>
                    <a:pt x="9049" y="0"/>
                    <a:pt x="0" y="9144"/>
                    <a:pt x="0" y="20288"/>
                  </a:cubicBezTo>
                  <a:cubicBezTo>
                    <a:pt x="0" y="30290"/>
                    <a:pt x="7144" y="38576"/>
                    <a:pt x="16669" y="40291"/>
                  </a:cubicBezTo>
                  <a:lnTo>
                    <a:pt x="16669" y="139446"/>
                  </a:lnTo>
                  <a:lnTo>
                    <a:pt x="96298" y="219075"/>
                  </a:lnTo>
                  <a:lnTo>
                    <a:pt x="96298" y="379381"/>
                  </a:lnTo>
                  <a:lnTo>
                    <a:pt x="220694" y="503777"/>
                  </a:lnTo>
                  <a:lnTo>
                    <a:pt x="220694" y="667893"/>
                  </a:lnTo>
                  <a:cubicBezTo>
                    <a:pt x="213169" y="669512"/>
                    <a:pt x="207454" y="676180"/>
                    <a:pt x="207454" y="684276"/>
                  </a:cubicBezTo>
                  <a:cubicBezTo>
                    <a:pt x="207454" y="693515"/>
                    <a:pt x="214979" y="701040"/>
                    <a:pt x="224218" y="701040"/>
                  </a:cubicBezTo>
                  <a:cubicBezTo>
                    <a:pt x="233458" y="701040"/>
                    <a:pt x="240982" y="693515"/>
                    <a:pt x="240982" y="684276"/>
                  </a:cubicBezTo>
                  <a:cubicBezTo>
                    <a:pt x="240887" y="676275"/>
                    <a:pt x="235267" y="669608"/>
                    <a:pt x="227838" y="667893"/>
                  </a:cubicBezTo>
                  <a:close/>
                  <a:moveTo>
                    <a:pt x="143161" y="194596"/>
                  </a:moveTo>
                  <a:cubicBezTo>
                    <a:pt x="143161" y="187357"/>
                    <a:pt x="149066" y="181451"/>
                    <a:pt x="156400" y="181451"/>
                  </a:cubicBezTo>
                  <a:cubicBezTo>
                    <a:pt x="163639" y="181451"/>
                    <a:pt x="169545" y="187357"/>
                    <a:pt x="169545" y="194596"/>
                  </a:cubicBezTo>
                  <a:cubicBezTo>
                    <a:pt x="169545" y="200501"/>
                    <a:pt x="165640" y="205550"/>
                    <a:pt x="160210" y="207074"/>
                  </a:cubicBezTo>
                  <a:cubicBezTo>
                    <a:pt x="158972" y="207550"/>
                    <a:pt x="157734" y="207740"/>
                    <a:pt x="156400" y="207740"/>
                  </a:cubicBezTo>
                  <a:cubicBezTo>
                    <a:pt x="155257" y="207740"/>
                    <a:pt x="154114" y="207550"/>
                    <a:pt x="153067" y="207264"/>
                  </a:cubicBezTo>
                  <a:cubicBezTo>
                    <a:pt x="147352" y="205835"/>
                    <a:pt x="143161" y="200692"/>
                    <a:pt x="143161" y="194596"/>
                  </a:cubicBezTo>
                  <a:close/>
                  <a:moveTo>
                    <a:pt x="7144" y="20288"/>
                  </a:moveTo>
                  <a:cubicBezTo>
                    <a:pt x="7144" y="13049"/>
                    <a:pt x="13049" y="7144"/>
                    <a:pt x="20288" y="7144"/>
                  </a:cubicBezTo>
                  <a:cubicBezTo>
                    <a:pt x="27527" y="7144"/>
                    <a:pt x="33433" y="13049"/>
                    <a:pt x="33433" y="20288"/>
                  </a:cubicBezTo>
                  <a:cubicBezTo>
                    <a:pt x="33433" y="26289"/>
                    <a:pt x="29337" y="31433"/>
                    <a:pt x="23813" y="32861"/>
                  </a:cubicBezTo>
                  <a:cubicBezTo>
                    <a:pt x="22669" y="33242"/>
                    <a:pt x="21526" y="33433"/>
                    <a:pt x="20288" y="33433"/>
                  </a:cubicBezTo>
                  <a:cubicBezTo>
                    <a:pt x="19050" y="33433"/>
                    <a:pt x="17812" y="33242"/>
                    <a:pt x="16669" y="32861"/>
                  </a:cubicBezTo>
                  <a:cubicBezTo>
                    <a:pt x="11144" y="31337"/>
                    <a:pt x="7144" y="26289"/>
                    <a:pt x="7144" y="20288"/>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77" name="Google Shape;277;p32"/>
            <p:cNvSpPr/>
            <p:nvPr/>
          </p:nvSpPr>
          <p:spPr>
            <a:xfrm>
              <a:off x="7557897" y="2823590"/>
              <a:ext cx="322706" cy="857440"/>
            </a:xfrm>
            <a:custGeom>
              <a:avLst/>
              <a:gdLst/>
              <a:ahLst/>
              <a:cxnLst/>
              <a:rect l="l" t="t" r="r" b="b"/>
              <a:pathLst>
                <a:path w="322706" h="857440" extrusionOk="0">
                  <a:moveTo>
                    <a:pt x="20098" y="824293"/>
                  </a:moveTo>
                  <a:lnTo>
                    <a:pt x="20098" y="561213"/>
                  </a:lnTo>
                  <a:lnTo>
                    <a:pt x="309563" y="271748"/>
                  </a:lnTo>
                  <a:lnTo>
                    <a:pt x="309563" y="33147"/>
                  </a:lnTo>
                  <a:cubicBezTo>
                    <a:pt x="317087" y="31528"/>
                    <a:pt x="322707" y="24860"/>
                    <a:pt x="322707" y="16764"/>
                  </a:cubicBezTo>
                  <a:cubicBezTo>
                    <a:pt x="322707" y="7525"/>
                    <a:pt x="315182" y="0"/>
                    <a:pt x="305943" y="0"/>
                  </a:cubicBezTo>
                  <a:cubicBezTo>
                    <a:pt x="296704" y="0"/>
                    <a:pt x="289179" y="7525"/>
                    <a:pt x="289179" y="16764"/>
                  </a:cubicBezTo>
                  <a:cubicBezTo>
                    <a:pt x="289179" y="24765"/>
                    <a:pt x="294799" y="31432"/>
                    <a:pt x="302323" y="33147"/>
                  </a:cubicBezTo>
                  <a:lnTo>
                    <a:pt x="302323" y="268796"/>
                  </a:lnTo>
                  <a:lnTo>
                    <a:pt x="12859" y="558260"/>
                  </a:lnTo>
                  <a:lnTo>
                    <a:pt x="12859" y="824389"/>
                  </a:lnTo>
                  <a:cubicBezTo>
                    <a:pt x="5524" y="826103"/>
                    <a:pt x="0" y="832771"/>
                    <a:pt x="0" y="840676"/>
                  </a:cubicBezTo>
                  <a:cubicBezTo>
                    <a:pt x="0" y="849916"/>
                    <a:pt x="7525" y="857441"/>
                    <a:pt x="16764" y="857441"/>
                  </a:cubicBezTo>
                  <a:cubicBezTo>
                    <a:pt x="26003" y="857441"/>
                    <a:pt x="33528" y="849916"/>
                    <a:pt x="33528" y="840676"/>
                  </a:cubicBezTo>
                  <a:cubicBezTo>
                    <a:pt x="33528" y="832580"/>
                    <a:pt x="27718" y="825818"/>
                    <a:pt x="20098" y="824293"/>
                  </a:cubicBezTo>
                  <a:close/>
                </a:path>
              </a:pathLst>
            </a:custGeom>
            <a:solidFill>
              <a:schemeClr val="accent1"/>
            </a:solidFill>
            <a:ln>
              <a:solidFill>
                <a:schemeClr val="accent5">
                  <a:lumMod val="10000"/>
                  <a:lumOff val="90000"/>
                </a:schemeClr>
              </a:solidFill>
            </a:ln>
            <a:effectLst>
              <a:outerShdw blurRad="200025" dist="19050" dir="5400000" algn="bl" rotWithShape="0">
                <a:schemeClr val="accent1">
                  <a:alpha val="67000"/>
                </a:schemeClr>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pic>
        <p:nvPicPr>
          <p:cNvPr id="14" name="Picture 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06867" y="3726503"/>
            <a:ext cx="1865376" cy="1416997"/>
          </a:xfrm>
          <a:prstGeom prst="rect">
            <a:avLst/>
          </a:prstGeom>
          <a:ln>
            <a:noFill/>
          </a:ln>
          <a:effectLst>
            <a:softEdge rad="112500"/>
          </a:effectLst>
        </p:spPr>
      </p:pic>
    </p:spTree>
    <p:extLst>
      <p:ext uri="{BB962C8B-B14F-4D97-AF65-F5344CB8AC3E}">
        <p14:creationId xmlns:p14="http://schemas.microsoft.com/office/powerpoint/2010/main" val="925872896"/>
      </p:ext>
    </p:extLst>
  </p:cSld>
  <p:clrMapOvr>
    <a:masterClrMapping/>
  </p:clrMapOvr>
  <mc:AlternateContent xmlns:mc="http://schemas.openxmlformats.org/markup-compatibility/2006" xmlns:p14="http://schemas.microsoft.com/office/powerpoint/2010/main">
    <mc:Choice Requires="p14">
      <p:transition spd="slow" p14:dur="150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260"/>
                                        </p:tgtEl>
                                        <p:attrNameLst>
                                          <p:attrName>style.visibility</p:attrName>
                                        </p:attrNameLst>
                                      </p:cBhvr>
                                      <p:to>
                                        <p:strVal val="visible"/>
                                      </p:to>
                                    </p:set>
                                    <p:animEffect transition="in" filter="barn(inVertical)">
                                      <p:cBhvr>
                                        <p:cTn id="7" dur="500"/>
                                        <p:tgtEl>
                                          <p:spTgt spid="260"/>
                                        </p:tgtEl>
                                      </p:cBhvr>
                                    </p:animEffect>
                                  </p:childTnLst>
                                </p:cTn>
                              </p:par>
                              <p:par>
                                <p:cTn id="8" presetID="22" presetClass="entr" presetSubtype="4" fill="hold" nodeType="withEffect">
                                  <p:stCondLst>
                                    <p:cond delay="0"/>
                                  </p:stCondLst>
                                  <p:childTnLst>
                                    <p:set>
                                      <p:cBhvr>
                                        <p:cTn id="9" dur="1" fill="hold">
                                          <p:stCondLst>
                                            <p:cond delay="0"/>
                                          </p:stCondLst>
                                        </p:cTn>
                                        <p:tgtEl>
                                          <p:spTgt spid="269"/>
                                        </p:tgtEl>
                                        <p:attrNameLst>
                                          <p:attrName>style.visibility</p:attrName>
                                        </p:attrNameLst>
                                      </p:cBhvr>
                                      <p:to>
                                        <p:strVal val="visible"/>
                                      </p:to>
                                    </p:set>
                                    <p:animEffect transition="in" filter="wipe(down)">
                                      <p:cBhvr>
                                        <p:cTn id="10" dur="500"/>
                                        <p:tgtEl>
                                          <p:spTgt spid="269"/>
                                        </p:tgtEl>
                                      </p:cBhvr>
                                    </p:animEffect>
                                  </p:childTnLst>
                                </p:cTn>
                              </p:par>
                            </p:childTnLst>
                          </p:cTn>
                        </p:par>
                        <p:par>
                          <p:cTn id="11" fill="hold">
                            <p:stCondLst>
                              <p:cond delay="500"/>
                            </p:stCondLst>
                            <p:childTnLst>
                              <p:par>
                                <p:cTn id="12" presetID="22" presetClass="entr" presetSubtype="4" fill="hold" grpId="0" nodeType="afterEffect">
                                  <p:stCondLst>
                                    <p:cond delay="0"/>
                                  </p:stCondLst>
                                  <p:childTnLst>
                                    <p:set>
                                      <p:cBhvr>
                                        <p:cTn id="13" dur="1" fill="hold">
                                          <p:stCondLst>
                                            <p:cond delay="0"/>
                                          </p:stCondLst>
                                        </p:cTn>
                                        <p:tgtEl>
                                          <p:spTgt spid="254"/>
                                        </p:tgtEl>
                                        <p:attrNameLst>
                                          <p:attrName>style.visibility</p:attrName>
                                        </p:attrNameLst>
                                      </p:cBhvr>
                                      <p:to>
                                        <p:strVal val="visible"/>
                                      </p:to>
                                    </p:set>
                                    <p:animEffect transition="in" filter="wipe(down)">
                                      <p:cBhvr>
                                        <p:cTn id="14" dur="500"/>
                                        <p:tgtEl>
                                          <p:spTgt spid="254"/>
                                        </p:tgtEl>
                                      </p:cBhvr>
                                    </p:animEffect>
                                  </p:childTnLst>
                                </p:cTn>
                              </p:par>
                            </p:childTnLst>
                          </p:cTn>
                        </p:par>
                        <p:par>
                          <p:cTn id="15" fill="hold">
                            <p:stCondLst>
                              <p:cond delay="1000"/>
                            </p:stCondLst>
                            <p:childTnLst>
                              <p:par>
                                <p:cTn id="16" presetID="26" presetClass="emph" presetSubtype="0" fill="hold" nodeType="afterEffect">
                                  <p:stCondLst>
                                    <p:cond delay="0"/>
                                  </p:stCondLst>
                                  <p:childTnLst>
                                    <p:animEffect transition="out" filter="fade">
                                      <p:cBhvr>
                                        <p:cTn id="17" dur="5000" tmFilter="0, 0; .2, .5; .8, .5; 1, 0"/>
                                        <p:tgtEl>
                                          <p:spTgt spid="14"/>
                                        </p:tgtEl>
                                      </p:cBhvr>
                                    </p:animEffect>
                                    <p:animScale>
                                      <p:cBhvr>
                                        <p:cTn id="18" dur="2500" autoRev="1" fill="hold"/>
                                        <p:tgtEl>
                                          <p:spTgt spid="14"/>
                                        </p:tgtEl>
                                      </p:cBhvr>
                                      <p:by x="105000" y="105000"/>
                                    </p:animScale>
                                  </p:childTnLst>
                                </p:cTn>
                              </p:par>
                              <p:par>
                                <p:cTn id="19" presetID="22" presetClass="entr" presetSubtype="4" fill="hold" grpId="0" nodeType="withEffect">
                                  <p:stCondLst>
                                    <p:cond delay="0"/>
                                  </p:stCondLst>
                                  <p:childTnLst>
                                    <p:set>
                                      <p:cBhvr>
                                        <p:cTn id="20" dur="1" fill="hold">
                                          <p:stCondLst>
                                            <p:cond delay="0"/>
                                          </p:stCondLst>
                                        </p:cTn>
                                        <p:tgtEl>
                                          <p:spTgt spid="243"/>
                                        </p:tgtEl>
                                        <p:attrNameLst>
                                          <p:attrName>style.visibility</p:attrName>
                                        </p:attrNameLst>
                                      </p:cBhvr>
                                      <p:to>
                                        <p:strVal val="visible"/>
                                      </p:to>
                                    </p:set>
                                    <p:animEffect transition="in" filter="wipe(down)">
                                      <p:cBhvr>
                                        <p:cTn id="21" dur="500"/>
                                        <p:tgtEl>
                                          <p:spTgt spid="243"/>
                                        </p:tgtEl>
                                      </p:cBhvr>
                                    </p:animEffect>
                                  </p:childTnLst>
                                </p:cTn>
                              </p:par>
                              <p:par>
                                <p:cTn id="22" presetID="22" presetClass="entr" presetSubtype="4" fill="hold" nodeType="withEffect">
                                  <p:stCondLst>
                                    <p:cond delay="0"/>
                                  </p:stCondLst>
                                  <p:childTnLst>
                                    <p:set>
                                      <p:cBhvr>
                                        <p:cTn id="23" dur="1" fill="hold">
                                          <p:stCondLst>
                                            <p:cond delay="0"/>
                                          </p:stCondLst>
                                        </p:cTn>
                                        <p:tgtEl>
                                          <p:spTgt spid="258"/>
                                        </p:tgtEl>
                                        <p:attrNameLst>
                                          <p:attrName>style.visibility</p:attrName>
                                        </p:attrNameLst>
                                      </p:cBhvr>
                                      <p:to>
                                        <p:strVal val="visible"/>
                                      </p:to>
                                    </p:set>
                                    <p:animEffect transition="in" filter="wipe(down)">
                                      <p:cBhvr>
                                        <p:cTn id="24" dur="500"/>
                                        <p:tgtEl>
                                          <p:spTgt spid="258"/>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244">
                                            <p:bg/>
                                          </p:spTgt>
                                        </p:tgtEl>
                                        <p:attrNameLst>
                                          <p:attrName>style.visibility</p:attrName>
                                        </p:attrNameLst>
                                      </p:cBhvr>
                                      <p:to>
                                        <p:strVal val="visible"/>
                                      </p:to>
                                    </p:set>
                                    <p:animEffect transition="in" filter="wipe(down)">
                                      <p:cBhvr>
                                        <p:cTn id="27" dur="500"/>
                                        <p:tgtEl>
                                          <p:spTgt spid="244">
                                            <p:bg/>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44">
                                            <p:txEl>
                                              <p:pRg st="0" end="0"/>
                                            </p:txEl>
                                          </p:spTgt>
                                        </p:tgtEl>
                                        <p:attrNameLst>
                                          <p:attrName>style.visibility</p:attrName>
                                        </p:attrNameLst>
                                      </p:cBhvr>
                                      <p:to>
                                        <p:strVal val="visible"/>
                                      </p:to>
                                    </p:set>
                                    <p:animEffect transition="in" filter="wipe(down)">
                                      <p:cBhvr>
                                        <p:cTn id="32" dur="500"/>
                                        <p:tgtEl>
                                          <p:spTgt spid="244">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44">
                                            <p:txEl>
                                              <p:pRg st="1" end="1"/>
                                            </p:txEl>
                                          </p:spTgt>
                                        </p:tgtEl>
                                        <p:attrNameLst>
                                          <p:attrName>style.visibility</p:attrName>
                                        </p:attrNameLst>
                                      </p:cBhvr>
                                      <p:to>
                                        <p:strVal val="visible"/>
                                      </p:to>
                                    </p:set>
                                    <p:animEffect transition="in" filter="wipe(down)">
                                      <p:cBhvr>
                                        <p:cTn id="37" dur="500"/>
                                        <p:tgtEl>
                                          <p:spTgt spid="244">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244">
                                            <p:txEl>
                                              <p:pRg st="2" end="2"/>
                                            </p:txEl>
                                          </p:spTgt>
                                        </p:tgtEl>
                                        <p:attrNameLst>
                                          <p:attrName>style.visibility</p:attrName>
                                        </p:attrNameLst>
                                      </p:cBhvr>
                                      <p:to>
                                        <p:strVal val="visible"/>
                                      </p:to>
                                    </p:set>
                                    <p:animEffect transition="in" filter="wipe(down)">
                                      <p:cBhvr>
                                        <p:cTn id="42" dur="500"/>
                                        <p:tgtEl>
                                          <p:spTgt spid="244">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244">
                                            <p:txEl>
                                              <p:pRg st="3" end="3"/>
                                            </p:txEl>
                                          </p:spTgt>
                                        </p:tgtEl>
                                        <p:attrNameLst>
                                          <p:attrName>style.visibility</p:attrName>
                                        </p:attrNameLst>
                                      </p:cBhvr>
                                      <p:to>
                                        <p:strVal val="visible"/>
                                      </p:to>
                                    </p:set>
                                    <p:animEffect transition="in" filter="wipe(down)">
                                      <p:cBhvr>
                                        <p:cTn id="47" dur="500"/>
                                        <p:tgtEl>
                                          <p:spTgt spid="24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 grpId="0"/>
      <p:bldP spid="244" grpId="0" build="p" animBg="1"/>
      <p:bldP spid="25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81"/>
        <p:cNvGrpSpPr/>
        <p:nvPr/>
      </p:nvGrpSpPr>
      <p:grpSpPr>
        <a:xfrm>
          <a:off x="0" y="0"/>
          <a:ext cx="0" cy="0"/>
          <a:chOff x="0" y="0"/>
          <a:chExt cx="0" cy="0"/>
        </a:xfrm>
      </p:grpSpPr>
      <p:sp>
        <p:nvSpPr>
          <p:cNvPr id="3" name="TextBox 2"/>
          <p:cNvSpPr txBox="1"/>
          <p:nvPr/>
        </p:nvSpPr>
        <p:spPr>
          <a:xfrm>
            <a:off x="771493" y="419305"/>
            <a:ext cx="7541232" cy="461665"/>
          </a:xfrm>
          <a:prstGeom prst="rect">
            <a:avLst/>
          </a:prstGeom>
          <a:noFill/>
        </p:spPr>
        <p:txBody>
          <a:bodyPr wrap="square" rtlCol="0">
            <a:spAutoFit/>
          </a:bodyPr>
          <a:lstStyle/>
          <a:p>
            <a:pPr algn="ctr"/>
            <a:r>
              <a:rPr lang="en-US" sz="2400" dirty="0">
                <a:solidFill>
                  <a:schemeClr val="accent1">
                    <a:lumMod val="75000"/>
                  </a:schemeClr>
                </a:solidFill>
                <a:latin typeface="Oswald" panose="020B0604020202020204" charset="0"/>
              </a:rPr>
              <a:t>Key Concepts in Banker's </a:t>
            </a:r>
            <a:r>
              <a:rPr lang="en-US" sz="2400" dirty="0" smtClean="0">
                <a:solidFill>
                  <a:schemeClr val="accent1">
                    <a:lumMod val="75000"/>
                  </a:schemeClr>
                </a:solidFill>
                <a:latin typeface="Oswald" panose="020B0604020202020204" charset="0"/>
              </a:rPr>
              <a:t>Algorithm</a:t>
            </a:r>
            <a:endParaRPr lang="en-US" dirty="0">
              <a:solidFill>
                <a:schemeClr val="accent1">
                  <a:lumMod val="75000"/>
                </a:schemeClr>
              </a:solidFill>
              <a:latin typeface="Oswald" panose="020B0604020202020204" charset="0"/>
            </a:endParaRPr>
          </a:p>
        </p:txBody>
      </p:sp>
      <p:cxnSp>
        <p:nvCxnSpPr>
          <p:cNvPr id="7" name="Google Shape;321;p33"/>
          <p:cNvCxnSpPr/>
          <p:nvPr/>
        </p:nvCxnSpPr>
        <p:spPr>
          <a:xfrm flipH="1">
            <a:off x="2090651" y="1007639"/>
            <a:ext cx="4962699" cy="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sp>
        <p:nvSpPr>
          <p:cNvPr id="5" name="Google Shape;244;p32"/>
          <p:cNvSpPr txBox="1">
            <a:spLocks noGrp="1"/>
          </p:cNvSpPr>
          <p:nvPr>
            <p:ph type="subTitle" idx="1"/>
          </p:nvPr>
        </p:nvSpPr>
        <p:spPr>
          <a:xfrm>
            <a:off x="1943211" y="1649784"/>
            <a:ext cx="5257579" cy="2788866"/>
          </a:xfrm>
          <a:prstGeom prst="rect">
            <a:avLst/>
          </a:prstGeom>
          <a:solidFill>
            <a:schemeClr val="accent4">
              <a:lumMod val="75000"/>
              <a:alpha val="50000"/>
            </a:schemeClr>
          </a:solidFill>
        </p:spPr>
        <p:txBody>
          <a:bodyPr spcFirstLastPara="1" wrap="square" lIns="91425" tIns="91425" rIns="91425" bIns="91425" anchor="ctr" anchorCtr="0">
            <a:noAutofit/>
          </a:bodyPr>
          <a:lstStyle/>
          <a:p>
            <a:pPr algn="l" fontAlgn="base"/>
            <a:r>
              <a:rPr lang="en-US" sz="1600" b="1" dirty="0">
                <a:solidFill>
                  <a:srgbClr val="FFFF00"/>
                </a:solidFill>
                <a:latin typeface="+mn-lt"/>
              </a:rPr>
              <a:t>Safe State: </a:t>
            </a:r>
            <a:r>
              <a:rPr lang="en-US" sz="1600" dirty="0">
                <a:solidFill>
                  <a:schemeClr val="accent1">
                    <a:lumMod val="60000"/>
                    <a:lumOff val="40000"/>
                  </a:schemeClr>
                </a:solidFill>
                <a:latin typeface="+mn-lt"/>
              </a:rPr>
              <a:t>There exists at least one sequence of processes such that each process can obtain the needed resources, complete its execution, release its resources, and thus allow other processes to eventually complete without entering a </a:t>
            </a:r>
            <a:r>
              <a:rPr lang="en-US" sz="1600" dirty="0" smtClean="0">
                <a:solidFill>
                  <a:schemeClr val="accent1">
                    <a:lumMod val="60000"/>
                    <a:lumOff val="40000"/>
                  </a:schemeClr>
                </a:solidFill>
                <a:latin typeface="+mn-lt"/>
              </a:rPr>
              <a:t>deadlock</a:t>
            </a:r>
            <a:endParaRPr lang="en-US" sz="1600" dirty="0">
              <a:solidFill>
                <a:schemeClr val="accent1">
                  <a:lumMod val="60000"/>
                  <a:lumOff val="40000"/>
                </a:schemeClr>
              </a:solidFill>
              <a:latin typeface="+mn-lt"/>
            </a:endParaRPr>
          </a:p>
          <a:p>
            <a:pPr algn="l" fontAlgn="base"/>
            <a:r>
              <a:rPr lang="en-US" sz="1600" b="1" dirty="0">
                <a:solidFill>
                  <a:srgbClr val="FFFF00"/>
                </a:solidFill>
                <a:latin typeface="+mn-lt"/>
              </a:rPr>
              <a:t>Unsafe State: </a:t>
            </a:r>
            <a:r>
              <a:rPr lang="en-US" sz="1600" dirty="0">
                <a:solidFill>
                  <a:schemeClr val="accent1">
                    <a:lumMod val="60000"/>
                    <a:lumOff val="40000"/>
                  </a:schemeClr>
                </a:solidFill>
                <a:latin typeface="+mn-lt"/>
              </a:rPr>
              <a:t>Even though the system can still allocate resources to some processes, there is no guarantee that all processes can finish without potentially causing a </a:t>
            </a:r>
            <a:r>
              <a:rPr lang="en-US" sz="1600" dirty="0" smtClean="0">
                <a:solidFill>
                  <a:schemeClr val="accent1">
                    <a:lumMod val="60000"/>
                    <a:lumOff val="40000"/>
                  </a:schemeClr>
                </a:solidFill>
                <a:latin typeface="+mn-lt"/>
              </a:rPr>
              <a:t>deadlock</a:t>
            </a:r>
            <a:endParaRPr lang="en-US" sz="1600" dirty="0">
              <a:solidFill>
                <a:schemeClr val="accent1">
                  <a:lumMod val="60000"/>
                  <a:lumOff val="40000"/>
                </a:schemeClr>
              </a:solidFill>
              <a:latin typeface="+mn-lt"/>
            </a:endParaRPr>
          </a:p>
        </p:txBody>
      </p:sp>
    </p:spTree>
    <p:extLst>
      <p:ext uri="{BB962C8B-B14F-4D97-AF65-F5344CB8AC3E}">
        <p14:creationId xmlns:p14="http://schemas.microsoft.com/office/powerpoint/2010/main" val="3481955535"/>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25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bg/>
                                          </p:spTgt>
                                        </p:tgtEl>
                                        <p:attrNameLst>
                                          <p:attrName>style.visibility</p:attrName>
                                        </p:attrNameLst>
                                      </p:cBhvr>
                                      <p:to>
                                        <p:strVal val="visible"/>
                                      </p:to>
                                    </p:set>
                                    <p:animEffect transition="in" filter="wipe(down)">
                                      <p:cBhvr>
                                        <p:cTn id="10" dur="500"/>
                                        <p:tgtEl>
                                          <p:spTgt spid="5">
                                            <p:bg/>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animEffect transition="in" filter="wipe(down)">
                                      <p:cBhvr>
                                        <p:cTn id="15" dur="500"/>
                                        <p:tgtEl>
                                          <p:spTgt spid="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5">
                                            <p:txEl>
                                              <p:pRg st="1" end="1"/>
                                            </p:txEl>
                                          </p:spTgt>
                                        </p:tgtEl>
                                        <p:attrNameLst>
                                          <p:attrName>style.visibility</p:attrName>
                                        </p:attrNameLst>
                                      </p:cBhvr>
                                      <p:to>
                                        <p:strVal val="visible"/>
                                      </p:to>
                                    </p:set>
                                    <p:animEffect transition="in" filter="wipe(down)">
                                      <p:cBhvr>
                                        <p:cTn id="20"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48000">
              <a:schemeClr val="accent4"/>
            </a:gs>
            <a:gs pos="100000">
              <a:schemeClr val="accent2"/>
            </a:gs>
          </a:gsLst>
          <a:lin ang="2698631" scaled="0"/>
        </a:gradFill>
        <a:effectLst/>
      </p:bgPr>
    </p:bg>
    <p:spTree>
      <p:nvGrpSpPr>
        <p:cNvPr id="1" name="Shape 281"/>
        <p:cNvGrpSpPr/>
        <p:nvPr/>
      </p:nvGrpSpPr>
      <p:grpSpPr>
        <a:xfrm>
          <a:off x="0" y="0"/>
          <a:ext cx="0" cy="0"/>
          <a:chOff x="0" y="0"/>
          <a:chExt cx="0" cy="0"/>
        </a:xfrm>
      </p:grpSpPr>
      <p:sp>
        <p:nvSpPr>
          <p:cNvPr id="3" name="TextBox 2"/>
          <p:cNvSpPr txBox="1"/>
          <p:nvPr/>
        </p:nvSpPr>
        <p:spPr>
          <a:xfrm>
            <a:off x="771493" y="419305"/>
            <a:ext cx="7541232" cy="461665"/>
          </a:xfrm>
          <a:prstGeom prst="rect">
            <a:avLst/>
          </a:prstGeom>
          <a:noFill/>
        </p:spPr>
        <p:txBody>
          <a:bodyPr wrap="square" rtlCol="0">
            <a:spAutoFit/>
          </a:bodyPr>
          <a:lstStyle/>
          <a:p>
            <a:pPr algn="ctr"/>
            <a:r>
              <a:rPr lang="en-US" sz="2400" dirty="0">
                <a:solidFill>
                  <a:schemeClr val="accent1"/>
                </a:solidFill>
                <a:latin typeface="Oswald" panose="020B0604020202020204" charset="0"/>
              </a:rPr>
              <a:t>Key Concepts in Banker's </a:t>
            </a:r>
            <a:r>
              <a:rPr lang="en-US" sz="2400" dirty="0" smtClean="0">
                <a:solidFill>
                  <a:schemeClr val="accent1"/>
                </a:solidFill>
                <a:latin typeface="Oswald" panose="020B0604020202020204" charset="0"/>
              </a:rPr>
              <a:t>Algorithm</a:t>
            </a:r>
            <a:r>
              <a:rPr lang="en-US" dirty="0" smtClean="0">
                <a:solidFill>
                  <a:srgbClr val="FFC000"/>
                </a:solidFill>
                <a:latin typeface="Oswald" panose="020B0604020202020204" charset="0"/>
              </a:rPr>
              <a:t>”</a:t>
            </a:r>
            <a:endParaRPr lang="en-US" dirty="0">
              <a:latin typeface="Oswald" panose="020B060402020202020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0652" y="1134309"/>
            <a:ext cx="4962698" cy="3643063"/>
          </a:xfrm>
          <a:prstGeom prst="rect">
            <a:avLst/>
          </a:prstGeom>
          <a:ln>
            <a:noFill/>
          </a:ln>
          <a:effectLst>
            <a:outerShdw blurRad="292100" dist="139700" dir="2700000" algn="tl" rotWithShape="0">
              <a:srgbClr val="333333">
                <a:alpha val="65000"/>
              </a:srgbClr>
            </a:outerShdw>
          </a:effectLst>
        </p:spPr>
      </p:pic>
      <p:cxnSp>
        <p:nvCxnSpPr>
          <p:cNvPr id="7" name="Google Shape;321;p33"/>
          <p:cNvCxnSpPr/>
          <p:nvPr/>
        </p:nvCxnSpPr>
        <p:spPr>
          <a:xfrm flipH="1">
            <a:off x="2090651" y="1007639"/>
            <a:ext cx="4962699" cy="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spTree>
    <p:extLst>
      <p:ext uri="{BB962C8B-B14F-4D97-AF65-F5344CB8AC3E}">
        <p14:creationId xmlns:p14="http://schemas.microsoft.com/office/powerpoint/2010/main" val="2555224123"/>
      </p:ext>
    </p:extLst>
  </p:cSld>
  <p:clrMapOvr>
    <a:masterClrMapping/>
  </p:clrMapOvr>
  <mc:AlternateContent xmlns:mc="http://schemas.openxmlformats.org/markup-compatibility/2006" xmlns:p14="http://schemas.microsoft.com/office/powerpoint/2010/main">
    <mc:Choice Requires="p14">
      <p:transition spd="slow" p14:dur="1250">
        <p:push dir="u"/>
      </p:transition>
    </mc:Choice>
    <mc:Fallback xmlns="">
      <p:transition spd="slow">
        <p:push dir="u"/>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250"/>
                                        <p:tgtEl>
                                          <p:spTgt spid="3"/>
                                        </p:tgtEl>
                                      </p:cBhvr>
                                    </p:animEffect>
                                  </p:childTnLst>
                                </p:cTn>
                              </p:par>
                            </p:childTnLst>
                          </p:cTn>
                        </p:par>
                        <p:par>
                          <p:cTn id="8" fill="hold">
                            <p:stCondLst>
                              <p:cond delay="1250"/>
                            </p:stCondLst>
                            <p:childTnLst>
                              <p:par>
                                <p:cTn id="9" presetID="22" presetClass="entr" presetSubtype="4"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down)">
                                      <p:cBhvr>
                                        <p:cTn id="11" dur="175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C6B930-7791-0A36-3A09-CBEEB0BF5CE4}"/>
              </a:ext>
            </a:extLst>
          </p:cNvPr>
          <p:cNvSpPr txBox="1"/>
          <p:nvPr/>
        </p:nvSpPr>
        <p:spPr>
          <a:xfrm>
            <a:off x="2012674" y="1109812"/>
            <a:ext cx="5118652" cy="2800767"/>
          </a:xfrm>
          <a:prstGeom prst="rect">
            <a:avLst/>
          </a:prstGeom>
          <a:solidFill>
            <a:schemeClr val="bg1">
              <a:lumMod val="10000"/>
              <a:alpha val="78000"/>
            </a:schemeClr>
          </a:solidFill>
        </p:spPr>
        <p:txBody>
          <a:bodyPr wrap="square" rtlCol="0">
            <a:spAutoFit/>
          </a:bodyPr>
          <a:lstStyle/>
          <a:p>
            <a:pPr lvl="0">
              <a:defRPr/>
            </a:pPr>
            <a:r>
              <a:rPr lang="en-US" sz="2000" b="1" dirty="0">
                <a:solidFill>
                  <a:srgbClr val="FFFF00"/>
                </a:solidFill>
              </a:rPr>
              <a:t>Example of Unsafe State</a:t>
            </a:r>
          </a:p>
          <a:p>
            <a:pPr lvl="1"/>
            <a:r>
              <a:rPr lang="en-US" sz="1200" dirty="0" smtClean="0">
                <a:solidFill>
                  <a:srgbClr val="FFFFFF"/>
                </a:solidFill>
                <a:latin typeface="Oswald" panose="00000500000000000000" pitchFamily="2" charset="0"/>
              </a:rPr>
              <a:t>Consider </a:t>
            </a:r>
            <a:r>
              <a:rPr lang="en-US" sz="1200" dirty="0">
                <a:solidFill>
                  <a:srgbClr val="FFFFFF"/>
                </a:solidFill>
                <a:latin typeface="Oswald" panose="00000500000000000000" pitchFamily="2" charset="0"/>
              </a:rPr>
              <a:t>a system with three processes (P1, P2, P3) and 6 instances of a resource. Let's say</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1. The available instances of the resource are: 1</a:t>
            </a:r>
          </a:p>
          <a:p>
            <a:pPr lvl="1"/>
            <a:r>
              <a:rPr lang="en-US" sz="1200" dirty="0">
                <a:solidFill>
                  <a:srgbClr val="FFFFFF"/>
                </a:solidFill>
                <a:latin typeface="Oswald" panose="00000500000000000000" pitchFamily="2" charset="0"/>
              </a:rPr>
              <a:t>2. The current allocation of resources to processes is</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lgn="ctr"/>
            <a:r>
              <a:rPr lang="en-US" sz="1200" dirty="0">
                <a:solidFill>
                  <a:srgbClr val="FFFFFF"/>
                </a:solidFill>
                <a:latin typeface="Oswald" panose="00000500000000000000" pitchFamily="2" charset="0"/>
              </a:rPr>
              <a:t>P1: 2</a:t>
            </a:r>
          </a:p>
          <a:p>
            <a:pPr lvl="1" algn="ctr"/>
            <a:r>
              <a:rPr lang="en-US" sz="1200" dirty="0">
                <a:solidFill>
                  <a:srgbClr val="FFFFFF"/>
                </a:solidFill>
                <a:latin typeface="Oswald" panose="00000500000000000000" pitchFamily="2" charset="0"/>
              </a:rPr>
              <a:t>P2: 3</a:t>
            </a:r>
          </a:p>
          <a:p>
            <a:pPr lvl="1" algn="ctr"/>
            <a:r>
              <a:rPr lang="en-US" sz="1200" dirty="0">
                <a:solidFill>
                  <a:srgbClr val="FFFFFF"/>
                </a:solidFill>
                <a:latin typeface="Oswald" panose="00000500000000000000" pitchFamily="2" charset="0"/>
              </a:rPr>
              <a:t>P3: 1</a:t>
            </a:r>
          </a:p>
          <a:p>
            <a:pPr lvl="1"/>
            <a:r>
              <a:rPr lang="en-US" sz="1200" dirty="0">
                <a:solidFill>
                  <a:srgbClr val="FFFFFF"/>
                </a:solidFill>
                <a:latin typeface="Oswald" panose="00000500000000000000" pitchFamily="2" charset="0"/>
              </a:rPr>
              <a:t>3. The maximum demand (maximum resources each process may eventually request) is</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lgn="ctr"/>
            <a:r>
              <a:rPr lang="en-US" sz="1200" dirty="0">
                <a:solidFill>
                  <a:srgbClr val="FFFFFF"/>
                </a:solidFill>
                <a:latin typeface="Oswald" panose="00000500000000000000" pitchFamily="2" charset="0"/>
              </a:rPr>
              <a:t>P1: 4</a:t>
            </a:r>
          </a:p>
          <a:p>
            <a:pPr lvl="1" algn="ctr"/>
            <a:r>
              <a:rPr lang="en-US" sz="1200" dirty="0">
                <a:solidFill>
                  <a:srgbClr val="FFFFFF"/>
                </a:solidFill>
                <a:latin typeface="Oswald" panose="00000500000000000000" pitchFamily="2" charset="0"/>
              </a:rPr>
              <a:t>P2: 5</a:t>
            </a:r>
          </a:p>
          <a:p>
            <a:pPr lvl="1" algn="ctr"/>
            <a:r>
              <a:rPr lang="en-US" sz="1200" dirty="0">
                <a:solidFill>
                  <a:srgbClr val="FFFFFF"/>
                </a:solidFill>
                <a:latin typeface="Oswald" panose="00000500000000000000" pitchFamily="2" charset="0"/>
              </a:rPr>
              <a:t>P3: 3</a:t>
            </a:r>
          </a:p>
          <a:p>
            <a:pPr lvl="1"/>
            <a:r>
              <a:rPr lang="en-US" sz="1200" dirty="0">
                <a:solidFill>
                  <a:srgbClr val="FFFFFF"/>
                </a:solidFill>
                <a:latin typeface="Oswald" panose="00000500000000000000" pitchFamily="2" charset="0"/>
              </a:rPr>
              <a:t>In this situation</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Need = Maximum Demand - Allocation</a:t>
            </a:r>
            <a:endParaRPr lang="en-US" sz="1200" dirty="0" smtClean="0">
              <a:solidFill>
                <a:srgbClr val="FFFFFF"/>
              </a:solidFill>
              <a:latin typeface="Oswald" panose="00000500000000000000" pitchFamily="2" charset="0"/>
            </a:endParaRPr>
          </a:p>
        </p:txBody>
      </p:sp>
      <p:sp>
        <p:nvSpPr>
          <p:cNvPr id="5" name="Google Shape;369;p36"/>
          <p:cNvSpPr/>
          <p:nvPr/>
        </p:nvSpPr>
        <p:spPr>
          <a:xfrm>
            <a:off x="1092820" y="581258"/>
            <a:ext cx="6958361" cy="3980985"/>
          </a:xfrm>
          <a:prstGeom prst="roundRect">
            <a:avLst>
              <a:gd name="adj" fmla="val 16667"/>
            </a:avLst>
          </a:prstGeom>
          <a:noFill/>
          <a:ln w="19050" cap="flat" cmpd="sng">
            <a:solidFill>
              <a:schemeClr val="accent6">
                <a:lumMod val="40000"/>
                <a:lumOff val="60000"/>
              </a:schemeClr>
            </a:solidFill>
            <a:prstDash val="solid"/>
            <a:round/>
            <a:headEnd type="none" w="sm" len="sm"/>
            <a:tailEnd type="none" w="sm" len="sm"/>
          </a:ln>
          <a:effectLst>
            <a:outerShdw blurRad="200025" dist="19050" dir="5400000" algn="bl" rotWithShape="0">
              <a:srgbClr val="98FAFC">
                <a:alpha val="6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75179745"/>
      </p:ext>
    </p:extLst>
  </p:cSld>
  <p:clrMapOvr>
    <a:masterClrMapping/>
  </p:clrMapOvr>
  <mc:AlternateContent xmlns:mc="http://schemas.openxmlformats.org/markup-compatibility/2006" xmlns:p14="http://schemas.microsoft.com/office/powerpoint/2010/main">
    <mc:Choice Requires="p14">
      <p:transition spd="slow" p14:dur="1250">
        <p:pull/>
      </p:transition>
    </mc:Choice>
    <mc:Fallback xmlns="">
      <p:transition spd="slow">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1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9138" y="-78290"/>
            <a:ext cx="7358744" cy="5478965"/>
          </a:xfrm>
          <a:prstGeom prst="rect">
            <a:avLst/>
          </a:prstGeom>
        </p:spPr>
      </p:pic>
      <p:sp>
        <p:nvSpPr>
          <p:cNvPr id="33" name="Freeform 32"/>
          <p:cNvSpPr/>
          <p:nvPr/>
        </p:nvSpPr>
        <p:spPr>
          <a:xfrm>
            <a:off x="1" y="-78290"/>
            <a:ext cx="9143999" cy="5335209"/>
          </a:xfrm>
          <a:custGeom>
            <a:avLst/>
            <a:gdLst>
              <a:gd name="connsiteX0" fmla="*/ 12191998 w 12191998"/>
              <a:gd name="connsiteY0" fmla="*/ 6717367 h 6857999"/>
              <a:gd name="connsiteX1" fmla="*/ 12191998 w 12191998"/>
              <a:gd name="connsiteY1" fmla="*/ 6857999 h 6857999"/>
              <a:gd name="connsiteX2" fmla="*/ 12121682 w 12191998"/>
              <a:gd name="connsiteY2" fmla="*/ 6857999 h 6857999"/>
              <a:gd name="connsiteX3" fmla="*/ 10568207 w 12191998"/>
              <a:gd name="connsiteY3" fmla="*/ 5713172 h 6857999"/>
              <a:gd name="connsiteX4" fmla="*/ 10350493 w 12191998"/>
              <a:gd name="connsiteY4" fmla="*/ 6148601 h 6857999"/>
              <a:gd name="connsiteX5" fmla="*/ 10568207 w 12191998"/>
              <a:gd name="connsiteY5" fmla="*/ 6584029 h 6857999"/>
              <a:gd name="connsiteX6" fmla="*/ 11163294 w 12191998"/>
              <a:gd name="connsiteY6" fmla="*/ 6584029 h 6857999"/>
              <a:gd name="connsiteX7" fmla="*/ 11381008 w 12191998"/>
              <a:gd name="connsiteY7" fmla="*/ 6148601 h 6857999"/>
              <a:gd name="connsiteX8" fmla="*/ 11163294 w 12191998"/>
              <a:gd name="connsiteY8" fmla="*/ 5713172 h 6857999"/>
              <a:gd name="connsiteX9" fmla="*/ 9668321 w 12191998"/>
              <a:gd name="connsiteY9" fmla="*/ 5277745 h 6857999"/>
              <a:gd name="connsiteX10" fmla="*/ 9450607 w 12191998"/>
              <a:gd name="connsiteY10" fmla="*/ 5713174 h 6857999"/>
              <a:gd name="connsiteX11" fmla="*/ 9668321 w 12191998"/>
              <a:gd name="connsiteY11" fmla="*/ 6148602 h 6857999"/>
              <a:gd name="connsiteX12" fmla="*/ 10263408 w 12191998"/>
              <a:gd name="connsiteY12" fmla="*/ 6148602 h 6857999"/>
              <a:gd name="connsiteX13" fmla="*/ 10481122 w 12191998"/>
              <a:gd name="connsiteY13" fmla="*/ 5713174 h 6857999"/>
              <a:gd name="connsiteX14" fmla="*/ 10263408 w 12191998"/>
              <a:gd name="connsiteY14" fmla="*/ 5277745 h 6857999"/>
              <a:gd name="connsiteX15" fmla="*/ 10535547 w 12191998"/>
              <a:gd name="connsiteY15" fmla="*/ 4773371 h 6857999"/>
              <a:gd name="connsiteX16" fmla="*/ 10317833 w 12191998"/>
              <a:gd name="connsiteY16" fmla="*/ 5208800 h 6857999"/>
              <a:gd name="connsiteX17" fmla="*/ 10535547 w 12191998"/>
              <a:gd name="connsiteY17" fmla="*/ 5644228 h 6857999"/>
              <a:gd name="connsiteX18" fmla="*/ 11130634 w 12191998"/>
              <a:gd name="connsiteY18" fmla="*/ 5644228 h 6857999"/>
              <a:gd name="connsiteX19" fmla="*/ 11348348 w 12191998"/>
              <a:gd name="connsiteY19" fmla="*/ 5208800 h 6857999"/>
              <a:gd name="connsiteX20" fmla="*/ 11130634 w 12191998"/>
              <a:gd name="connsiteY20" fmla="*/ 4773371 h 6857999"/>
              <a:gd name="connsiteX21" fmla="*/ 9570350 w 12191998"/>
              <a:gd name="connsiteY21" fmla="*/ 4293501 h 6857999"/>
              <a:gd name="connsiteX22" fmla="*/ 9352636 w 12191998"/>
              <a:gd name="connsiteY22" fmla="*/ 4728930 h 6857999"/>
              <a:gd name="connsiteX23" fmla="*/ 9570350 w 12191998"/>
              <a:gd name="connsiteY23" fmla="*/ 5164358 h 6857999"/>
              <a:gd name="connsiteX24" fmla="*/ 10165437 w 12191998"/>
              <a:gd name="connsiteY24" fmla="*/ 5164358 h 6857999"/>
              <a:gd name="connsiteX25" fmla="*/ 10383151 w 12191998"/>
              <a:gd name="connsiteY25" fmla="*/ 4728930 h 6857999"/>
              <a:gd name="connsiteX26" fmla="*/ 10165437 w 12191998"/>
              <a:gd name="connsiteY26" fmla="*/ 4293501 h 6857999"/>
              <a:gd name="connsiteX27" fmla="*/ 11373854 w 12191998"/>
              <a:gd name="connsiteY27" fmla="*/ 4270358 h 6857999"/>
              <a:gd name="connsiteX28" fmla="*/ 11164646 w 12191998"/>
              <a:gd name="connsiteY28" fmla="*/ 4688775 h 6857999"/>
              <a:gd name="connsiteX29" fmla="*/ 11373854 w 12191998"/>
              <a:gd name="connsiteY29" fmla="*/ 5107191 h 6857999"/>
              <a:gd name="connsiteX30" fmla="*/ 11954213 w 12191998"/>
              <a:gd name="connsiteY30" fmla="*/ 5107191 h 6857999"/>
              <a:gd name="connsiteX31" fmla="*/ 12163421 w 12191998"/>
              <a:gd name="connsiteY31" fmla="*/ 4688775 h 6857999"/>
              <a:gd name="connsiteX32" fmla="*/ 11954213 w 12191998"/>
              <a:gd name="connsiteY32" fmla="*/ 4270358 h 6857999"/>
              <a:gd name="connsiteX33" fmla="*/ 8683165 w 12191998"/>
              <a:gd name="connsiteY33" fmla="*/ 3867141 h 6857999"/>
              <a:gd name="connsiteX34" fmla="*/ 8465451 w 12191998"/>
              <a:gd name="connsiteY34" fmla="*/ 4302570 h 6857999"/>
              <a:gd name="connsiteX35" fmla="*/ 8683165 w 12191998"/>
              <a:gd name="connsiteY35" fmla="*/ 4737998 h 6857999"/>
              <a:gd name="connsiteX36" fmla="*/ 9278252 w 12191998"/>
              <a:gd name="connsiteY36" fmla="*/ 4737998 h 6857999"/>
              <a:gd name="connsiteX37" fmla="*/ 9495966 w 12191998"/>
              <a:gd name="connsiteY37" fmla="*/ 4302570 h 6857999"/>
              <a:gd name="connsiteX38" fmla="*/ 9278252 w 12191998"/>
              <a:gd name="connsiteY38" fmla="*/ 3867141 h 6857999"/>
              <a:gd name="connsiteX39" fmla="*/ 10437577 w 12191998"/>
              <a:gd name="connsiteY39" fmla="*/ 3782780 h 6857999"/>
              <a:gd name="connsiteX40" fmla="*/ 10219863 w 12191998"/>
              <a:gd name="connsiteY40" fmla="*/ 4218209 h 6857999"/>
              <a:gd name="connsiteX41" fmla="*/ 10437577 w 12191998"/>
              <a:gd name="connsiteY41" fmla="*/ 4653637 h 6857999"/>
              <a:gd name="connsiteX42" fmla="*/ 11032664 w 12191998"/>
              <a:gd name="connsiteY42" fmla="*/ 4653637 h 6857999"/>
              <a:gd name="connsiteX43" fmla="*/ 11250378 w 12191998"/>
              <a:gd name="connsiteY43" fmla="*/ 4218209 h 6857999"/>
              <a:gd name="connsiteX44" fmla="*/ 11032664 w 12191998"/>
              <a:gd name="connsiteY44" fmla="*/ 3782780 h 6857999"/>
              <a:gd name="connsiteX45" fmla="*/ 11339835 w 12191998"/>
              <a:gd name="connsiteY45" fmla="*/ 3357104 h 6857999"/>
              <a:gd name="connsiteX46" fmla="*/ 11130627 w 12191998"/>
              <a:gd name="connsiteY46" fmla="*/ 3775521 h 6857999"/>
              <a:gd name="connsiteX47" fmla="*/ 11339835 w 12191998"/>
              <a:gd name="connsiteY47" fmla="*/ 4193937 h 6857999"/>
              <a:gd name="connsiteX48" fmla="*/ 11920194 w 12191998"/>
              <a:gd name="connsiteY48" fmla="*/ 4193937 h 6857999"/>
              <a:gd name="connsiteX49" fmla="*/ 12129402 w 12191998"/>
              <a:gd name="connsiteY49" fmla="*/ 3775521 h 6857999"/>
              <a:gd name="connsiteX50" fmla="*/ 11920194 w 12191998"/>
              <a:gd name="connsiteY50" fmla="*/ 3357104 h 6857999"/>
              <a:gd name="connsiteX51" fmla="*/ 9570351 w 12191998"/>
              <a:gd name="connsiteY51" fmla="*/ 3326486 h 6857999"/>
              <a:gd name="connsiteX52" fmla="*/ 9352637 w 12191998"/>
              <a:gd name="connsiteY52" fmla="*/ 3761915 h 6857999"/>
              <a:gd name="connsiteX53" fmla="*/ 9570351 w 12191998"/>
              <a:gd name="connsiteY53" fmla="*/ 4197343 h 6857999"/>
              <a:gd name="connsiteX54" fmla="*/ 10165438 w 12191998"/>
              <a:gd name="connsiteY54" fmla="*/ 4197343 h 6857999"/>
              <a:gd name="connsiteX55" fmla="*/ 10383152 w 12191998"/>
              <a:gd name="connsiteY55" fmla="*/ 3761915 h 6857999"/>
              <a:gd name="connsiteX56" fmla="*/ 10165438 w 12191998"/>
              <a:gd name="connsiteY56" fmla="*/ 3326486 h 6857999"/>
              <a:gd name="connsiteX57" fmla="*/ 8670465 w 12191998"/>
              <a:gd name="connsiteY57" fmla="*/ 2891059 h 6857999"/>
              <a:gd name="connsiteX58" fmla="*/ 8452751 w 12191998"/>
              <a:gd name="connsiteY58" fmla="*/ 3326488 h 6857999"/>
              <a:gd name="connsiteX59" fmla="*/ 8670465 w 12191998"/>
              <a:gd name="connsiteY59" fmla="*/ 3761916 h 6857999"/>
              <a:gd name="connsiteX60" fmla="*/ 9265552 w 12191998"/>
              <a:gd name="connsiteY60" fmla="*/ 3761916 h 6857999"/>
              <a:gd name="connsiteX61" fmla="*/ 9483266 w 12191998"/>
              <a:gd name="connsiteY61" fmla="*/ 3326488 h 6857999"/>
              <a:gd name="connsiteX62" fmla="*/ 9265552 w 12191998"/>
              <a:gd name="connsiteY62" fmla="*/ 2891059 h 6857999"/>
              <a:gd name="connsiteX63" fmla="*/ 10437577 w 12191998"/>
              <a:gd name="connsiteY63" fmla="*/ 2842980 h 6857999"/>
              <a:gd name="connsiteX64" fmla="*/ 10219863 w 12191998"/>
              <a:gd name="connsiteY64" fmla="*/ 3278409 h 6857999"/>
              <a:gd name="connsiteX65" fmla="*/ 10437577 w 12191998"/>
              <a:gd name="connsiteY65" fmla="*/ 3713836 h 6857999"/>
              <a:gd name="connsiteX66" fmla="*/ 11032664 w 12191998"/>
              <a:gd name="connsiteY66" fmla="*/ 3713836 h 6857999"/>
              <a:gd name="connsiteX67" fmla="*/ 11250378 w 12191998"/>
              <a:gd name="connsiteY67" fmla="*/ 3278409 h 6857999"/>
              <a:gd name="connsiteX68" fmla="*/ 11032664 w 12191998"/>
              <a:gd name="connsiteY68" fmla="*/ 2842980 h 6857999"/>
              <a:gd name="connsiteX69" fmla="*/ 7770579 w 12191998"/>
              <a:gd name="connsiteY69" fmla="*/ 2405741 h 6857999"/>
              <a:gd name="connsiteX70" fmla="*/ 7552865 w 12191998"/>
              <a:gd name="connsiteY70" fmla="*/ 2841170 h 6857999"/>
              <a:gd name="connsiteX71" fmla="*/ 7770579 w 12191998"/>
              <a:gd name="connsiteY71" fmla="*/ 3276598 h 6857999"/>
              <a:gd name="connsiteX72" fmla="*/ 8365666 w 12191998"/>
              <a:gd name="connsiteY72" fmla="*/ 3276598 h 6857999"/>
              <a:gd name="connsiteX73" fmla="*/ 8583380 w 12191998"/>
              <a:gd name="connsiteY73" fmla="*/ 2841170 h 6857999"/>
              <a:gd name="connsiteX74" fmla="*/ 8365666 w 12191998"/>
              <a:gd name="connsiteY74" fmla="*/ 2405741 h 6857999"/>
              <a:gd name="connsiteX75" fmla="*/ 11314442 w 12191998"/>
              <a:gd name="connsiteY75" fmla="*/ 2400294 h 6857999"/>
              <a:gd name="connsiteX76" fmla="*/ 11105234 w 12191998"/>
              <a:gd name="connsiteY76" fmla="*/ 2818711 h 6857999"/>
              <a:gd name="connsiteX77" fmla="*/ 11314442 w 12191998"/>
              <a:gd name="connsiteY77" fmla="*/ 3237127 h 6857999"/>
              <a:gd name="connsiteX78" fmla="*/ 11894801 w 12191998"/>
              <a:gd name="connsiteY78" fmla="*/ 3237127 h 6857999"/>
              <a:gd name="connsiteX79" fmla="*/ 12104009 w 12191998"/>
              <a:gd name="connsiteY79" fmla="*/ 2818711 h 6857999"/>
              <a:gd name="connsiteX80" fmla="*/ 11894801 w 12191998"/>
              <a:gd name="connsiteY80" fmla="*/ 2400294 h 6857999"/>
              <a:gd name="connsiteX81" fmla="*/ 9537691 w 12191998"/>
              <a:gd name="connsiteY81" fmla="*/ 2386686 h 6857999"/>
              <a:gd name="connsiteX82" fmla="*/ 9319977 w 12191998"/>
              <a:gd name="connsiteY82" fmla="*/ 2822114 h 6857999"/>
              <a:gd name="connsiteX83" fmla="*/ 9537691 w 12191998"/>
              <a:gd name="connsiteY83" fmla="*/ 3257543 h 6857999"/>
              <a:gd name="connsiteX84" fmla="*/ 10132778 w 12191998"/>
              <a:gd name="connsiteY84" fmla="*/ 3257543 h 6857999"/>
              <a:gd name="connsiteX85" fmla="*/ 10350492 w 12191998"/>
              <a:gd name="connsiteY85" fmla="*/ 2822114 h 6857999"/>
              <a:gd name="connsiteX86" fmla="*/ 10132778 w 12191998"/>
              <a:gd name="connsiteY86" fmla="*/ 2386686 h 6857999"/>
              <a:gd name="connsiteX87" fmla="*/ 6883394 w 12191998"/>
              <a:gd name="connsiteY87" fmla="*/ 1979381 h 6857999"/>
              <a:gd name="connsiteX88" fmla="*/ 6665680 w 12191998"/>
              <a:gd name="connsiteY88" fmla="*/ 2414810 h 6857999"/>
              <a:gd name="connsiteX89" fmla="*/ 6883394 w 12191998"/>
              <a:gd name="connsiteY89" fmla="*/ 2850238 h 6857999"/>
              <a:gd name="connsiteX90" fmla="*/ 7478481 w 12191998"/>
              <a:gd name="connsiteY90" fmla="*/ 2850238 h 6857999"/>
              <a:gd name="connsiteX91" fmla="*/ 7696195 w 12191998"/>
              <a:gd name="connsiteY91" fmla="*/ 2414810 h 6857999"/>
              <a:gd name="connsiteX92" fmla="*/ 7478481 w 12191998"/>
              <a:gd name="connsiteY92" fmla="*/ 1979381 h 6857999"/>
              <a:gd name="connsiteX93" fmla="*/ 8637806 w 12191998"/>
              <a:gd name="connsiteY93" fmla="*/ 1895020 h 6857999"/>
              <a:gd name="connsiteX94" fmla="*/ 8420092 w 12191998"/>
              <a:gd name="connsiteY94" fmla="*/ 2330448 h 6857999"/>
              <a:gd name="connsiteX95" fmla="*/ 8637806 w 12191998"/>
              <a:gd name="connsiteY95" fmla="*/ 2765877 h 6857999"/>
              <a:gd name="connsiteX96" fmla="*/ 9232893 w 12191998"/>
              <a:gd name="connsiteY96" fmla="*/ 2765877 h 6857999"/>
              <a:gd name="connsiteX97" fmla="*/ 9450607 w 12191998"/>
              <a:gd name="connsiteY97" fmla="*/ 2330448 h 6857999"/>
              <a:gd name="connsiteX98" fmla="*/ 9232893 w 12191998"/>
              <a:gd name="connsiteY98" fmla="*/ 1895020 h 6857999"/>
              <a:gd name="connsiteX99" fmla="*/ 10420350 w 12191998"/>
              <a:gd name="connsiteY99" fmla="*/ 1872340 h 6857999"/>
              <a:gd name="connsiteX100" fmla="*/ 10202636 w 12191998"/>
              <a:gd name="connsiteY100" fmla="*/ 2307769 h 6857999"/>
              <a:gd name="connsiteX101" fmla="*/ 10420350 w 12191998"/>
              <a:gd name="connsiteY101" fmla="*/ 2743196 h 6857999"/>
              <a:gd name="connsiteX102" fmla="*/ 11015437 w 12191998"/>
              <a:gd name="connsiteY102" fmla="*/ 2743196 h 6857999"/>
              <a:gd name="connsiteX103" fmla="*/ 11233151 w 12191998"/>
              <a:gd name="connsiteY103" fmla="*/ 2307769 h 6857999"/>
              <a:gd name="connsiteX104" fmla="*/ 11015437 w 12191998"/>
              <a:gd name="connsiteY104" fmla="*/ 1872340 h 6857999"/>
              <a:gd name="connsiteX105" fmla="*/ 7770580 w 12191998"/>
              <a:gd name="connsiteY105" fmla="*/ 1438726 h 6857999"/>
              <a:gd name="connsiteX106" fmla="*/ 7552866 w 12191998"/>
              <a:gd name="connsiteY106" fmla="*/ 1874155 h 6857999"/>
              <a:gd name="connsiteX107" fmla="*/ 7770580 w 12191998"/>
              <a:gd name="connsiteY107" fmla="*/ 2309582 h 6857999"/>
              <a:gd name="connsiteX108" fmla="*/ 8365667 w 12191998"/>
              <a:gd name="connsiteY108" fmla="*/ 2309582 h 6857999"/>
              <a:gd name="connsiteX109" fmla="*/ 8583381 w 12191998"/>
              <a:gd name="connsiteY109" fmla="*/ 1874155 h 6857999"/>
              <a:gd name="connsiteX110" fmla="*/ 8365667 w 12191998"/>
              <a:gd name="connsiteY110" fmla="*/ 1438726 h 6857999"/>
              <a:gd name="connsiteX111" fmla="*/ 11286671 w 12191998"/>
              <a:gd name="connsiteY111" fmla="*/ 1422399 h 6857999"/>
              <a:gd name="connsiteX112" fmla="*/ 11068957 w 12191998"/>
              <a:gd name="connsiteY112" fmla="*/ 1857828 h 6857999"/>
              <a:gd name="connsiteX113" fmla="*/ 11286671 w 12191998"/>
              <a:gd name="connsiteY113" fmla="*/ 2293255 h 6857999"/>
              <a:gd name="connsiteX114" fmla="*/ 11881758 w 12191998"/>
              <a:gd name="connsiteY114" fmla="*/ 2293255 h 6857999"/>
              <a:gd name="connsiteX115" fmla="*/ 12099472 w 12191998"/>
              <a:gd name="connsiteY115" fmla="*/ 1857828 h 6857999"/>
              <a:gd name="connsiteX116" fmla="*/ 11881758 w 12191998"/>
              <a:gd name="connsiteY116" fmla="*/ 1422399 h 6857999"/>
              <a:gd name="connsiteX117" fmla="*/ 9524097 w 12191998"/>
              <a:gd name="connsiteY117" fmla="*/ 1422399 h 6857999"/>
              <a:gd name="connsiteX118" fmla="*/ 9306383 w 12191998"/>
              <a:gd name="connsiteY118" fmla="*/ 1857828 h 6857999"/>
              <a:gd name="connsiteX119" fmla="*/ 9524097 w 12191998"/>
              <a:gd name="connsiteY119" fmla="*/ 2293255 h 6857999"/>
              <a:gd name="connsiteX120" fmla="*/ 10119184 w 12191998"/>
              <a:gd name="connsiteY120" fmla="*/ 2293255 h 6857999"/>
              <a:gd name="connsiteX121" fmla="*/ 10336898 w 12191998"/>
              <a:gd name="connsiteY121" fmla="*/ 1857828 h 6857999"/>
              <a:gd name="connsiteX122" fmla="*/ 10119184 w 12191998"/>
              <a:gd name="connsiteY122" fmla="*/ 1422399 h 6857999"/>
              <a:gd name="connsiteX123" fmla="*/ 6870694 w 12191998"/>
              <a:gd name="connsiteY123" fmla="*/ 1003299 h 6857999"/>
              <a:gd name="connsiteX124" fmla="*/ 6652980 w 12191998"/>
              <a:gd name="connsiteY124" fmla="*/ 1438728 h 6857999"/>
              <a:gd name="connsiteX125" fmla="*/ 6870694 w 12191998"/>
              <a:gd name="connsiteY125" fmla="*/ 1874156 h 6857999"/>
              <a:gd name="connsiteX126" fmla="*/ 7465781 w 12191998"/>
              <a:gd name="connsiteY126" fmla="*/ 1874156 h 6857999"/>
              <a:gd name="connsiteX127" fmla="*/ 7683495 w 12191998"/>
              <a:gd name="connsiteY127" fmla="*/ 1438728 h 6857999"/>
              <a:gd name="connsiteX128" fmla="*/ 7465781 w 12191998"/>
              <a:gd name="connsiteY128" fmla="*/ 1003299 h 6857999"/>
              <a:gd name="connsiteX129" fmla="*/ 8637806 w 12191998"/>
              <a:gd name="connsiteY129" fmla="*/ 955219 h 6857999"/>
              <a:gd name="connsiteX130" fmla="*/ 8420092 w 12191998"/>
              <a:gd name="connsiteY130" fmla="*/ 1390648 h 6857999"/>
              <a:gd name="connsiteX131" fmla="*/ 8637806 w 12191998"/>
              <a:gd name="connsiteY131" fmla="*/ 1826076 h 6857999"/>
              <a:gd name="connsiteX132" fmla="*/ 9232893 w 12191998"/>
              <a:gd name="connsiteY132" fmla="*/ 1826076 h 6857999"/>
              <a:gd name="connsiteX133" fmla="*/ 9450607 w 12191998"/>
              <a:gd name="connsiteY133" fmla="*/ 1390648 h 6857999"/>
              <a:gd name="connsiteX134" fmla="*/ 9232893 w 12191998"/>
              <a:gd name="connsiteY134" fmla="*/ 955219 h 6857999"/>
              <a:gd name="connsiteX135" fmla="*/ 10420350 w 12191998"/>
              <a:gd name="connsiteY135" fmla="*/ 928914 h 6857999"/>
              <a:gd name="connsiteX136" fmla="*/ 10202636 w 12191998"/>
              <a:gd name="connsiteY136" fmla="*/ 1364343 h 6857999"/>
              <a:gd name="connsiteX137" fmla="*/ 10420350 w 12191998"/>
              <a:gd name="connsiteY137" fmla="*/ 1799771 h 6857999"/>
              <a:gd name="connsiteX138" fmla="*/ 11015437 w 12191998"/>
              <a:gd name="connsiteY138" fmla="*/ 1799771 h 6857999"/>
              <a:gd name="connsiteX139" fmla="*/ 11233151 w 12191998"/>
              <a:gd name="connsiteY139" fmla="*/ 1364343 h 6857999"/>
              <a:gd name="connsiteX140" fmla="*/ 11015437 w 12191998"/>
              <a:gd name="connsiteY140" fmla="*/ 928914 h 6857999"/>
              <a:gd name="connsiteX141" fmla="*/ 7737920 w 12191998"/>
              <a:gd name="connsiteY141" fmla="*/ 498925 h 6857999"/>
              <a:gd name="connsiteX142" fmla="*/ 7520206 w 12191998"/>
              <a:gd name="connsiteY142" fmla="*/ 934354 h 6857999"/>
              <a:gd name="connsiteX143" fmla="*/ 7737920 w 12191998"/>
              <a:gd name="connsiteY143" fmla="*/ 1369782 h 6857999"/>
              <a:gd name="connsiteX144" fmla="*/ 8333007 w 12191998"/>
              <a:gd name="connsiteY144" fmla="*/ 1369782 h 6857999"/>
              <a:gd name="connsiteX145" fmla="*/ 8550721 w 12191998"/>
              <a:gd name="connsiteY145" fmla="*/ 934354 h 6857999"/>
              <a:gd name="connsiteX146" fmla="*/ 8333007 w 12191998"/>
              <a:gd name="connsiteY146" fmla="*/ 498925 h 6857999"/>
              <a:gd name="connsiteX147" fmla="*/ 11311159 w 12191998"/>
              <a:gd name="connsiteY147" fmla="*/ 464456 h 6857999"/>
              <a:gd name="connsiteX148" fmla="*/ 11093445 w 12191998"/>
              <a:gd name="connsiteY148" fmla="*/ 899885 h 6857999"/>
              <a:gd name="connsiteX149" fmla="*/ 11311159 w 12191998"/>
              <a:gd name="connsiteY149" fmla="*/ 1335313 h 6857999"/>
              <a:gd name="connsiteX150" fmla="*/ 11906246 w 12191998"/>
              <a:gd name="connsiteY150" fmla="*/ 1335313 h 6857999"/>
              <a:gd name="connsiteX151" fmla="*/ 12123960 w 12191998"/>
              <a:gd name="connsiteY151" fmla="*/ 899885 h 6857999"/>
              <a:gd name="connsiteX152" fmla="*/ 11906246 w 12191998"/>
              <a:gd name="connsiteY152" fmla="*/ 464456 h 6857999"/>
              <a:gd name="connsiteX153" fmla="*/ 9529541 w 12191998"/>
              <a:gd name="connsiteY153" fmla="*/ 464456 h 6857999"/>
              <a:gd name="connsiteX154" fmla="*/ 9311827 w 12191998"/>
              <a:gd name="connsiteY154" fmla="*/ 899885 h 6857999"/>
              <a:gd name="connsiteX155" fmla="*/ 9529541 w 12191998"/>
              <a:gd name="connsiteY155" fmla="*/ 1335313 h 6857999"/>
              <a:gd name="connsiteX156" fmla="*/ 10124628 w 12191998"/>
              <a:gd name="connsiteY156" fmla="*/ 1335313 h 6857999"/>
              <a:gd name="connsiteX157" fmla="*/ 10342342 w 12191998"/>
              <a:gd name="connsiteY157" fmla="*/ 899885 h 6857999"/>
              <a:gd name="connsiteX158" fmla="*/ 10124628 w 12191998"/>
              <a:gd name="connsiteY158" fmla="*/ 464456 h 6857999"/>
              <a:gd name="connsiteX159" fmla="*/ 6848570 w 12191998"/>
              <a:gd name="connsiteY159" fmla="*/ 80508 h 6857999"/>
              <a:gd name="connsiteX160" fmla="*/ 6639362 w 12191998"/>
              <a:gd name="connsiteY160" fmla="*/ 498925 h 6857999"/>
              <a:gd name="connsiteX161" fmla="*/ 6848570 w 12191998"/>
              <a:gd name="connsiteY161" fmla="*/ 917341 h 6857999"/>
              <a:gd name="connsiteX162" fmla="*/ 7428929 w 12191998"/>
              <a:gd name="connsiteY162" fmla="*/ 917341 h 6857999"/>
              <a:gd name="connsiteX163" fmla="*/ 7638137 w 12191998"/>
              <a:gd name="connsiteY163" fmla="*/ 498925 h 6857999"/>
              <a:gd name="connsiteX164" fmla="*/ 7428929 w 12191998"/>
              <a:gd name="connsiteY164" fmla="*/ 80508 h 6857999"/>
              <a:gd name="connsiteX165" fmla="*/ 0 w 12191998"/>
              <a:gd name="connsiteY165" fmla="*/ 0 h 6857999"/>
              <a:gd name="connsiteX166" fmla="*/ 7539706 w 12191998"/>
              <a:gd name="connsiteY166" fmla="*/ 0 h 6857999"/>
              <a:gd name="connsiteX167" fmla="*/ 7748914 w 12191998"/>
              <a:gd name="connsiteY167" fmla="*/ 418416 h 6857999"/>
              <a:gd name="connsiteX168" fmla="*/ 8329273 w 12191998"/>
              <a:gd name="connsiteY168" fmla="*/ 418416 h 6857999"/>
              <a:gd name="connsiteX169" fmla="*/ 8538481 w 12191998"/>
              <a:gd name="connsiteY169" fmla="*/ 0 h 6857999"/>
              <a:gd name="connsiteX170" fmla="*/ 8661040 w 12191998"/>
              <a:gd name="connsiteY170" fmla="*/ 0 h 6857999"/>
              <a:gd name="connsiteX171" fmla="*/ 8451832 w 12191998"/>
              <a:gd name="connsiteY171" fmla="*/ 418417 h 6857999"/>
              <a:gd name="connsiteX172" fmla="*/ 8661040 w 12191998"/>
              <a:gd name="connsiteY172" fmla="*/ 836833 h 6857999"/>
              <a:gd name="connsiteX173" fmla="*/ 9241399 w 12191998"/>
              <a:gd name="connsiteY173" fmla="*/ 836833 h 6857999"/>
              <a:gd name="connsiteX174" fmla="*/ 9450607 w 12191998"/>
              <a:gd name="connsiteY174" fmla="*/ 418417 h 6857999"/>
              <a:gd name="connsiteX175" fmla="*/ 9241399 w 12191998"/>
              <a:gd name="connsiteY175" fmla="*/ 0 h 6857999"/>
              <a:gd name="connsiteX176" fmla="*/ 9389933 w 12191998"/>
              <a:gd name="connsiteY176" fmla="*/ 0 h 6857999"/>
              <a:gd name="connsiteX177" fmla="*/ 9561384 w 12191998"/>
              <a:gd name="connsiteY177" fmla="*/ 342902 h 6857999"/>
              <a:gd name="connsiteX178" fmla="*/ 10141743 w 12191998"/>
              <a:gd name="connsiteY178" fmla="*/ 342902 h 6857999"/>
              <a:gd name="connsiteX179" fmla="*/ 10313194 w 12191998"/>
              <a:gd name="connsiteY179" fmla="*/ 0 h 6857999"/>
              <a:gd name="connsiteX180" fmla="*/ 10420351 w 12191998"/>
              <a:gd name="connsiteY180" fmla="*/ 0 h 6857999"/>
              <a:gd name="connsiteX181" fmla="*/ 10202637 w 12191998"/>
              <a:gd name="connsiteY181" fmla="*/ 435429 h 6857999"/>
              <a:gd name="connsiteX182" fmla="*/ 10420351 w 12191998"/>
              <a:gd name="connsiteY182" fmla="*/ 870857 h 6857999"/>
              <a:gd name="connsiteX183" fmla="*/ 11015438 w 12191998"/>
              <a:gd name="connsiteY183" fmla="*/ 870857 h 6857999"/>
              <a:gd name="connsiteX184" fmla="*/ 11233152 w 12191998"/>
              <a:gd name="connsiteY184" fmla="*/ 435429 h 6857999"/>
              <a:gd name="connsiteX185" fmla="*/ 11015438 w 12191998"/>
              <a:gd name="connsiteY185" fmla="*/ 0 h 6857999"/>
              <a:gd name="connsiteX186" fmla="*/ 11105729 w 12191998"/>
              <a:gd name="connsiteY186" fmla="*/ 0 h 6857999"/>
              <a:gd name="connsiteX187" fmla="*/ 11295832 w 12191998"/>
              <a:gd name="connsiteY187" fmla="*/ 380206 h 6857999"/>
              <a:gd name="connsiteX188" fmla="*/ 11876191 w 12191998"/>
              <a:gd name="connsiteY188" fmla="*/ 380206 h 6857999"/>
              <a:gd name="connsiteX189" fmla="*/ 12066294 w 12191998"/>
              <a:gd name="connsiteY189" fmla="*/ 0 h 6857999"/>
              <a:gd name="connsiteX190" fmla="*/ 12191998 w 12191998"/>
              <a:gd name="connsiteY190" fmla="*/ 0 h 6857999"/>
              <a:gd name="connsiteX191" fmla="*/ 12191998 w 12191998"/>
              <a:gd name="connsiteY191" fmla="*/ 5552622 h 6857999"/>
              <a:gd name="connsiteX192" fmla="*/ 12030520 w 12191998"/>
              <a:gd name="connsiteY192" fmla="*/ 5229665 h 6857999"/>
              <a:gd name="connsiteX193" fmla="*/ 11435433 w 12191998"/>
              <a:gd name="connsiteY193" fmla="*/ 5229665 h 6857999"/>
              <a:gd name="connsiteX194" fmla="*/ 11217719 w 12191998"/>
              <a:gd name="connsiteY194" fmla="*/ 5665094 h 6857999"/>
              <a:gd name="connsiteX195" fmla="*/ 11435433 w 12191998"/>
              <a:gd name="connsiteY195" fmla="*/ 6100522 h 6857999"/>
              <a:gd name="connsiteX196" fmla="*/ 12030520 w 12191998"/>
              <a:gd name="connsiteY196" fmla="*/ 6100522 h 6857999"/>
              <a:gd name="connsiteX197" fmla="*/ 12191998 w 12191998"/>
              <a:gd name="connsiteY197" fmla="*/ 5777566 h 6857999"/>
              <a:gd name="connsiteX198" fmla="*/ 12191998 w 12191998"/>
              <a:gd name="connsiteY198" fmla="*/ 6492423 h 6857999"/>
              <a:gd name="connsiteX199" fmla="*/ 12030520 w 12191998"/>
              <a:gd name="connsiteY199" fmla="*/ 6169466 h 6857999"/>
              <a:gd name="connsiteX200" fmla="*/ 11435433 w 12191998"/>
              <a:gd name="connsiteY200" fmla="*/ 6169466 h 6857999"/>
              <a:gd name="connsiteX201" fmla="*/ 11217719 w 12191998"/>
              <a:gd name="connsiteY201" fmla="*/ 6604895 h 6857999"/>
              <a:gd name="connsiteX202" fmla="*/ 11344271 w 12191998"/>
              <a:gd name="connsiteY202" fmla="*/ 6857999 h 6857999"/>
              <a:gd name="connsiteX203" fmla="*/ 11252199 w 12191998"/>
              <a:gd name="connsiteY203" fmla="*/ 6857999 h 6857999"/>
              <a:gd name="connsiteX204" fmla="*/ 11163293 w 12191998"/>
              <a:gd name="connsiteY204" fmla="*/ 6680187 h 6857999"/>
              <a:gd name="connsiteX205" fmla="*/ 10568206 w 12191998"/>
              <a:gd name="connsiteY205" fmla="*/ 6680187 h 6857999"/>
              <a:gd name="connsiteX206" fmla="*/ 10479300 w 12191998"/>
              <a:gd name="connsiteY206" fmla="*/ 6857999 h 6857999"/>
              <a:gd name="connsiteX207" fmla="*/ 10409450 w 12191998"/>
              <a:gd name="connsiteY207" fmla="*/ 6857999 h 6857999"/>
              <a:gd name="connsiteX208" fmla="*/ 10493822 w 12191998"/>
              <a:gd name="connsiteY208" fmla="*/ 6689256 h 6857999"/>
              <a:gd name="connsiteX209" fmla="*/ 10276108 w 12191998"/>
              <a:gd name="connsiteY209" fmla="*/ 6253827 h 6857999"/>
              <a:gd name="connsiteX210" fmla="*/ 9681021 w 12191998"/>
              <a:gd name="connsiteY210" fmla="*/ 6253827 h 6857999"/>
              <a:gd name="connsiteX211" fmla="*/ 9463307 w 12191998"/>
              <a:gd name="connsiteY211" fmla="*/ 6689256 h 6857999"/>
              <a:gd name="connsiteX212" fmla="*/ 9547678 w 12191998"/>
              <a:gd name="connsiteY212" fmla="*/ 6857999 h 6857999"/>
              <a:gd name="connsiteX213" fmla="*/ 0 w 12191998"/>
              <a:gd name="connsiteY21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12191998" h="6857999">
                <a:moveTo>
                  <a:pt x="12191998" y="6717367"/>
                </a:moveTo>
                <a:lnTo>
                  <a:pt x="12191998" y="6857999"/>
                </a:lnTo>
                <a:lnTo>
                  <a:pt x="12121682" y="6857999"/>
                </a:lnTo>
                <a:close/>
                <a:moveTo>
                  <a:pt x="10568207" y="5713172"/>
                </a:moveTo>
                <a:lnTo>
                  <a:pt x="10350493" y="6148601"/>
                </a:lnTo>
                <a:lnTo>
                  <a:pt x="10568207" y="6584029"/>
                </a:lnTo>
                <a:lnTo>
                  <a:pt x="11163294" y="6584029"/>
                </a:lnTo>
                <a:lnTo>
                  <a:pt x="11381008" y="6148601"/>
                </a:lnTo>
                <a:lnTo>
                  <a:pt x="11163294" y="5713172"/>
                </a:lnTo>
                <a:close/>
                <a:moveTo>
                  <a:pt x="9668321" y="5277745"/>
                </a:moveTo>
                <a:lnTo>
                  <a:pt x="9450607" y="5713174"/>
                </a:lnTo>
                <a:lnTo>
                  <a:pt x="9668321" y="6148602"/>
                </a:lnTo>
                <a:lnTo>
                  <a:pt x="10263408" y="6148602"/>
                </a:lnTo>
                <a:lnTo>
                  <a:pt x="10481122" y="5713174"/>
                </a:lnTo>
                <a:lnTo>
                  <a:pt x="10263408" y="5277745"/>
                </a:lnTo>
                <a:close/>
                <a:moveTo>
                  <a:pt x="10535547" y="4773371"/>
                </a:moveTo>
                <a:lnTo>
                  <a:pt x="10317833" y="5208800"/>
                </a:lnTo>
                <a:lnTo>
                  <a:pt x="10535547" y="5644228"/>
                </a:lnTo>
                <a:lnTo>
                  <a:pt x="11130634" y="5644228"/>
                </a:lnTo>
                <a:lnTo>
                  <a:pt x="11348348" y="5208800"/>
                </a:lnTo>
                <a:lnTo>
                  <a:pt x="11130634" y="4773371"/>
                </a:lnTo>
                <a:close/>
                <a:moveTo>
                  <a:pt x="9570350" y="4293501"/>
                </a:moveTo>
                <a:lnTo>
                  <a:pt x="9352636" y="4728930"/>
                </a:lnTo>
                <a:lnTo>
                  <a:pt x="9570350" y="5164358"/>
                </a:lnTo>
                <a:lnTo>
                  <a:pt x="10165437" y="5164358"/>
                </a:lnTo>
                <a:lnTo>
                  <a:pt x="10383151" y="4728930"/>
                </a:lnTo>
                <a:lnTo>
                  <a:pt x="10165437" y="4293501"/>
                </a:lnTo>
                <a:close/>
                <a:moveTo>
                  <a:pt x="11373854" y="4270358"/>
                </a:moveTo>
                <a:lnTo>
                  <a:pt x="11164646" y="4688775"/>
                </a:lnTo>
                <a:lnTo>
                  <a:pt x="11373854" y="5107191"/>
                </a:lnTo>
                <a:lnTo>
                  <a:pt x="11954213" y="5107191"/>
                </a:lnTo>
                <a:lnTo>
                  <a:pt x="12163421" y="4688775"/>
                </a:lnTo>
                <a:lnTo>
                  <a:pt x="11954213" y="4270358"/>
                </a:lnTo>
                <a:close/>
                <a:moveTo>
                  <a:pt x="8683165" y="3867141"/>
                </a:moveTo>
                <a:lnTo>
                  <a:pt x="8465451" y="4302570"/>
                </a:lnTo>
                <a:lnTo>
                  <a:pt x="8683165" y="4737998"/>
                </a:lnTo>
                <a:lnTo>
                  <a:pt x="9278252" y="4737998"/>
                </a:lnTo>
                <a:lnTo>
                  <a:pt x="9495966" y="4302570"/>
                </a:lnTo>
                <a:lnTo>
                  <a:pt x="9278252" y="3867141"/>
                </a:lnTo>
                <a:close/>
                <a:moveTo>
                  <a:pt x="10437577" y="3782780"/>
                </a:moveTo>
                <a:lnTo>
                  <a:pt x="10219863" y="4218209"/>
                </a:lnTo>
                <a:lnTo>
                  <a:pt x="10437577" y="4653637"/>
                </a:lnTo>
                <a:lnTo>
                  <a:pt x="11032664" y="4653637"/>
                </a:lnTo>
                <a:lnTo>
                  <a:pt x="11250378" y="4218209"/>
                </a:lnTo>
                <a:lnTo>
                  <a:pt x="11032664" y="3782780"/>
                </a:lnTo>
                <a:close/>
                <a:moveTo>
                  <a:pt x="11339835" y="3357104"/>
                </a:moveTo>
                <a:lnTo>
                  <a:pt x="11130627" y="3775521"/>
                </a:lnTo>
                <a:lnTo>
                  <a:pt x="11339835" y="4193937"/>
                </a:lnTo>
                <a:lnTo>
                  <a:pt x="11920194" y="4193937"/>
                </a:lnTo>
                <a:lnTo>
                  <a:pt x="12129402" y="3775521"/>
                </a:lnTo>
                <a:lnTo>
                  <a:pt x="11920194" y="3357104"/>
                </a:lnTo>
                <a:close/>
                <a:moveTo>
                  <a:pt x="9570351" y="3326486"/>
                </a:moveTo>
                <a:lnTo>
                  <a:pt x="9352637" y="3761915"/>
                </a:lnTo>
                <a:lnTo>
                  <a:pt x="9570351" y="4197343"/>
                </a:lnTo>
                <a:lnTo>
                  <a:pt x="10165438" y="4197343"/>
                </a:lnTo>
                <a:lnTo>
                  <a:pt x="10383152" y="3761915"/>
                </a:lnTo>
                <a:lnTo>
                  <a:pt x="10165438" y="3326486"/>
                </a:lnTo>
                <a:close/>
                <a:moveTo>
                  <a:pt x="8670465" y="2891059"/>
                </a:moveTo>
                <a:lnTo>
                  <a:pt x="8452751" y="3326488"/>
                </a:lnTo>
                <a:lnTo>
                  <a:pt x="8670465" y="3761916"/>
                </a:lnTo>
                <a:lnTo>
                  <a:pt x="9265552" y="3761916"/>
                </a:lnTo>
                <a:lnTo>
                  <a:pt x="9483266" y="3326488"/>
                </a:lnTo>
                <a:lnTo>
                  <a:pt x="9265552" y="2891059"/>
                </a:lnTo>
                <a:close/>
                <a:moveTo>
                  <a:pt x="10437577" y="2842980"/>
                </a:moveTo>
                <a:lnTo>
                  <a:pt x="10219863" y="3278409"/>
                </a:lnTo>
                <a:lnTo>
                  <a:pt x="10437577" y="3713836"/>
                </a:lnTo>
                <a:lnTo>
                  <a:pt x="11032664" y="3713836"/>
                </a:lnTo>
                <a:lnTo>
                  <a:pt x="11250378" y="3278409"/>
                </a:lnTo>
                <a:lnTo>
                  <a:pt x="11032664" y="2842980"/>
                </a:lnTo>
                <a:close/>
                <a:moveTo>
                  <a:pt x="7770579" y="2405741"/>
                </a:moveTo>
                <a:lnTo>
                  <a:pt x="7552865" y="2841170"/>
                </a:lnTo>
                <a:lnTo>
                  <a:pt x="7770579" y="3276598"/>
                </a:lnTo>
                <a:lnTo>
                  <a:pt x="8365666" y="3276598"/>
                </a:lnTo>
                <a:lnTo>
                  <a:pt x="8583380" y="2841170"/>
                </a:lnTo>
                <a:lnTo>
                  <a:pt x="8365666" y="2405741"/>
                </a:lnTo>
                <a:close/>
                <a:moveTo>
                  <a:pt x="11314442" y="2400294"/>
                </a:moveTo>
                <a:lnTo>
                  <a:pt x="11105234" y="2818711"/>
                </a:lnTo>
                <a:lnTo>
                  <a:pt x="11314442" y="3237127"/>
                </a:lnTo>
                <a:lnTo>
                  <a:pt x="11894801" y="3237127"/>
                </a:lnTo>
                <a:lnTo>
                  <a:pt x="12104009" y="2818711"/>
                </a:lnTo>
                <a:lnTo>
                  <a:pt x="11894801" y="2400294"/>
                </a:lnTo>
                <a:close/>
                <a:moveTo>
                  <a:pt x="9537691" y="2386686"/>
                </a:moveTo>
                <a:lnTo>
                  <a:pt x="9319977" y="2822114"/>
                </a:lnTo>
                <a:lnTo>
                  <a:pt x="9537691" y="3257543"/>
                </a:lnTo>
                <a:lnTo>
                  <a:pt x="10132778" y="3257543"/>
                </a:lnTo>
                <a:lnTo>
                  <a:pt x="10350492" y="2822114"/>
                </a:lnTo>
                <a:lnTo>
                  <a:pt x="10132778" y="2386686"/>
                </a:lnTo>
                <a:close/>
                <a:moveTo>
                  <a:pt x="6883394" y="1979381"/>
                </a:moveTo>
                <a:lnTo>
                  <a:pt x="6665680" y="2414810"/>
                </a:lnTo>
                <a:lnTo>
                  <a:pt x="6883394" y="2850238"/>
                </a:lnTo>
                <a:lnTo>
                  <a:pt x="7478481" y="2850238"/>
                </a:lnTo>
                <a:lnTo>
                  <a:pt x="7696195" y="2414810"/>
                </a:lnTo>
                <a:lnTo>
                  <a:pt x="7478481" y="1979381"/>
                </a:lnTo>
                <a:close/>
                <a:moveTo>
                  <a:pt x="8637806" y="1895020"/>
                </a:moveTo>
                <a:lnTo>
                  <a:pt x="8420092" y="2330448"/>
                </a:lnTo>
                <a:lnTo>
                  <a:pt x="8637806" y="2765877"/>
                </a:lnTo>
                <a:lnTo>
                  <a:pt x="9232893" y="2765877"/>
                </a:lnTo>
                <a:lnTo>
                  <a:pt x="9450607" y="2330448"/>
                </a:lnTo>
                <a:lnTo>
                  <a:pt x="9232893" y="1895020"/>
                </a:lnTo>
                <a:close/>
                <a:moveTo>
                  <a:pt x="10420350" y="1872340"/>
                </a:moveTo>
                <a:lnTo>
                  <a:pt x="10202636" y="2307769"/>
                </a:lnTo>
                <a:lnTo>
                  <a:pt x="10420350" y="2743196"/>
                </a:lnTo>
                <a:lnTo>
                  <a:pt x="11015437" y="2743196"/>
                </a:lnTo>
                <a:lnTo>
                  <a:pt x="11233151" y="2307769"/>
                </a:lnTo>
                <a:lnTo>
                  <a:pt x="11015437" y="1872340"/>
                </a:lnTo>
                <a:close/>
                <a:moveTo>
                  <a:pt x="7770580" y="1438726"/>
                </a:moveTo>
                <a:lnTo>
                  <a:pt x="7552866" y="1874155"/>
                </a:lnTo>
                <a:lnTo>
                  <a:pt x="7770580" y="2309582"/>
                </a:lnTo>
                <a:lnTo>
                  <a:pt x="8365667" y="2309582"/>
                </a:lnTo>
                <a:lnTo>
                  <a:pt x="8583381" y="1874155"/>
                </a:lnTo>
                <a:lnTo>
                  <a:pt x="8365667" y="1438726"/>
                </a:lnTo>
                <a:close/>
                <a:moveTo>
                  <a:pt x="11286671" y="1422399"/>
                </a:moveTo>
                <a:lnTo>
                  <a:pt x="11068957" y="1857828"/>
                </a:lnTo>
                <a:lnTo>
                  <a:pt x="11286671" y="2293255"/>
                </a:lnTo>
                <a:lnTo>
                  <a:pt x="11881758" y="2293255"/>
                </a:lnTo>
                <a:lnTo>
                  <a:pt x="12099472" y="1857828"/>
                </a:lnTo>
                <a:lnTo>
                  <a:pt x="11881758" y="1422399"/>
                </a:lnTo>
                <a:close/>
                <a:moveTo>
                  <a:pt x="9524097" y="1422399"/>
                </a:moveTo>
                <a:lnTo>
                  <a:pt x="9306383" y="1857828"/>
                </a:lnTo>
                <a:lnTo>
                  <a:pt x="9524097" y="2293255"/>
                </a:lnTo>
                <a:lnTo>
                  <a:pt x="10119184" y="2293255"/>
                </a:lnTo>
                <a:lnTo>
                  <a:pt x="10336898" y="1857828"/>
                </a:lnTo>
                <a:lnTo>
                  <a:pt x="10119184" y="1422399"/>
                </a:lnTo>
                <a:close/>
                <a:moveTo>
                  <a:pt x="6870694" y="1003299"/>
                </a:moveTo>
                <a:lnTo>
                  <a:pt x="6652980" y="1438728"/>
                </a:lnTo>
                <a:lnTo>
                  <a:pt x="6870694" y="1874156"/>
                </a:lnTo>
                <a:lnTo>
                  <a:pt x="7465781" y="1874156"/>
                </a:lnTo>
                <a:lnTo>
                  <a:pt x="7683495" y="1438728"/>
                </a:lnTo>
                <a:lnTo>
                  <a:pt x="7465781" y="1003299"/>
                </a:lnTo>
                <a:close/>
                <a:moveTo>
                  <a:pt x="8637806" y="955219"/>
                </a:moveTo>
                <a:lnTo>
                  <a:pt x="8420092" y="1390648"/>
                </a:lnTo>
                <a:lnTo>
                  <a:pt x="8637806" y="1826076"/>
                </a:lnTo>
                <a:lnTo>
                  <a:pt x="9232893" y="1826076"/>
                </a:lnTo>
                <a:lnTo>
                  <a:pt x="9450607" y="1390648"/>
                </a:lnTo>
                <a:lnTo>
                  <a:pt x="9232893" y="955219"/>
                </a:lnTo>
                <a:close/>
                <a:moveTo>
                  <a:pt x="10420350" y="928914"/>
                </a:moveTo>
                <a:lnTo>
                  <a:pt x="10202636" y="1364343"/>
                </a:lnTo>
                <a:lnTo>
                  <a:pt x="10420350" y="1799771"/>
                </a:lnTo>
                <a:lnTo>
                  <a:pt x="11015437" y="1799771"/>
                </a:lnTo>
                <a:lnTo>
                  <a:pt x="11233151" y="1364343"/>
                </a:lnTo>
                <a:lnTo>
                  <a:pt x="11015437" y="928914"/>
                </a:lnTo>
                <a:close/>
                <a:moveTo>
                  <a:pt x="7737920" y="498925"/>
                </a:moveTo>
                <a:lnTo>
                  <a:pt x="7520206" y="934354"/>
                </a:lnTo>
                <a:lnTo>
                  <a:pt x="7737920" y="1369782"/>
                </a:lnTo>
                <a:lnTo>
                  <a:pt x="8333007" y="1369782"/>
                </a:lnTo>
                <a:lnTo>
                  <a:pt x="8550721" y="934354"/>
                </a:lnTo>
                <a:lnTo>
                  <a:pt x="8333007" y="498925"/>
                </a:lnTo>
                <a:close/>
                <a:moveTo>
                  <a:pt x="11311159" y="464456"/>
                </a:moveTo>
                <a:lnTo>
                  <a:pt x="11093445" y="899885"/>
                </a:lnTo>
                <a:lnTo>
                  <a:pt x="11311159" y="1335313"/>
                </a:lnTo>
                <a:lnTo>
                  <a:pt x="11906246" y="1335313"/>
                </a:lnTo>
                <a:lnTo>
                  <a:pt x="12123960" y="899885"/>
                </a:lnTo>
                <a:lnTo>
                  <a:pt x="11906246" y="464456"/>
                </a:lnTo>
                <a:close/>
                <a:moveTo>
                  <a:pt x="9529541" y="464456"/>
                </a:moveTo>
                <a:lnTo>
                  <a:pt x="9311827" y="899885"/>
                </a:lnTo>
                <a:lnTo>
                  <a:pt x="9529541" y="1335313"/>
                </a:lnTo>
                <a:lnTo>
                  <a:pt x="10124628" y="1335313"/>
                </a:lnTo>
                <a:lnTo>
                  <a:pt x="10342342" y="899885"/>
                </a:lnTo>
                <a:lnTo>
                  <a:pt x="10124628" y="464456"/>
                </a:lnTo>
                <a:close/>
                <a:moveTo>
                  <a:pt x="6848570" y="80508"/>
                </a:moveTo>
                <a:lnTo>
                  <a:pt x="6639362" y="498925"/>
                </a:lnTo>
                <a:lnTo>
                  <a:pt x="6848570" y="917341"/>
                </a:lnTo>
                <a:lnTo>
                  <a:pt x="7428929" y="917341"/>
                </a:lnTo>
                <a:lnTo>
                  <a:pt x="7638137" y="498925"/>
                </a:lnTo>
                <a:lnTo>
                  <a:pt x="7428929" y="80508"/>
                </a:lnTo>
                <a:close/>
                <a:moveTo>
                  <a:pt x="0" y="0"/>
                </a:moveTo>
                <a:lnTo>
                  <a:pt x="7539706" y="0"/>
                </a:lnTo>
                <a:lnTo>
                  <a:pt x="7748914" y="418416"/>
                </a:lnTo>
                <a:lnTo>
                  <a:pt x="8329273" y="418416"/>
                </a:lnTo>
                <a:lnTo>
                  <a:pt x="8538481" y="0"/>
                </a:lnTo>
                <a:lnTo>
                  <a:pt x="8661040" y="0"/>
                </a:lnTo>
                <a:lnTo>
                  <a:pt x="8451832" y="418417"/>
                </a:lnTo>
                <a:lnTo>
                  <a:pt x="8661040" y="836833"/>
                </a:lnTo>
                <a:lnTo>
                  <a:pt x="9241399" y="836833"/>
                </a:lnTo>
                <a:lnTo>
                  <a:pt x="9450607" y="418417"/>
                </a:lnTo>
                <a:lnTo>
                  <a:pt x="9241399" y="0"/>
                </a:lnTo>
                <a:lnTo>
                  <a:pt x="9389933" y="0"/>
                </a:lnTo>
                <a:lnTo>
                  <a:pt x="9561384" y="342902"/>
                </a:lnTo>
                <a:lnTo>
                  <a:pt x="10141743" y="342902"/>
                </a:lnTo>
                <a:lnTo>
                  <a:pt x="10313194" y="0"/>
                </a:lnTo>
                <a:lnTo>
                  <a:pt x="10420351" y="0"/>
                </a:lnTo>
                <a:lnTo>
                  <a:pt x="10202637" y="435429"/>
                </a:lnTo>
                <a:lnTo>
                  <a:pt x="10420351" y="870857"/>
                </a:lnTo>
                <a:lnTo>
                  <a:pt x="11015438" y="870857"/>
                </a:lnTo>
                <a:lnTo>
                  <a:pt x="11233152" y="435429"/>
                </a:lnTo>
                <a:lnTo>
                  <a:pt x="11015438" y="0"/>
                </a:lnTo>
                <a:lnTo>
                  <a:pt x="11105729" y="0"/>
                </a:lnTo>
                <a:lnTo>
                  <a:pt x="11295832" y="380206"/>
                </a:lnTo>
                <a:lnTo>
                  <a:pt x="11876191" y="380206"/>
                </a:lnTo>
                <a:lnTo>
                  <a:pt x="12066294" y="0"/>
                </a:lnTo>
                <a:lnTo>
                  <a:pt x="12191998" y="0"/>
                </a:lnTo>
                <a:lnTo>
                  <a:pt x="12191998" y="5552622"/>
                </a:lnTo>
                <a:lnTo>
                  <a:pt x="12030520" y="5229665"/>
                </a:lnTo>
                <a:lnTo>
                  <a:pt x="11435433" y="5229665"/>
                </a:lnTo>
                <a:lnTo>
                  <a:pt x="11217719" y="5665094"/>
                </a:lnTo>
                <a:lnTo>
                  <a:pt x="11435433" y="6100522"/>
                </a:lnTo>
                <a:lnTo>
                  <a:pt x="12030520" y="6100522"/>
                </a:lnTo>
                <a:lnTo>
                  <a:pt x="12191998" y="5777566"/>
                </a:lnTo>
                <a:lnTo>
                  <a:pt x="12191998" y="6492423"/>
                </a:lnTo>
                <a:lnTo>
                  <a:pt x="12030520" y="6169466"/>
                </a:lnTo>
                <a:lnTo>
                  <a:pt x="11435433" y="6169466"/>
                </a:lnTo>
                <a:lnTo>
                  <a:pt x="11217719" y="6604895"/>
                </a:lnTo>
                <a:lnTo>
                  <a:pt x="11344271" y="6857999"/>
                </a:lnTo>
                <a:lnTo>
                  <a:pt x="11252199" y="6857999"/>
                </a:lnTo>
                <a:lnTo>
                  <a:pt x="11163293" y="6680187"/>
                </a:lnTo>
                <a:lnTo>
                  <a:pt x="10568206" y="6680187"/>
                </a:lnTo>
                <a:lnTo>
                  <a:pt x="10479300" y="6857999"/>
                </a:lnTo>
                <a:lnTo>
                  <a:pt x="10409450" y="6857999"/>
                </a:lnTo>
                <a:lnTo>
                  <a:pt x="10493822" y="6689256"/>
                </a:lnTo>
                <a:lnTo>
                  <a:pt x="10276108" y="6253827"/>
                </a:lnTo>
                <a:lnTo>
                  <a:pt x="9681021" y="6253827"/>
                </a:lnTo>
                <a:lnTo>
                  <a:pt x="9463307" y="6689256"/>
                </a:lnTo>
                <a:lnTo>
                  <a:pt x="9547678" y="6857999"/>
                </a:lnTo>
                <a:lnTo>
                  <a:pt x="0" y="6857999"/>
                </a:lnTo>
                <a:close/>
              </a:path>
            </a:pathLst>
          </a:custGeom>
          <a:gradFill>
            <a:gsLst>
              <a:gs pos="0">
                <a:schemeClr val="accent5"/>
              </a:gs>
              <a:gs pos="48000">
                <a:schemeClr val="accent4"/>
              </a:gs>
              <a:gs pos="100000">
                <a:schemeClr val="accent2"/>
              </a:gs>
            </a:gsLst>
            <a:lin ang="2698631" scaled="0"/>
          </a:gra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TextBox 5"/>
          <p:cNvSpPr txBox="1"/>
          <p:nvPr/>
        </p:nvSpPr>
        <p:spPr>
          <a:xfrm>
            <a:off x="123350" y="318499"/>
            <a:ext cx="4787697" cy="46166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solidFill>
                  <a:schemeClr val="tx1"/>
                </a:solidFill>
                <a:effectLst>
                  <a:outerShdw blurRad="38100" dist="38100" dir="2700000" algn="tl">
                    <a:srgbClr val="000000">
                      <a:alpha val="43137"/>
                    </a:srgbClr>
                  </a:outerShdw>
                </a:effectLst>
              </a:rPr>
              <a:t>Example of </a:t>
            </a:r>
            <a:r>
              <a:rPr lang="en-US" sz="2400" dirty="0">
                <a:solidFill>
                  <a:srgbClr val="FFFF00"/>
                </a:solidFill>
                <a:effectLst>
                  <a:outerShdw blurRad="38100" dist="38100" dir="2700000" algn="tl">
                    <a:srgbClr val="000000">
                      <a:alpha val="43137"/>
                    </a:srgbClr>
                  </a:outerShdw>
                </a:effectLst>
              </a:rPr>
              <a:t>Unsafe State</a:t>
            </a:r>
            <a:endParaRPr lang="en-US" sz="2400" dirty="0">
              <a:solidFill>
                <a:srgbClr val="FFFF00"/>
              </a:solidFill>
              <a:effectLst>
                <a:outerShdw blurRad="38100" dist="38100" dir="2700000" algn="tl">
                  <a:srgbClr val="000000">
                    <a:alpha val="43137"/>
                  </a:srgbClr>
                </a:outerShdw>
              </a:effectLst>
            </a:endParaRPr>
          </a:p>
        </p:txBody>
      </p:sp>
      <p:cxnSp>
        <p:nvCxnSpPr>
          <p:cNvPr id="7" name="Google Shape;321;p33"/>
          <p:cNvCxnSpPr/>
          <p:nvPr/>
        </p:nvCxnSpPr>
        <p:spPr>
          <a:xfrm flipH="1">
            <a:off x="214471" y="848982"/>
            <a:ext cx="3911479" cy="612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471" y="1285875"/>
            <a:ext cx="3922769" cy="314324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8398723"/>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down)">
                                      <p:cBhvr>
                                        <p:cTn id="7" dur="5750"/>
                                        <p:tgtEl>
                                          <p:spTgt spid="3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1500"/>
                                        <p:tgtEl>
                                          <p:spTgt spid="6"/>
                                        </p:tgtEl>
                                      </p:cBhvr>
                                    </p:animEffect>
                                  </p:childTnLst>
                                </p:cTn>
                              </p:par>
                              <p:par>
                                <p:cTn id="11" presetID="6" presetClass="entr" presetSubtype="16"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ircle(in)">
                                      <p:cBhvr>
                                        <p:cTn id="13" dur="2500"/>
                                        <p:tgtEl>
                                          <p:spTgt spid="7"/>
                                        </p:tgtEl>
                                      </p:cBhvr>
                                    </p:animEffect>
                                  </p:childTnLst>
                                </p:cTn>
                              </p:par>
                            </p:childTnLst>
                          </p:cTn>
                        </p:par>
                        <p:par>
                          <p:cTn id="14" fill="hold">
                            <p:stCondLst>
                              <p:cond delay="5750"/>
                            </p:stCondLst>
                            <p:childTnLst>
                              <p:par>
                                <p:cTn id="15" presetID="22" presetClass="entr" presetSubtype="4"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175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 name="Picture 3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89138" y="-78290"/>
            <a:ext cx="7358744" cy="5478965"/>
          </a:xfrm>
          <a:prstGeom prst="rect">
            <a:avLst/>
          </a:prstGeom>
        </p:spPr>
      </p:pic>
      <p:sp>
        <p:nvSpPr>
          <p:cNvPr id="33" name="Freeform 32"/>
          <p:cNvSpPr/>
          <p:nvPr/>
        </p:nvSpPr>
        <p:spPr>
          <a:xfrm>
            <a:off x="1" y="-78290"/>
            <a:ext cx="9143999" cy="5335209"/>
          </a:xfrm>
          <a:custGeom>
            <a:avLst/>
            <a:gdLst>
              <a:gd name="connsiteX0" fmla="*/ 12191998 w 12191998"/>
              <a:gd name="connsiteY0" fmla="*/ 6717367 h 6857999"/>
              <a:gd name="connsiteX1" fmla="*/ 12191998 w 12191998"/>
              <a:gd name="connsiteY1" fmla="*/ 6857999 h 6857999"/>
              <a:gd name="connsiteX2" fmla="*/ 12121682 w 12191998"/>
              <a:gd name="connsiteY2" fmla="*/ 6857999 h 6857999"/>
              <a:gd name="connsiteX3" fmla="*/ 10568207 w 12191998"/>
              <a:gd name="connsiteY3" fmla="*/ 5713172 h 6857999"/>
              <a:gd name="connsiteX4" fmla="*/ 10350493 w 12191998"/>
              <a:gd name="connsiteY4" fmla="*/ 6148601 h 6857999"/>
              <a:gd name="connsiteX5" fmla="*/ 10568207 w 12191998"/>
              <a:gd name="connsiteY5" fmla="*/ 6584029 h 6857999"/>
              <a:gd name="connsiteX6" fmla="*/ 11163294 w 12191998"/>
              <a:gd name="connsiteY6" fmla="*/ 6584029 h 6857999"/>
              <a:gd name="connsiteX7" fmla="*/ 11381008 w 12191998"/>
              <a:gd name="connsiteY7" fmla="*/ 6148601 h 6857999"/>
              <a:gd name="connsiteX8" fmla="*/ 11163294 w 12191998"/>
              <a:gd name="connsiteY8" fmla="*/ 5713172 h 6857999"/>
              <a:gd name="connsiteX9" fmla="*/ 9668321 w 12191998"/>
              <a:gd name="connsiteY9" fmla="*/ 5277745 h 6857999"/>
              <a:gd name="connsiteX10" fmla="*/ 9450607 w 12191998"/>
              <a:gd name="connsiteY10" fmla="*/ 5713174 h 6857999"/>
              <a:gd name="connsiteX11" fmla="*/ 9668321 w 12191998"/>
              <a:gd name="connsiteY11" fmla="*/ 6148602 h 6857999"/>
              <a:gd name="connsiteX12" fmla="*/ 10263408 w 12191998"/>
              <a:gd name="connsiteY12" fmla="*/ 6148602 h 6857999"/>
              <a:gd name="connsiteX13" fmla="*/ 10481122 w 12191998"/>
              <a:gd name="connsiteY13" fmla="*/ 5713174 h 6857999"/>
              <a:gd name="connsiteX14" fmla="*/ 10263408 w 12191998"/>
              <a:gd name="connsiteY14" fmla="*/ 5277745 h 6857999"/>
              <a:gd name="connsiteX15" fmla="*/ 10535547 w 12191998"/>
              <a:gd name="connsiteY15" fmla="*/ 4773371 h 6857999"/>
              <a:gd name="connsiteX16" fmla="*/ 10317833 w 12191998"/>
              <a:gd name="connsiteY16" fmla="*/ 5208800 h 6857999"/>
              <a:gd name="connsiteX17" fmla="*/ 10535547 w 12191998"/>
              <a:gd name="connsiteY17" fmla="*/ 5644228 h 6857999"/>
              <a:gd name="connsiteX18" fmla="*/ 11130634 w 12191998"/>
              <a:gd name="connsiteY18" fmla="*/ 5644228 h 6857999"/>
              <a:gd name="connsiteX19" fmla="*/ 11348348 w 12191998"/>
              <a:gd name="connsiteY19" fmla="*/ 5208800 h 6857999"/>
              <a:gd name="connsiteX20" fmla="*/ 11130634 w 12191998"/>
              <a:gd name="connsiteY20" fmla="*/ 4773371 h 6857999"/>
              <a:gd name="connsiteX21" fmla="*/ 9570350 w 12191998"/>
              <a:gd name="connsiteY21" fmla="*/ 4293501 h 6857999"/>
              <a:gd name="connsiteX22" fmla="*/ 9352636 w 12191998"/>
              <a:gd name="connsiteY22" fmla="*/ 4728930 h 6857999"/>
              <a:gd name="connsiteX23" fmla="*/ 9570350 w 12191998"/>
              <a:gd name="connsiteY23" fmla="*/ 5164358 h 6857999"/>
              <a:gd name="connsiteX24" fmla="*/ 10165437 w 12191998"/>
              <a:gd name="connsiteY24" fmla="*/ 5164358 h 6857999"/>
              <a:gd name="connsiteX25" fmla="*/ 10383151 w 12191998"/>
              <a:gd name="connsiteY25" fmla="*/ 4728930 h 6857999"/>
              <a:gd name="connsiteX26" fmla="*/ 10165437 w 12191998"/>
              <a:gd name="connsiteY26" fmla="*/ 4293501 h 6857999"/>
              <a:gd name="connsiteX27" fmla="*/ 11373854 w 12191998"/>
              <a:gd name="connsiteY27" fmla="*/ 4270358 h 6857999"/>
              <a:gd name="connsiteX28" fmla="*/ 11164646 w 12191998"/>
              <a:gd name="connsiteY28" fmla="*/ 4688775 h 6857999"/>
              <a:gd name="connsiteX29" fmla="*/ 11373854 w 12191998"/>
              <a:gd name="connsiteY29" fmla="*/ 5107191 h 6857999"/>
              <a:gd name="connsiteX30" fmla="*/ 11954213 w 12191998"/>
              <a:gd name="connsiteY30" fmla="*/ 5107191 h 6857999"/>
              <a:gd name="connsiteX31" fmla="*/ 12163421 w 12191998"/>
              <a:gd name="connsiteY31" fmla="*/ 4688775 h 6857999"/>
              <a:gd name="connsiteX32" fmla="*/ 11954213 w 12191998"/>
              <a:gd name="connsiteY32" fmla="*/ 4270358 h 6857999"/>
              <a:gd name="connsiteX33" fmla="*/ 8683165 w 12191998"/>
              <a:gd name="connsiteY33" fmla="*/ 3867141 h 6857999"/>
              <a:gd name="connsiteX34" fmla="*/ 8465451 w 12191998"/>
              <a:gd name="connsiteY34" fmla="*/ 4302570 h 6857999"/>
              <a:gd name="connsiteX35" fmla="*/ 8683165 w 12191998"/>
              <a:gd name="connsiteY35" fmla="*/ 4737998 h 6857999"/>
              <a:gd name="connsiteX36" fmla="*/ 9278252 w 12191998"/>
              <a:gd name="connsiteY36" fmla="*/ 4737998 h 6857999"/>
              <a:gd name="connsiteX37" fmla="*/ 9495966 w 12191998"/>
              <a:gd name="connsiteY37" fmla="*/ 4302570 h 6857999"/>
              <a:gd name="connsiteX38" fmla="*/ 9278252 w 12191998"/>
              <a:gd name="connsiteY38" fmla="*/ 3867141 h 6857999"/>
              <a:gd name="connsiteX39" fmla="*/ 10437577 w 12191998"/>
              <a:gd name="connsiteY39" fmla="*/ 3782780 h 6857999"/>
              <a:gd name="connsiteX40" fmla="*/ 10219863 w 12191998"/>
              <a:gd name="connsiteY40" fmla="*/ 4218209 h 6857999"/>
              <a:gd name="connsiteX41" fmla="*/ 10437577 w 12191998"/>
              <a:gd name="connsiteY41" fmla="*/ 4653637 h 6857999"/>
              <a:gd name="connsiteX42" fmla="*/ 11032664 w 12191998"/>
              <a:gd name="connsiteY42" fmla="*/ 4653637 h 6857999"/>
              <a:gd name="connsiteX43" fmla="*/ 11250378 w 12191998"/>
              <a:gd name="connsiteY43" fmla="*/ 4218209 h 6857999"/>
              <a:gd name="connsiteX44" fmla="*/ 11032664 w 12191998"/>
              <a:gd name="connsiteY44" fmla="*/ 3782780 h 6857999"/>
              <a:gd name="connsiteX45" fmla="*/ 11339835 w 12191998"/>
              <a:gd name="connsiteY45" fmla="*/ 3357104 h 6857999"/>
              <a:gd name="connsiteX46" fmla="*/ 11130627 w 12191998"/>
              <a:gd name="connsiteY46" fmla="*/ 3775521 h 6857999"/>
              <a:gd name="connsiteX47" fmla="*/ 11339835 w 12191998"/>
              <a:gd name="connsiteY47" fmla="*/ 4193937 h 6857999"/>
              <a:gd name="connsiteX48" fmla="*/ 11920194 w 12191998"/>
              <a:gd name="connsiteY48" fmla="*/ 4193937 h 6857999"/>
              <a:gd name="connsiteX49" fmla="*/ 12129402 w 12191998"/>
              <a:gd name="connsiteY49" fmla="*/ 3775521 h 6857999"/>
              <a:gd name="connsiteX50" fmla="*/ 11920194 w 12191998"/>
              <a:gd name="connsiteY50" fmla="*/ 3357104 h 6857999"/>
              <a:gd name="connsiteX51" fmla="*/ 9570351 w 12191998"/>
              <a:gd name="connsiteY51" fmla="*/ 3326486 h 6857999"/>
              <a:gd name="connsiteX52" fmla="*/ 9352637 w 12191998"/>
              <a:gd name="connsiteY52" fmla="*/ 3761915 h 6857999"/>
              <a:gd name="connsiteX53" fmla="*/ 9570351 w 12191998"/>
              <a:gd name="connsiteY53" fmla="*/ 4197343 h 6857999"/>
              <a:gd name="connsiteX54" fmla="*/ 10165438 w 12191998"/>
              <a:gd name="connsiteY54" fmla="*/ 4197343 h 6857999"/>
              <a:gd name="connsiteX55" fmla="*/ 10383152 w 12191998"/>
              <a:gd name="connsiteY55" fmla="*/ 3761915 h 6857999"/>
              <a:gd name="connsiteX56" fmla="*/ 10165438 w 12191998"/>
              <a:gd name="connsiteY56" fmla="*/ 3326486 h 6857999"/>
              <a:gd name="connsiteX57" fmla="*/ 8670465 w 12191998"/>
              <a:gd name="connsiteY57" fmla="*/ 2891059 h 6857999"/>
              <a:gd name="connsiteX58" fmla="*/ 8452751 w 12191998"/>
              <a:gd name="connsiteY58" fmla="*/ 3326488 h 6857999"/>
              <a:gd name="connsiteX59" fmla="*/ 8670465 w 12191998"/>
              <a:gd name="connsiteY59" fmla="*/ 3761916 h 6857999"/>
              <a:gd name="connsiteX60" fmla="*/ 9265552 w 12191998"/>
              <a:gd name="connsiteY60" fmla="*/ 3761916 h 6857999"/>
              <a:gd name="connsiteX61" fmla="*/ 9483266 w 12191998"/>
              <a:gd name="connsiteY61" fmla="*/ 3326488 h 6857999"/>
              <a:gd name="connsiteX62" fmla="*/ 9265552 w 12191998"/>
              <a:gd name="connsiteY62" fmla="*/ 2891059 h 6857999"/>
              <a:gd name="connsiteX63" fmla="*/ 10437577 w 12191998"/>
              <a:gd name="connsiteY63" fmla="*/ 2842980 h 6857999"/>
              <a:gd name="connsiteX64" fmla="*/ 10219863 w 12191998"/>
              <a:gd name="connsiteY64" fmla="*/ 3278409 h 6857999"/>
              <a:gd name="connsiteX65" fmla="*/ 10437577 w 12191998"/>
              <a:gd name="connsiteY65" fmla="*/ 3713836 h 6857999"/>
              <a:gd name="connsiteX66" fmla="*/ 11032664 w 12191998"/>
              <a:gd name="connsiteY66" fmla="*/ 3713836 h 6857999"/>
              <a:gd name="connsiteX67" fmla="*/ 11250378 w 12191998"/>
              <a:gd name="connsiteY67" fmla="*/ 3278409 h 6857999"/>
              <a:gd name="connsiteX68" fmla="*/ 11032664 w 12191998"/>
              <a:gd name="connsiteY68" fmla="*/ 2842980 h 6857999"/>
              <a:gd name="connsiteX69" fmla="*/ 7770579 w 12191998"/>
              <a:gd name="connsiteY69" fmla="*/ 2405741 h 6857999"/>
              <a:gd name="connsiteX70" fmla="*/ 7552865 w 12191998"/>
              <a:gd name="connsiteY70" fmla="*/ 2841170 h 6857999"/>
              <a:gd name="connsiteX71" fmla="*/ 7770579 w 12191998"/>
              <a:gd name="connsiteY71" fmla="*/ 3276598 h 6857999"/>
              <a:gd name="connsiteX72" fmla="*/ 8365666 w 12191998"/>
              <a:gd name="connsiteY72" fmla="*/ 3276598 h 6857999"/>
              <a:gd name="connsiteX73" fmla="*/ 8583380 w 12191998"/>
              <a:gd name="connsiteY73" fmla="*/ 2841170 h 6857999"/>
              <a:gd name="connsiteX74" fmla="*/ 8365666 w 12191998"/>
              <a:gd name="connsiteY74" fmla="*/ 2405741 h 6857999"/>
              <a:gd name="connsiteX75" fmla="*/ 11314442 w 12191998"/>
              <a:gd name="connsiteY75" fmla="*/ 2400294 h 6857999"/>
              <a:gd name="connsiteX76" fmla="*/ 11105234 w 12191998"/>
              <a:gd name="connsiteY76" fmla="*/ 2818711 h 6857999"/>
              <a:gd name="connsiteX77" fmla="*/ 11314442 w 12191998"/>
              <a:gd name="connsiteY77" fmla="*/ 3237127 h 6857999"/>
              <a:gd name="connsiteX78" fmla="*/ 11894801 w 12191998"/>
              <a:gd name="connsiteY78" fmla="*/ 3237127 h 6857999"/>
              <a:gd name="connsiteX79" fmla="*/ 12104009 w 12191998"/>
              <a:gd name="connsiteY79" fmla="*/ 2818711 h 6857999"/>
              <a:gd name="connsiteX80" fmla="*/ 11894801 w 12191998"/>
              <a:gd name="connsiteY80" fmla="*/ 2400294 h 6857999"/>
              <a:gd name="connsiteX81" fmla="*/ 9537691 w 12191998"/>
              <a:gd name="connsiteY81" fmla="*/ 2386686 h 6857999"/>
              <a:gd name="connsiteX82" fmla="*/ 9319977 w 12191998"/>
              <a:gd name="connsiteY82" fmla="*/ 2822114 h 6857999"/>
              <a:gd name="connsiteX83" fmla="*/ 9537691 w 12191998"/>
              <a:gd name="connsiteY83" fmla="*/ 3257543 h 6857999"/>
              <a:gd name="connsiteX84" fmla="*/ 10132778 w 12191998"/>
              <a:gd name="connsiteY84" fmla="*/ 3257543 h 6857999"/>
              <a:gd name="connsiteX85" fmla="*/ 10350492 w 12191998"/>
              <a:gd name="connsiteY85" fmla="*/ 2822114 h 6857999"/>
              <a:gd name="connsiteX86" fmla="*/ 10132778 w 12191998"/>
              <a:gd name="connsiteY86" fmla="*/ 2386686 h 6857999"/>
              <a:gd name="connsiteX87" fmla="*/ 6883394 w 12191998"/>
              <a:gd name="connsiteY87" fmla="*/ 1979381 h 6857999"/>
              <a:gd name="connsiteX88" fmla="*/ 6665680 w 12191998"/>
              <a:gd name="connsiteY88" fmla="*/ 2414810 h 6857999"/>
              <a:gd name="connsiteX89" fmla="*/ 6883394 w 12191998"/>
              <a:gd name="connsiteY89" fmla="*/ 2850238 h 6857999"/>
              <a:gd name="connsiteX90" fmla="*/ 7478481 w 12191998"/>
              <a:gd name="connsiteY90" fmla="*/ 2850238 h 6857999"/>
              <a:gd name="connsiteX91" fmla="*/ 7696195 w 12191998"/>
              <a:gd name="connsiteY91" fmla="*/ 2414810 h 6857999"/>
              <a:gd name="connsiteX92" fmla="*/ 7478481 w 12191998"/>
              <a:gd name="connsiteY92" fmla="*/ 1979381 h 6857999"/>
              <a:gd name="connsiteX93" fmla="*/ 8637806 w 12191998"/>
              <a:gd name="connsiteY93" fmla="*/ 1895020 h 6857999"/>
              <a:gd name="connsiteX94" fmla="*/ 8420092 w 12191998"/>
              <a:gd name="connsiteY94" fmla="*/ 2330448 h 6857999"/>
              <a:gd name="connsiteX95" fmla="*/ 8637806 w 12191998"/>
              <a:gd name="connsiteY95" fmla="*/ 2765877 h 6857999"/>
              <a:gd name="connsiteX96" fmla="*/ 9232893 w 12191998"/>
              <a:gd name="connsiteY96" fmla="*/ 2765877 h 6857999"/>
              <a:gd name="connsiteX97" fmla="*/ 9450607 w 12191998"/>
              <a:gd name="connsiteY97" fmla="*/ 2330448 h 6857999"/>
              <a:gd name="connsiteX98" fmla="*/ 9232893 w 12191998"/>
              <a:gd name="connsiteY98" fmla="*/ 1895020 h 6857999"/>
              <a:gd name="connsiteX99" fmla="*/ 10420350 w 12191998"/>
              <a:gd name="connsiteY99" fmla="*/ 1872340 h 6857999"/>
              <a:gd name="connsiteX100" fmla="*/ 10202636 w 12191998"/>
              <a:gd name="connsiteY100" fmla="*/ 2307769 h 6857999"/>
              <a:gd name="connsiteX101" fmla="*/ 10420350 w 12191998"/>
              <a:gd name="connsiteY101" fmla="*/ 2743196 h 6857999"/>
              <a:gd name="connsiteX102" fmla="*/ 11015437 w 12191998"/>
              <a:gd name="connsiteY102" fmla="*/ 2743196 h 6857999"/>
              <a:gd name="connsiteX103" fmla="*/ 11233151 w 12191998"/>
              <a:gd name="connsiteY103" fmla="*/ 2307769 h 6857999"/>
              <a:gd name="connsiteX104" fmla="*/ 11015437 w 12191998"/>
              <a:gd name="connsiteY104" fmla="*/ 1872340 h 6857999"/>
              <a:gd name="connsiteX105" fmla="*/ 7770580 w 12191998"/>
              <a:gd name="connsiteY105" fmla="*/ 1438726 h 6857999"/>
              <a:gd name="connsiteX106" fmla="*/ 7552866 w 12191998"/>
              <a:gd name="connsiteY106" fmla="*/ 1874155 h 6857999"/>
              <a:gd name="connsiteX107" fmla="*/ 7770580 w 12191998"/>
              <a:gd name="connsiteY107" fmla="*/ 2309582 h 6857999"/>
              <a:gd name="connsiteX108" fmla="*/ 8365667 w 12191998"/>
              <a:gd name="connsiteY108" fmla="*/ 2309582 h 6857999"/>
              <a:gd name="connsiteX109" fmla="*/ 8583381 w 12191998"/>
              <a:gd name="connsiteY109" fmla="*/ 1874155 h 6857999"/>
              <a:gd name="connsiteX110" fmla="*/ 8365667 w 12191998"/>
              <a:gd name="connsiteY110" fmla="*/ 1438726 h 6857999"/>
              <a:gd name="connsiteX111" fmla="*/ 11286671 w 12191998"/>
              <a:gd name="connsiteY111" fmla="*/ 1422399 h 6857999"/>
              <a:gd name="connsiteX112" fmla="*/ 11068957 w 12191998"/>
              <a:gd name="connsiteY112" fmla="*/ 1857828 h 6857999"/>
              <a:gd name="connsiteX113" fmla="*/ 11286671 w 12191998"/>
              <a:gd name="connsiteY113" fmla="*/ 2293255 h 6857999"/>
              <a:gd name="connsiteX114" fmla="*/ 11881758 w 12191998"/>
              <a:gd name="connsiteY114" fmla="*/ 2293255 h 6857999"/>
              <a:gd name="connsiteX115" fmla="*/ 12099472 w 12191998"/>
              <a:gd name="connsiteY115" fmla="*/ 1857828 h 6857999"/>
              <a:gd name="connsiteX116" fmla="*/ 11881758 w 12191998"/>
              <a:gd name="connsiteY116" fmla="*/ 1422399 h 6857999"/>
              <a:gd name="connsiteX117" fmla="*/ 9524097 w 12191998"/>
              <a:gd name="connsiteY117" fmla="*/ 1422399 h 6857999"/>
              <a:gd name="connsiteX118" fmla="*/ 9306383 w 12191998"/>
              <a:gd name="connsiteY118" fmla="*/ 1857828 h 6857999"/>
              <a:gd name="connsiteX119" fmla="*/ 9524097 w 12191998"/>
              <a:gd name="connsiteY119" fmla="*/ 2293255 h 6857999"/>
              <a:gd name="connsiteX120" fmla="*/ 10119184 w 12191998"/>
              <a:gd name="connsiteY120" fmla="*/ 2293255 h 6857999"/>
              <a:gd name="connsiteX121" fmla="*/ 10336898 w 12191998"/>
              <a:gd name="connsiteY121" fmla="*/ 1857828 h 6857999"/>
              <a:gd name="connsiteX122" fmla="*/ 10119184 w 12191998"/>
              <a:gd name="connsiteY122" fmla="*/ 1422399 h 6857999"/>
              <a:gd name="connsiteX123" fmla="*/ 6870694 w 12191998"/>
              <a:gd name="connsiteY123" fmla="*/ 1003299 h 6857999"/>
              <a:gd name="connsiteX124" fmla="*/ 6652980 w 12191998"/>
              <a:gd name="connsiteY124" fmla="*/ 1438728 h 6857999"/>
              <a:gd name="connsiteX125" fmla="*/ 6870694 w 12191998"/>
              <a:gd name="connsiteY125" fmla="*/ 1874156 h 6857999"/>
              <a:gd name="connsiteX126" fmla="*/ 7465781 w 12191998"/>
              <a:gd name="connsiteY126" fmla="*/ 1874156 h 6857999"/>
              <a:gd name="connsiteX127" fmla="*/ 7683495 w 12191998"/>
              <a:gd name="connsiteY127" fmla="*/ 1438728 h 6857999"/>
              <a:gd name="connsiteX128" fmla="*/ 7465781 w 12191998"/>
              <a:gd name="connsiteY128" fmla="*/ 1003299 h 6857999"/>
              <a:gd name="connsiteX129" fmla="*/ 8637806 w 12191998"/>
              <a:gd name="connsiteY129" fmla="*/ 955219 h 6857999"/>
              <a:gd name="connsiteX130" fmla="*/ 8420092 w 12191998"/>
              <a:gd name="connsiteY130" fmla="*/ 1390648 h 6857999"/>
              <a:gd name="connsiteX131" fmla="*/ 8637806 w 12191998"/>
              <a:gd name="connsiteY131" fmla="*/ 1826076 h 6857999"/>
              <a:gd name="connsiteX132" fmla="*/ 9232893 w 12191998"/>
              <a:gd name="connsiteY132" fmla="*/ 1826076 h 6857999"/>
              <a:gd name="connsiteX133" fmla="*/ 9450607 w 12191998"/>
              <a:gd name="connsiteY133" fmla="*/ 1390648 h 6857999"/>
              <a:gd name="connsiteX134" fmla="*/ 9232893 w 12191998"/>
              <a:gd name="connsiteY134" fmla="*/ 955219 h 6857999"/>
              <a:gd name="connsiteX135" fmla="*/ 10420350 w 12191998"/>
              <a:gd name="connsiteY135" fmla="*/ 928914 h 6857999"/>
              <a:gd name="connsiteX136" fmla="*/ 10202636 w 12191998"/>
              <a:gd name="connsiteY136" fmla="*/ 1364343 h 6857999"/>
              <a:gd name="connsiteX137" fmla="*/ 10420350 w 12191998"/>
              <a:gd name="connsiteY137" fmla="*/ 1799771 h 6857999"/>
              <a:gd name="connsiteX138" fmla="*/ 11015437 w 12191998"/>
              <a:gd name="connsiteY138" fmla="*/ 1799771 h 6857999"/>
              <a:gd name="connsiteX139" fmla="*/ 11233151 w 12191998"/>
              <a:gd name="connsiteY139" fmla="*/ 1364343 h 6857999"/>
              <a:gd name="connsiteX140" fmla="*/ 11015437 w 12191998"/>
              <a:gd name="connsiteY140" fmla="*/ 928914 h 6857999"/>
              <a:gd name="connsiteX141" fmla="*/ 7737920 w 12191998"/>
              <a:gd name="connsiteY141" fmla="*/ 498925 h 6857999"/>
              <a:gd name="connsiteX142" fmla="*/ 7520206 w 12191998"/>
              <a:gd name="connsiteY142" fmla="*/ 934354 h 6857999"/>
              <a:gd name="connsiteX143" fmla="*/ 7737920 w 12191998"/>
              <a:gd name="connsiteY143" fmla="*/ 1369782 h 6857999"/>
              <a:gd name="connsiteX144" fmla="*/ 8333007 w 12191998"/>
              <a:gd name="connsiteY144" fmla="*/ 1369782 h 6857999"/>
              <a:gd name="connsiteX145" fmla="*/ 8550721 w 12191998"/>
              <a:gd name="connsiteY145" fmla="*/ 934354 h 6857999"/>
              <a:gd name="connsiteX146" fmla="*/ 8333007 w 12191998"/>
              <a:gd name="connsiteY146" fmla="*/ 498925 h 6857999"/>
              <a:gd name="connsiteX147" fmla="*/ 11311159 w 12191998"/>
              <a:gd name="connsiteY147" fmla="*/ 464456 h 6857999"/>
              <a:gd name="connsiteX148" fmla="*/ 11093445 w 12191998"/>
              <a:gd name="connsiteY148" fmla="*/ 899885 h 6857999"/>
              <a:gd name="connsiteX149" fmla="*/ 11311159 w 12191998"/>
              <a:gd name="connsiteY149" fmla="*/ 1335313 h 6857999"/>
              <a:gd name="connsiteX150" fmla="*/ 11906246 w 12191998"/>
              <a:gd name="connsiteY150" fmla="*/ 1335313 h 6857999"/>
              <a:gd name="connsiteX151" fmla="*/ 12123960 w 12191998"/>
              <a:gd name="connsiteY151" fmla="*/ 899885 h 6857999"/>
              <a:gd name="connsiteX152" fmla="*/ 11906246 w 12191998"/>
              <a:gd name="connsiteY152" fmla="*/ 464456 h 6857999"/>
              <a:gd name="connsiteX153" fmla="*/ 9529541 w 12191998"/>
              <a:gd name="connsiteY153" fmla="*/ 464456 h 6857999"/>
              <a:gd name="connsiteX154" fmla="*/ 9311827 w 12191998"/>
              <a:gd name="connsiteY154" fmla="*/ 899885 h 6857999"/>
              <a:gd name="connsiteX155" fmla="*/ 9529541 w 12191998"/>
              <a:gd name="connsiteY155" fmla="*/ 1335313 h 6857999"/>
              <a:gd name="connsiteX156" fmla="*/ 10124628 w 12191998"/>
              <a:gd name="connsiteY156" fmla="*/ 1335313 h 6857999"/>
              <a:gd name="connsiteX157" fmla="*/ 10342342 w 12191998"/>
              <a:gd name="connsiteY157" fmla="*/ 899885 h 6857999"/>
              <a:gd name="connsiteX158" fmla="*/ 10124628 w 12191998"/>
              <a:gd name="connsiteY158" fmla="*/ 464456 h 6857999"/>
              <a:gd name="connsiteX159" fmla="*/ 6848570 w 12191998"/>
              <a:gd name="connsiteY159" fmla="*/ 80508 h 6857999"/>
              <a:gd name="connsiteX160" fmla="*/ 6639362 w 12191998"/>
              <a:gd name="connsiteY160" fmla="*/ 498925 h 6857999"/>
              <a:gd name="connsiteX161" fmla="*/ 6848570 w 12191998"/>
              <a:gd name="connsiteY161" fmla="*/ 917341 h 6857999"/>
              <a:gd name="connsiteX162" fmla="*/ 7428929 w 12191998"/>
              <a:gd name="connsiteY162" fmla="*/ 917341 h 6857999"/>
              <a:gd name="connsiteX163" fmla="*/ 7638137 w 12191998"/>
              <a:gd name="connsiteY163" fmla="*/ 498925 h 6857999"/>
              <a:gd name="connsiteX164" fmla="*/ 7428929 w 12191998"/>
              <a:gd name="connsiteY164" fmla="*/ 80508 h 6857999"/>
              <a:gd name="connsiteX165" fmla="*/ 0 w 12191998"/>
              <a:gd name="connsiteY165" fmla="*/ 0 h 6857999"/>
              <a:gd name="connsiteX166" fmla="*/ 7539706 w 12191998"/>
              <a:gd name="connsiteY166" fmla="*/ 0 h 6857999"/>
              <a:gd name="connsiteX167" fmla="*/ 7748914 w 12191998"/>
              <a:gd name="connsiteY167" fmla="*/ 418416 h 6857999"/>
              <a:gd name="connsiteX168" fmla="*/ 8329273 w 12191998"/>
              <a:gd name="connsiteY168" fmla="*/ 418416 h 6857999"/>
              <a:gd name="connsiteX169" fmla="*/ 8538481 w 12191998"/>
              <a:gd name="connsiteY169" fmla="*/ 0 h 6857999"/>
              <a:gd name="connsiteX170" fmla="*/ 8661040 w 12191998"/>
              <a:gd name="connsiteY170" fmla="*/ 0 h 6857999"/>
              <a:gd name="connsiteX171" fmla="*/ 8451832 w 12191998"/>
              <a:gd name="connsiteY171" fmla="*/ 418417 h 6857999"/>
              <a:gd name="connsiteX172" fmla="*/ 8661040 w 12191998"/>
              <a:gd name="connsiteY172" fmla="*/ 836833 h 6857999"/>
              <a:gd name="connsiteX173" fmla="*/ 9241399 w 12191998"/>
              <a:gd name="connsiteY173" fmla="*/ 836833 h 6857999"/>
              <a:gd name="connsiteX174" fmla="*/ 9450607 w 12191998"/>
              <a:gd name="connsiteY174" fmla="*/ 418417 h 6857999"/>
              <a:gd name="connsiteX175" fmla="*/ 9241399 w 12191998"/>
              <a:gd name="connsiteY175" fmla="*/ 0 h 6857999"/>
              <a:gd name="connsiteX176" fmla="*/ 9389933 w 12191998"/>
              <a:gd name="connsiteY176" fmla="*/ 0 h 6857999"/>
              <a:gd name="connsiteX177" fmla="*/ 9561384 w 12191998"/>
              <a:gd name="connsiteY177" fmla="*/ 342902 h 6857999"/>
              <a:gd name="connsiteX178" fmla="*/ 10141743 w 12191998"/>
              <a:gd name="connsiteY178" fmla="*/ 342902 h 6857999"/>
              <a:gd name="connsiteX179" fmla="*/ 10313194 w 12191998"/>
              <a:gd name="connsiteY179" fmla="*/ 0 h 6857999"/>
              <a:gd name="connsiteX180" fmla="*/ 10420351 w 12191998"/>
              <a:gd name="connsiteY180" fmla="*/ 0 h 6857999"/>
              <a:gd name="connsiteX181" fmla="*/ 10202637 w 12191998"/>
              <a:gd name="connsiteY181" fmla="*/ 435429 h 6857999"/>
              <a:gd name="connsiteX182" fmla="*/ 10420351 w 12191998"/>
              <a:gd name="connsiteY182" fmla="*/ 870857 h 6857999"/>
              <a:gd name="connsiteX183" fmla="*/ 11015438 w 12191998"/>
              <a:gd name="connsiteY183" fmla="*/ 870857 h 6857999"/>
              <a:gd name="connsiteX184" fmla="*/ 11233152 w 12191998"/>
              <a:gd name="connsiteY184" fmla="*/ 435429 h 6857999"/>
              <a:gd name="connsiteX185" fmla="*/ 11015438 w 12191998"/>
              <a:gd name="connsiteY185" fmla="*/ 0 h 6857999"/>
              <a:gd name="connsiteX186" fmla="*/ 11105729 w 12191998"/>
              <a:gd name="connsiteY186" fmla="*/ 0 h 6857999"/>
              <a:gd name="connsiteX187" fmla="*/ 11295832 w 12191998"/>
              <a:gd name="connsiteY187" fmla="*/ 380206 h 6857999"/>
              <a:gd name="connsiteX188" fmla="*/ 11876191 w 12191998"/>
              <a:gd name="connsiteY188" fmla="*/ 380206 h 6857999"/>
              <a:gd name="connsiteX189" fmla="*/ 12066294 w 12191998"/>
              <a:gd name="connsiteY189" fmla="*/ 0 h 6857999"/>
              <a:gd name="connsiteX190" fmla="*/ 12191998 w 12191998"/>
              <a:gd name="connsiteY190" fmla="*/ 0 h 6857999"/>
              <a:gd name="connsiteX191" fmla="*/ 12191998 w 12191998"/>
              <a:gd name="connsiteY191" fmla="*/ 5552622 h 6857999"/>
              <a:gd name="connsiteX192" fmla="*/ 12030520 w 12191998"/>
              <a:gd name="connsiteY192" fmla="*/ 5229665 h 6857999"/>
              <a:gd name="connsiteX193" fmla="*/ 11435433 w 12191998"/>
              <a:gd name="connsiteY193" fmla="*/ 5229665 h 6857999"/>
              <a:gd name="connsiteX194" fmla="*/ 11217719 w 12191998"/>
              <a:gd name="connsiteY194" fmla="*/ 5665094 h 6857999"/>
              <a:gd name="connsiteX195" fmla="*/ 11435433 w 12191998"/>
              <a:gd name="connsiteY195" fmla="*/ 6100522 h 6857999"/>
              <a:gd name="connsiteX196" fmla="*/ 12030520 w 12191998"/>
              <a:gd name="connsiteY196" fmla="*/ 6100522 h 6857999"/>
              <a:gd name="connsiteX197" fmla="*/ 12191998 w 12191998"/>
              <a:gd name="connsiteY197" fmla="*/ 5777566 h 6857999"/>
              <a:gd name="connsiteX198" fmla="*/ 12191998 w 12191998"/>
              <a:gd name="connsiteY198" fmla="*/ 6492423 h 6857999"/>
              <a:gd name="connsiteX199" fmla="*/ 12030520 w 12191998"/>
              <a:gd name="connsiteY199" fmla="*/ 6169466 h 6857999"/>
              <a:gd name="connsiteX200" fmla="*/ 11435433 w 12191998"/>
              <a:gd name="connsiteY200" fmla="*/ 6169466 h 6857999"/>
              <a:gd name="connsiteX201" fmla="*/ 11217719 w 12191998"/>
              <a:gd name="connsiteY201" fmla="*/ 6604895 h 6857999"/>
              <a:gd name="connsiteX202" fmla="*/ 11344271 w 12191998"/>
              <a:gd name="connsiteY202" fmla="*/ 6857999 h 6857999"/>
              <a:gd name="connsiteX203" fmla="*/ 11252199 w 12191998"/>
              <a:gd name="connsiteY203" fmla="*/ 6857999 h 6857999"/>
              <a:gd name="connsiteX204" fmla="*/ 11163293 w 12191998"/>
              <a:gd name="connsiteY204" fmla="*/ 6680187 h 6857999"/>
              <a:gd name="connsiteX205" fmla="*/ 10568206 w 12191998"/>
              <a:gd name="connsiteY205" fmla="*/ 6680187 h 6857999"/>
              <a:gd name="connsiteX206" fmla="*/ 10479300 w 12191998"/>
              <a:gd name="connsiteY206" fmla="*/ 6857999 h 6857999"/>
              <a:gd name="connsiteX207" fmla="*/ 10409450 w 12191998"/>
              <a:gd name="connsiteY207" fmla="*/ 6857999 h 6857999"/>
              <a:gd name="connsiteX208" fmla="*/ 10493822 w 12191998"/>
              <a:gd name="connsiteY208" fmla="*/ 6689256 h 6857999"/>
              <a:gd name="connsiteX209" fmla="*/ 10276108 w 12191998"/>
              <a:gd name="connsiteY209" fmla="*/ 6253827 h 6857999"/>
              <a:gd name="connsiteX210" fmla="*/ 9681021 w 12191998"/>
              <a:gd name="connsiteY210" fmla="*/ 6253827 h 6857999"/>
              <a:gd name="connsiteX211" fmla="*/ 9463307 w 12191998"/>
              <a:gd name="connsiteY211" fmla="*/ 6689256 h 6857999"/>
              <a:gd name="connsiteX212" fmla="*/ 9547678 w 12191998"/>
              <a:gd name="connsiteY212" fmla="*/ 6857999 h 6857999"/>
              <a:gd name="connsiteX213" fmla="*/ 0 w 12191998"/>
              <a:gd name="connsiteY213"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Lst>
            <a:rect l="l" t="t" r="r" b="b"/>
            <a:pathLst>
              <a:path w="12191998" h="6857999">
                <a:moveTo>
                  <a:pt x="12191998" y="6717367"/>
                </a:moveTo>
                <a:lnTo>
                  <a:pt x="12191998" y="6857999"/>
                </a:lnTo>
                <a:lnTo>
                  <a:pt x="12121682" y="6857999"/>
                </a:lnTo>
                <a:close/>
                <a:moveTo>
                  <a:pt x="10568207" y="5713172"/>
                </a:moveTo>
                <a:lnTo>
                  <a:pt x="10350493" y="6148601"/>
                </a:lnTo>
                <a:lnTo>
                  <a:pt x="10568207" y="6584029"/>
                </a:lnTo>
                <a:lnTo>
                  <a:pt x="11163294" y="6584029"/>
                </a:lnTo>
                <a:lnTo>
                  <a:pt x="11381008" y="6148601"/>
                </a:lnTo>
                <a:lnTo>
                  <a:pt x="11163294" y="5713172"/>
                </a:lnTo>
                <a:close/>
                <a:moveTo>
                  <a:pt x="9668321" y="5277745"/>
                </a:moveTo>
                <a:lnTo>
                  <a:pt x="9450607" y="5713174"/>
                </a:lnTo>
                <a:lnTo>
                  <a:pt x="9668321" y="6148602"/>
                </a:lnTo>
                <a:lnTo>
                  <a:pt x="10263408" y="6148602"/>
                </a:lnTo>
                <a:lnTo>
                  <a:pt x="10481122" y="5713174"/>
                </a:lnTo>
                <a:lnTo>
                  <a:pt x="10263408" y="5277745"/>
                </a:lnTo>
                <a:close/>
                <a:moveTo>
                  <a:pt x="10535547" y="4773371"/>
                </a:moveTo>
                <a:lnTo>
                  <a:pt x="10317833" y="5208800"/>
                </a:lnTo>
                <a:lnTo>
                  <a:pt x="10535547" y="5644228"/>
                </a:lnTo>
                <a:lnTo>
                  <a:pt x="11130634" y="5644228"/>
                </a:lnTo>
                <a:lnTo>
                  <a:pt x="11348348" y="5208800"/>
                </a:lnTo>
                <a:lnTo>
                  <a:pt x="11130634" y="4773371"/>
                </a:lnTo>
                <a:close/>
                <a:moveTo>
                  <a:pt x="9570350" y="4293501"/>
                </a:moveTo>
                <a:lnTo>
                  <a:pt x="9352636" y="4728930"/>
                </a:lnTo>
                <a:lnTo>
                  <a:pt x="9570350" y="5164358"/>
                </a:lnTo>
                <a:lnTo>
                  <a:pt x="10165437" y="5164358"/>
                </a:lnTo>
                <a:lnTo>
                  <a:pt x="10383151" y="4728930"/>
                </a:lnTo>
                <a:lnTo>
                  <a:pt x="10165437" y="4293501"/>
                </a:lnTo>
                <a:close/>
                <a:moveTo>
                  <a:pt x="11373854" y="4270358"/>
                </a:moveTo>
                <a:lnTo>
                  <a:pt x="11164646" y="4688775"/>
                </a:lnTo>
                <a:lnTo>
                  <a:pt x="11373854" y="5107191"/>
                </a:lnTo>
                <a:lnTo>
                  <a:pt x="11954213" y="5107191"/>
                </a:lnTo>
                <a:lnTo>
                  <a:pt x="12163421" y="4688775"/>
                </a:lnTo>
                <a:lnTo>
                  <a:pt x="11954213" y="4270358"/>
                </a:lnTo>
                <a:close/>
                <a:moveTo>
                  <a:pt x="8683165" y="3867141"/>
                </a:moveTo>
                <a:lnTo>
                  <a:pt x="8465451" y="4302570"/>
                </a:lnTo>
                <a:lnTo>
                  <a:pt x="8683165" y="4737998"/>
                </a:lnTo>
                <a:lnTo>
                  <a:pt x="9278252" y="4737998"/>
                </a:lnTo>
                <a:lnTo>
                  <a:pt x="9495966" y="4302570"/>
                </a:lnTo>
                <a:lnTo>
                  <a:pt x="9278252" y="3867141"/>
                </a:lnTo>
                <a:close/>
                <a:moveTo>
                  <a:pt x="10437577" y="3782780"/>
                </a:moveTo>
                <a:lnTo>
                  <a:pt x="10219863" y="4218209"/>
                </a:lnTo>
                <a:lnTo>
                  <a:pt x="10437577" y="4653637"/>
                </a:lnTo>
                <a:lnTo>
                  <a:pt x="11032664" y="4653637"/>
                </a:lnTo>
                <a:lnTo>
                  <a:pt x="11250378" y="4218209"/>
                </a:lnTo>
                <a:lnTo>
                  <a:pt x="11032664" y="3782780"/>
                </a:lnTo>
                <a:close/>
                <a:moveTo>
                  <a:pt x="11339835" y="3357104"/>
                </a:moveTo>
                <a:lnTo>
                  <a:pt x="11130627" y="3775521"/>
                </a:lnTo>
                <a:lnTo>
                  <a:pt x="11339835" y="4193937"/>
                </a:lnTo>
                <a:lnTo>
                  <a:pt x="11920194" y="4193937"/>
                </a:lnTo>
                <a:lnTo>
                  <a:pt x="12129402" y="3775521"/>
                </a:lnTo>
                <a:lnTo>
                  <a:pt x="11920194" y="3357104"/>
                </a:lnTo>
                <a:close/>
                <a:moveTo>
                  <a:pt x="9570351" y="3326486"/>
                </a:moveTo>
                <a:lnTo>
                  <a:pt x="9352637" y="3761915"/>
                </a:lnTo>
                <a:lnTo>
                  <a:pt x="9570351" y="4197343"/>
                </a:lnTo>
                <a:lnTo>
                  <a:pt x="10165438" y="4197343"/>
                </a:lnTo>
                <a:lnTo>
                  <a:pt x="10383152" y="3761915"/>
                </a:lnTo>
                <a:lnTo>
                  <a:pt x="10165438" y="3326486"/>
                </a:lnTo>
                <a:close/>
                <a:moveTo>
                  <a:pt x="8670465" y="2891059"/>
                </a:moveTo>
                <a:lnTo>
                  <a:pt x="8452751" y="3326488"/>
                </a:lnTo>
                <a:lnTo>
                  <a:pt x="8670465" y="3761916"/>
                </a:lnTo>
                <a:lnTo>
                  <a:pt x="9265552" y="3761916"/>
                </a:lnTo>
                <a:lnTo>
                  <a:pt x="9483266" y="3326488"/>
                </a:lnTo>
                <a:lnTo>
                  <a:pt x="9265552" y="2891059"/>
                </a:lnTo>
                <a:close/>
                <a:moveTo>
                  <a:pt x="10437577" y="2842980"/>
                </a:moveTo>
                <a:lnTo>
                  <a:pt x="10219863" y="3278409"/>
                </a:lnTo>
                <a:lnTo>
                  <a:pt x="10437577" y="3713836"/>
                </a:lnTo>
                <a:lnTo>
                  <a:pt x="11032664" y="3713836"/>
                </a:lnTo>
                <a:lnTo>
                  <a:pt x="11250378" y="3278409"/>
                </a:lnTo>
                <a:lnTo>
                  <a:pt x="11032664" y="2842980"/>
                </a:lnTo>
                <a:close/>
                <a:moveTo>
                  <a:pt x="7770579" y="2405741"/>
                </a:moveTo>
                <a:lnTo>
                  <a:pt x="7552865" y="2841170"/>
                </a:lnTo>
                <a:lnTo>
                  <a:pt x="7770579" y="3276598"/>
                </a:lnTo>
                <a:lnTo>
                  <a:pt x="8365666" y="3276598"/>
                </a:lnTo>
                <a:lnTo>
                  <a:pt x="8583380" y="2841170"/>
                </a:lnTo>
                <a:lnTo>
                  <a:pt x="8365666" y="2405741"/>
                </a:lnTo>
                <a:close/>
                <a:moveTo>
                  <a:pt x="11314442" y="2400294"/>
                </a:moveTo>
                <a:lnTo>
                  <a:pt x="11105234" y="2818711"/>
                </a:lnTo>
                <a:lnTo>
                  <a:pt x="11314442" y="3237127"/>
                </a:lnTo>
                <a:lnTo>
                  <a:pt x="11894801" y="3237127"/>
                </a:lnTo>
                <a:lnTo>
                  <a:pt x="12104009" y="2818711"/>
                </a:lnTo>
                <a:lnTo>
                  <a:pt x="11894801" y="2400294"/>
                </a:lnTo>
                <a:close/>
                <a:moveTo>
                  <a:pt x="9537691" y="2386686"/>
                </a:moveTo>
                <a:lnTo>
                  <a:pt x="9319977" y="2822114"/>
                </a:lnTo>
                <a:lnTo>
                  <a:pt x="9537691" y="3257543"/>
                </a:lnTo>
                <a:lnTo>
                  <a:pt x="10132778" y="3257543"/>
                </a:lnTo>
                <a:lnTo>
                  <a:pt x="10350492" y="2822114"/>
                </a:lnTo>
                <a:lnTo>
                  <a:pt x="10132778" y="2386686"/>
                </a:lnTo>
                <a:close/>
                <a:moveTo>
                  <a:pt x="6883394" y="1979381"/>
                </a:moveTo>
                <a:lnTo>
                  <a:pt x="6665680" y="2414810"/>
                </a:lnTo>
                <a:lnTo>
                  <a:pt x="6883394" y="2850238"/>
                </a:lnTo>
                <a:lnTo>
                  <a:pt x="7478481" y="2850238"/>
                </a:lnTo>
                <a:lnTo>
                  <a:pt x="7696195" y="2414810"/>
                </a:lnTo>
                <a:lnTo>
                  <a:pt x="7478481" y="1979381"/>
                </a:lnTo>
                <a:close/>
                <a:moveTo>
                  <a:pt x="8637806" y="1895020"/>
                </a:moveTo>
                <a:lnTo>
                  <a:pt x="8420092" y="2330448"/>
                </a:lnTo>
                <a:lnTo>
                  <a:pt x="8637806" y="2765877"/>
                </a:lnTo>
                <a:lnTo>
                  <a:pt x="9232893" y="2765877"/>
                </a:lnTo>
                <a:lnTo>
                  <a:pt x="9450607" y="2330448"/>
                </a:lnTo>
                <a:lnTo>
                  <a:pt x="9232893" y="1895020"/>
                </a:lnTo>
                <a:close/>
                <a:moveTo>
                  <a:pt x="10420350" y="1872340"/>
                </a:moveTo>
                <a:lnTo>
                  <a:pt x="10202636" y="2307769"/>
                </a:lnTo>
                <a:lnTo>
                  <a:pt x="10420350" y="2743196"/>
                </a:lnTo>
                <a:lnTo>
                  <a:pt x="11015437" y="2743196"/>
                </a:lnTo>
                <a:lnTo>
                  <a:pt x="11233151" y="2307769"/>
                </a:lnTo>
                <a:lnTo>
                  <a:pt x="11015437" y="1872340"/>
                </a:lnTo>
                <a:close/>
                <a:moveTo>
                  <a:pt x="7770580" y="1438726"/>
                </a:moveTo>
                <a:lnTo>
                  <a:pt x="7552866" y="1874155"/>
                </a:lnTo>
                <a:lnTo>
                  <a:pt x="7770580" y="2309582"/>
                </a:lnTo>
                <a:lnTo>
                  <a:pt x="8365667" y="2309582"/>
                </a:lnTo>
                <a:lnTo>
                  <a:pt x="8583381" y="1874155"/>
                </a:lnTo>
                <a:lnTo>
                  <a:pt x="8365667" y="1438726"/>
                </a:lnTo>
                <a:close/>
                <a:moveTo>
                  <a:pt x="11286671" y="1422399"/>
                </a:moveTo>
                <a:lnTo>
                  <a:pt x="11068957" y="1857828"/>
                </a:lnTo>
                <a:lnTo>
                  <a:pt x="11286671" y="2293255"/>
                </a:lnTo>
                <a:lnTo>
                  <a:pt x="11881758" y="2293255"/>
                </a:lnTo>
                <a:lnTo>
                  <a:pt x="12099472" y="1857828"/>
                </a:lnTo>
                <a:lnTo>
                  <a:pt x="11881758" y="1422399"/>
                </a:lnTo>
                <a:close/>
                <a:moveTo>
                  <a:pt x="9524097" y="1422399"/>
                </a:moveTo>
                <a:lnTo>
                  <a:pt x="9306383" y="1857828"/>
                </a:lnTo>
                <a:lnTo>
                  <a:pt x="9524097" y="2293255"/>
                </a:lnTo>
                <a:lnTo>
                  <a:pt x="10119184" y="2293255"/>
                </a:lnTo>
                <a:lnTo>
                  <a:pt x="10336898" y="1857828"/>
                </a:lnTo>
                <a:lnTo>
                  <a:pt x="10119184" y="1422399"/>
                </a:lnTo>
                <a:close/>
                <a:moveTo>
                  <a:pt x="6870694" y="1003299"/>
                </a:moveTo>
                <a:lnTo>
                  <a:pt x="6652980" y="1438728"/>
                </a:lnTo>
                <a:lnTo>
                  <a:pt x="6870694" y="1874156"/>
                </a:lnTo>
                <a:lnTo>
                  <a:pt x="7465781" y="1874156"/>
                </a:lnTo>
                <a:lnTo>
                  <a:pt x="7683495" y="1438728"/>
                </a:lnTo>
                <a:lnTo>
                  <a:pt x="7465781" y="1003299"/>
                </a:lnTo>
                <a:close/>
                <a:moveTo>
                  <a:pt x="8637806" y="955219"/>
                </a:moveTo>
                <a:lnTo>
                  <a:pt x="8420092" y="1390648"/>
                </a:lnTo>
                <a:lnTo>
                  <a:pt x="8637806" y="1826076"/>
                </a:lnTo>
                <a:lnTo>
                  <a:pt x="9232893" y="1826076"/>
                </a:lnTo>
                <a:lnTo>
                  <a:pt x="9450607" y="1390648"/>
                </a:lnTo>
                <a:lnTo>
                  <a:pt x="9232893" y="955219"/>
                </a:lnTo>
                <a:close/>
                <a:moveTo>
                  <a:pt x="10420350" y="928914"/>
                </a:moveTo>
                <a:lnTo>
                  <a:pt x="10202636" y="1364343"/>
                </a:lnTo>
                <a:lnTo>
                  <a:pt x="10420350" y="1799771"/>
                </a:lnTo>
                <a:lnTo>
                  <a:pt x="11015437" y="1799771"/>
                </a:lnTo>
                <a:lnTo>
                  <a:pt x="11233151" y="1364343"/>
                </a:lnTo>
                <a:lnTo>
                  <a:pt x="11015437" y="928914"/>
                </a:lnTo>
                <a:close/>
                <a:moveTo>
                  <a:pt x="7737920" y="498925"/>
                </a:moveTo>
                <a:lnTo>
                  <a:pt x="7520206" y="934354"/>
                </a:lnTo>
                <a:lnTo>
                  <a:pt x="7737920" y="1369782"/>
                </a:lnTo>
                <a:lnTo>
                  <a:pt x="8333007" y="1369782"/>
                </a:lnTo>
                <a:lnTo>
                  <a:pt x="8550721" y="934354"/>
                </a:lnTo>
                <a:lnTo>
                  <a:pt x="8333007" y="498925"/>
                </a:lnTo>
                <a:close/>
                <a:moveTo>
                  <a:pt x="11311159" y="464456"/>
                </a:moveTo>
                <a:lnTo>
                  <a:pt x="11093445" y="899885"/>
                </a:lnTo>
                <a:lnTo>
                  <a:pt x="11311159" y="1335313"/>
                </a:lnTo>
                <a:lnTo>
                  <a:pt x="11906246" y="1335313"/>
                </a:lnTo>
                <a:lnTo>
                  <a:pt x="12123960" y="899885"/>
                </a:lnTo>
                <a:lnTo>
                  <a:pt x="11906246" y="464456"/>
                </a:lnTo>
                <a:close/>
                <a:moveTo>
                  <a:pt x="9529541" y="464456"/>
                </a:moveTo>
                <a:lnTo>
                  <a:pt x="9311827" y="899885"/>
                </a:lnTo>
                <a:lnTo>
                  <a:pt x="9529541" y="1335313"/>
                </a:lnTo>
                <a:lnTo>
                  <a:pt x="10124628" y="1335313"/>
                </a:lnTo>
                <a:lnTo>
                  <a:pt x="10342342" y="899885"/>
                </a:lnTo>
                <a:lnTo>
                  <a:pt x="10124628" y="464456"/>
                </a:lnTo>
                <a:close/>
                <a:moveTo>
                  <a:pt x="6848570" y="80508"/>
                </a:moveTo>
                <a:lnTo>
                  <a:pt x="6639362" y="498925"/>
                </a:lnTo>
                <a:lnTo>
                  <a:pt x="6848570" y="917341"/>
                </a:lnTo>
                <a:lnTo>
                  <a:pt x="7428929" y="917341"/>
                </a:lnTo>
                <a:lnTo>
                  <a:pt x="7638137" y="498925"/>
                </a:lnTo>
                <a:lnTo>
                  <a:pt x="7428929" y="80508"/>
                </a:lnTo>
                <a:close/>
                <a:moveTo>
                  <a:pt x="0" y="0"/>
                </a:moveTo>
                <a:lnTo>
                  <a:pt x="7539706" y="0"/>
                </a:lnTo>
                <a:lnTo>
                  <a:pt x="7748914" y="418416"/>
                </a:lnTo>
                <a:lnTo>
                  <a:pt x="8329273" y="418416"/>
                </a:lnTo>
                <a:lnTo>
                  <a:pt x="8538481" y="0"/>
                </a:lnTo>
                <a:lnTo>
                  <a:pt x="8661040" y="0"/>
                </a:lnTo>
                <a:lnTo>
                  <a:pt x="8451832" y="418417"/>
                </a:lnTo>
                <a:lnTo>
                  <a:pt x="8661040" y="836833"/>
                </a:lnTo>
                <a:lnTo>
                  <a:pt x="9241399" y="836833"/>
                </a:lnTo>
                <a:lnTo>
                  <a:pt x="9450607" y="418417"/>
                </a:lnTo>
                <a:lnTo>
                  <a:pt x="9241399" y="0"/>
                </a:lnTo>
                <a:lnTo>
                  <a:pt x="9389933" y="0"/>
                </a:lnTo>
                <a:lnTo>
                  <a:pt x="9561384" y="342902"/>
                </a:lnTo>
                <a:lnTo>
                  <a:pt x="10141743" y="342902"/>
                </a:lnTo>
                <a:lnTo>
                  <a:pt x="10313194" y="0"/>
                </a:lnTo>
                <a:lnTo>
                  <a:pt x="10420351" y="0"/>
                </a:lnTo>
                <a:lnTo>
                  <a:pt x="10202637" y="435429"/>
                </a:lnTo>
                <a:lnTo>
                  <a:pt x="10420351" y="870857"/>
                </a:lnTo>
                <a:lnTo>
                  <a:pt x="11015438" y="870857"/>
                </a:lnTo>
                <a:lnTo>
                  <a:pt x="11233152" y="435429"/>
                </a:lnTo>
                <a:lnTo>
                  <a:pt x="11015438" y="0"/>
                </a:lnTo>
                <a:lnTo>
                  <a:pt x="11105729" y="0"/>
                </a:lnTo>
                <a:lnTo>
                  <a:pt x="11295832" y="380206"/>
                </a:lnTo>
                <a:lnTo>
                  <a:pt x="11876191" y="380206"/>
                </a:lnTo>
                <a:lnTo>
                  <a:pt x="12066294" y="0"/>
                </a:lnTo>
                <a:lnTo>
                  <a:pt x="12191998" y="0"/>
                </a:lnTo>
                <a:lnTo>
                  <a:pt x="12191998" y="5552622"/>
                </a:lnTo>
                <a:lnTo>
                  <a:pt x="12030520" y="5229665"/>
                </a:lnTo>
                <a:lnTo>
                  <a:pt x="11435433" y="5229665"/>
                </a:lnTo>
                <a:lnTo>
                  <a:pt x="11217719" y="5665094"/>
                </a:lnTo>
                <a:lnTo>
                  <a:pt x="11435433" y="6100522"/>
                </a:lnTo>
                <a:lnTo>
                  <a:pt x="12030520" y="6100522"/>
                </a:lnTo>
                <a:lnTo>
                  <a:pt x="12191998" y="5777566"/>
                </a:lnTo>
                <a:lnTo>
                  <a:pt x="12191998" y="6492423"/>
                </a:lnTo>
                <a:lnTo>
                  <a:pt x="12030520" y="6169466"/>
                </a:lnTo>
                <a:lnTo>
                  <a:pt x="11435433" y="6169466"/>
                </a:lnTo>
                <a:lnTo>
                  <a:pt x="11217719" y="6604895"/>
                </a:lnTo>
                <a:lnTo>
                  <a:pt x="11344271" y="6857999"/>
                </a:lnTo>
                <a:lnTo>
                  <a:pt x="11252199" y="6857999"/>
                </a:lnTo>
                <a:lnTo>
                  <a:pt x="11163293" y="6680187"/>
                </a:lnTo>
                <a:lnTo>
                  <a:pt x="10568206" y="6680187"/>
                </a:lnTo>
                <a:lnTo>
                  <a:pt x="10479300" y="6857999"/>
                </a:lnTo>
                <a:lnTo>
                  <a:pt x="10409450" y="6857999"/>
                </a:lnTo>
                <a:lnTo>
                  <a:pt x="10493822" y="6689256"/>
                </a:lnTo>
                <a:lnTo>
                  <a:pt x="10276108" y="6253827"/>
                </a:lnTo>
                <a:lnTo>
                  <a:pt x="9681021" y="6253827"/>
                </a:lnTo>
                <a:lnTo>
                  <a:pt x="9463307" y="6689256"/>
                </a:lnTo>
                <a:lnTo>
                  <a:pt x="9547678" y="6857999"/>
                </a:lnTo>
                <a:lnTo>
                  <a:pt x="0" y="6857999"/>
                </a:lnTo>
                <a:close/>
              </a:path>
            </a:pathLst>
          </a:custGeom>
          <a:gradFill>
            <a:gsLst>
              <a:gs pos="0">
                <a:schemeClr val="accent5"/>
              </a:gs>
              <a:gs pos="48000">
                <a:schemeClr val="accent4"/>
              </a:gs>
              <a:gs pos="100000">
                <a:schemeClr val="accent2"/>
              </a:gs>
            </a:gsLst>
            <a:lin ang="2698631" scaled="0"/>
          </a:gra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TextBox 5"/>
          <p:cNvSpPr txBox="1"/>
          <p:nvPr/>
        </p:nvSpPr>
        <p:spPr>
          <a:xfrm>
            <a:off x="123350" y="318499"/>
            <a:ext cx="4787697" cy="46166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smtClean="0">
                <a:solidFill>
                  <a:schemeClr val="tx1"/>
                </a:solidFill>
                <a:effectLst>
                  <a:outerShdw blurRad="38100" dist="38100" dir="2700000" algn="tl">
                    <a:srgbClr val="000000">
                      <a:alpha val="43137"/>
                    </a:srgbClr>
                  </a:outerShdw>
                </a:effectLst>
              </a:rPr>
              <a:t>Example of </a:t>
            </a:r>
            <a:r>
              <a:rPr lang="en-US" sz="2400" dirty="0" smtClean="0">
                <a:solidFill>
                  <a:srgbClr val="FFFF00"/>
                </a:solidFill>
                <a:effectLst>
                  <a:outerShdw blurRad="38100" dist="38100" dir="2700000" algn="tl">
                    <a:srgbClr val="000000">
                      <a:alpha val="43137"/>
                    </a:srgbClr>
                  </a:outerShdw>
                </a:effectLst>
              </a:rPr>
              <a:t>Unsafe State</a:t>
            </a:r>
            <a:endParaRPr lang="en-US" sz="2400" dirty="0">
              <a:solidFill>
                <a:srgbClr val="FFFF00"/>
              </a:solidFill>
              <a:effectLst>
                <a:outerShdw blurRad="38100" dist="38100" dir="2700000" algn="tl">
                  <a:srgbClr val="000000">
                    <a:alpha val="43137"/>
                  </a:srgbClr>
                </a:outerShdw>
              </a:effectLst>
            </a:endParaRPr>
          </a:p>
        </p:txBody>
      </p:sp>
      <p:sp>
        <p:nvSpPr>
          <p:cNvPr id="2" name="TextBox 1"/>
          <p:cNvSpPr txBox="1"/>
          <p:nvPr/>
        </p:nvSpPr>
        <p:spPr>
          <a:xfrm>
            <a:off x="214471" y="1310381"/>
            <a:ext cx="4605454" cy="3416320"/>
          </a:xfrm>
          <a:prstGeom prst="rect">
            <a:avLst/>
          </a:prstGeom>
          <a:noFill/>
        </p:spPr>
        <p:txBody>
          <a:bodyPr wrap="square" rtlCol="0">
            <a:spAutoFit/>
          </a:bodyPr>
          <a:lstStyle/>
          <a:p>
            <a:r>
              <a:rPr lang="en-US" sz="1800" dirty="0">
                <a:solidFill>
                  <a:srgbClr val="FFFF00"/>
                </a:solidFill>
                <a:latin typeface="Oswald" panose="020B0604020202020204" charset="0"/>
              </a:rPr>
              <a:t>P1 </a:t>
            </a:r>
            <a:r>
              <a:rPr lang="en-US" sz="1800" dirty="0">
                <a:solidFill>
                  <a:schemeClr val="tx1"/>
                </a:solidFill>
                <a:latin typeface="Oswald" panose="020B0604020202020204" charset="0"/>
              </a:rPr>
              <a:t>may need 2 more resources to complete.</a:t>
            </a:r>
          </a:p>
          <a:p>
            <a:r>
              <a:rPr lang="en-US" sz="1800" dirty="0">
                <a:solidFill>
                  <a:srgbClr val="FFFF00"/>
                </a:solidFill>
                <a:latin typeface="Oswald" panose="020B0604020202020204" charset="0"/>
              </a:rPr>
              <a:t>P2</a:t>
            </a:r>
            <a:r>
              <a:rPr lang="en-US" sz="1800" dirty="0">
                <a:solidFill>
                  <a:schemeClr val="tx1"/>
                </a:solidFill>
                <a:latin typeface="Oswald" panose="020B0604020202020204" charset="0"/>
              </a:rPr>
              <a:t> may need 2 more resource to complete.</a:t>
            </a:r>
          </a:p>
          <a:p>
            <a:r>
              <a:rPr lang="en-US" sz="1800" dirty="0">
                <a:solidFill>
                  <a:srgbClr val="FFFF00"/>
                </a:solidFill>
                <a:latin typeface="Oswald" panose="020B0604020202020204" charset="0"/>
              </a:rPr>
              <a:t>P3</a:t>
            </a:r>
            <a:r>
              <a:rPr lang="en-US" sz="1800" dirty="0">
                <a:solidFill>
                  <a:schemeClr val="tx1"/>
                </a:solidFill>
                <a:latin typeface="Oswald" panose="020B0604020202020204" charset="0"/>
              </a:rPr>
              <a:t> may need 2 more resources to complete.</a:t>
            </a:r>
          </a:p>
          <a:p>
            <a:r>
              <a:rPr lang="en-US" sz="1800" dirty="0">
                <a:solidFill>
                  <a:schemeClr val="tx1"/>
                </a:solidFill>
                <a:latin typeface="Oswald" panose="020B0604020202020204" charset="0"/>
              </a:rPr>
              <a:t>However, there is only </a:t>
            </a:r>
            <a:r>
              <a:rPr lang="en-US" sz="1800" dirty="0">
                <a:solidFill>
                  <a:srgbClr val="FFFF00"/>
                </a:solidFill>
                <a:latin typeface="Oswald" panose="020B0604020202020204" charset="0"/>
              </a:rPr>
              <a:t>1 resource </a:t>
            </a:r>
            <a:r>
              <a:rPr lang="en-US" sz="1800" dirty="0">
                <a:solidFill>
                  <a:schemeClr val="tx1"/>
                </a:solidFill>
                <a:latin typeface="Oswald" panose="020B0604020202020204" charset="0"/>
              </a:rPr>
              <a:t>available.</a:t>
            </a:r>
          </a:p>
          <a:p>
            <a:r>
              <a:rPr lang="en-US" sz="1800" dirty="0">
                <a:solidFill>
                  <a:schemeClr val="tx1"/>
                </a:solidFill>
                <a:latin typeface="Oswald" panose="020B0604020202020204" charset="0"/>
              </a:rPr>
              <a:t>Even though none of the processes are currently deadlocked, </a:t>
            </a:r>
          </a:p>
          <a:p>
            <a:r>
              <a:rPr lang="en-US" sz="1800" dirty="0">
                <a:solidFill>
                  <a:schemeClr val="tx1"/>
                </a:solidFill>
                <a:latin typeface="Oswald" panose="020B0604020202020204" charset="0"/>
              </a:rPr>
              <a:t>the system is in an unsafe state because there is no sequence </a:t>
            </a:r>
          </a:p>
          <a:p>
            <a:r>
              <a:rPr lang="en-US" sz="1800" dirty="0">
                <a:solidFill>
                  <a:schemeClr val="tx1"/>
                </a:solidFill>
                <a:latin typeface="Oswald" panose="020B0604020202020204" charset="0"/>
              </a:rPr>
              <a:t>of resource allocation that guarantees all processes can complete.</a:t>
            </a:r>
          </a:p>
          <a:p>
            <a:r>
              <a:rPr lang="en-US" sz="1800" dirty="0">
                <a:solidFill>
                  <a:schemeClr val="tx1"/>
                </a:solidFill>
                <a:latin typeface="Oswald" panose="020B0604020202020204" charset="0"/>
              </a:rPr>
              <a:t>Banker's algorithm consists of a Safety algorithm and a Resource request algorithm</a:t>
            </a:r>
            <a:endParaRPr lang="en-US" sz="1800" dirty="0">
              <a:solidFill>
                <a:schemeClr val="tx1"/>
              </a:solidFill>
              <a:latin typeface="Oswald" panose="020B0604020202020204" charset="0"/>
            </a:endParaRPr>
          </a:p>
        </p:txBody>
      </p:sp>
      <p:cxnSp>
        <p:nvCxnSpPr>
          <p:cNvPr id="7" name="Google Shape;321;p33"/>
          <p:cNvCxnSpPr/>
          <p:nvPr/>
        </p:nvCxnSpPr>
        <p:spPr>
          <a:xfrm flipH="1">
            <a:off x="214471" y="1150416"/>
            <a:ext cx="3911479" cy="612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spTree>
    <p:extLst>
      <p:ext uri="{BB962C8B-B14F-4D97-AF65-F5344CB8AC3E}">
        <p14:creationId xmlns:p14="http://schemas.microsoft.com/office/powerpoint/2010/main" val="31853302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wipe(down)">
                                      <p:cBhvr>
                                        <p:cTn id="7" dur="5750"/>
                                        <p:tgtEl>
                                          <p:spTgt spid="36"/>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wipe(down)">
                                      <p:cBhvr>
                                        <p:cTn id="10" dur="1500"/>
                                        <p:tgtEl>
                                          <p:spTgt spid="6"/>
                                        </p:tgtEl>
                                      </p:cBhvr>
                                    </p:animEffect>
                                  </p:childTnLst>
                                </p:cTn>
                              </p:par>
                              <p:par>
                                <p:cTn id="11" presetID="6" presetClass="entr" presetSubtype="16"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circle(in)">
                                      <p:cBhvr>
                                        <p:cTn id="13" dur="2500"/>
                                        <p:tgtEl>
                                          <p:spTgt spid="7"/>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down)">
                                      <p:cBhvr>
                                        <p:cTn id="16" dur="125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C6B930-7791-0A36-3A09-CBEEB0BF5CE4}"/>
              </a:ext>
            </a:extLst>
          </p:cNvPr>
          <p:cNvSpPr txBox="1"/>
          <p:nvPr/>
        </p:nvSpPr>
        <p:spPr>
          <a:xfrm>
            <a:off x="2012674" y="1109812"/>
            <a:ext cx="5118652" cy="1015663"/>
          </a:xfrm>
          <a:prstGeom prst="rect">
            <a:avLst/>
          </a:prstGeom>
          <a:solidFill>
            <a:schemeClr val="bg1">
              <a:lumMod val="10000"/>
              <a:alpha val="78000"/>
            </a:schemeClr>
          </a:solidFill>
        </p:spPr>
        <p:txBody>
          <a:bodyPr wrap="square" rtlCol="0">
            <a:spAutoFit/>
          </a:bodyPr>
          <a:lstStyle/>
          <a:p>
            <a:pPr lvl="0">
              <a:defRPr/>
            </a:pPr>
            <a:r>
              <a:rPr lang="en-US" sz="2000" b="1" dirty="0" smtClean="0">
                <a:solidFill>
                  <a:srgbClr val="FFFF00"/>
                </a:solidFill>
              </a:rPr>
              <a:t>Banker’s algorithm parts</a:t>
            </a:r>
          </a:p>
          <a:p>
            <a:pPr lvl="0">
              <a:defRPr/>
            </a:pPr>
            <a:r>
              <a:rPr lang="en-US" sz="2000" dirty="0" smtClean="0">
                <a:solidFill>
                  <a:srgbClr val="FFFFFF"/>
                </a:solidFill>
                <a:latin typeface="Oswald" panose="00000500000000000000" pitchFamily="2" charset="0"/>
              </a:rPr>
              <a:t>Safety </a:t>
            </a:r>
            <a:r>
              <a:rPr lang="en-US" sz="2000" dirty="0">
                <a:solidFill>
                  <a:srgbClr val="FFFFFF"/>
                </a:solidFill>
                <a:latin typeface="Oswald" panose="00000500000000000000" pitchFamily="2" charset="0"/>
              </a:rPr>
              <a:t>Algorithm</a:t>
            </a:r>
          </a:p>
          <a:p>
            <a:pPr lvl="1"/>
            <a:r>
              <a:rPr lang="en-US" sz="2000" dirty="0">
                <a:solidFill>
                  <a:srgbClr val="FFFFFF"/>
                </a:solidFill>
                <a:latin typeface="Oswald" panose="00000500000000000000" pitchFamily="2" charset="0"/>
              </a:rPr>
              <a:t>Resource Request </a:t>
            </a:r>
            <a:r>
              <a:rPr lang="en-US" sz="2000" dirty="0" smtClean="0">
                <a:solidFill>
                  <a:srgbClr val="FFFFFF"/>
                </a:solidFill>
                <a:latin typeface="Oswald" panose="00000500000000000000" pitchFamily="2" charset="0"/>
              </a:rPr>
              <a:t>Algorithm</a:t>
            </a:r>
            <a:endParaRPr lang="en-US" sz="2000" dirty="0">
              <a:solidFill>
                <a:srgbClr val="FFFFFF"/>
              </a:solidFill>
              <a:latin typeface="Oswald" panose="00000500000000000000" pitchFamily="2" charset="0"/>
            </a:endParaRPr>
          </a:p>
        </p:txBody>
      </p:sp>
      <p:sp>
        <p:nvSpPr>
          <p:cNvPr id="5" name="Google Shape;369;p36"/>
          <p:cNvSpPr/>
          <p:nvPr/>
        </p:nvSpPr>
        <p:spPr>
          <a:xfrm>
            <a:off x="1092820" y="581258"/>
            <a:ext cx="6958361" cy="3980985"/>
          </a:xfrm>
          <a:prstGeom prst="roundRect">
            <a:avLst>
              <a:gd name="adj" fmla="val 16667"/>
            </a:avLst>
          </a:prstGeom>
          <a:noFill/>
          <a:ln w="19050" cap="flat" cmpd="sng">
            <a:solidFill>
              <a:schemeClr val="accent6">
                <a:lumMod val="40000"/>
                <a:lumOff val="60000"/>
              </a:schemeClr>
            </a:solidFill>
            <a:prstDash val="solid"/>
            <a:round/>
            <a:headEnd type="none" w="sm" len="sm"/>
            <a:tailEnd type="none" w="sm" len="sm"/>
          </a:ln>
          <a:effectLst>
            <a:outerShdw blurRad="200025" dist="19050" dir="5400000" algn="bl" rotWithShape="0">
              <a:srgbClr val="98FAFC">
                <a:alpha val="6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4839430"/>
      </p:ext>
    </p:extLst>
  </p:cSld>
  <p:clrMapOvr>
    <a:masterClrMapping/>
  </p:clrMapOvr>
  <mc:AlternateContent xmlns:mc="http://schemas.openxmlformats.org/markup-compatibility/2006" xmlns:p14="http://schemas.microsoft.com/office/powerpoint/2010/main">
    <mc:Choice Requires="p14">
      <p:transition spd="slow" p14:dur="1250">
        <p:pull/>
      </p:transition>
    </mc:Choice>
    <mc:Fallback xmlns="">
      <p:transition spd="slow">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1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C6B930-7791-0A36-3A09-CBEEB0BF5CE4}"/>
              </a:ext>
            </a:extLst>
          </p:cNvPr>
          <p:cNvSpPr txBox="1"/>
          <p:nvPr/>
        </p:nvSpPr>
        <p:spPr>
          <a:xfrm>
            <a:off x="2079349" y="715036"/>
            <a:ext cx="5340626" cy="3539430"/>
          </a:xfrm>
          <a:prstGeom prst="rect">
            <a:avLst/>
          </a:prstGeom>
          <a:solidFill>
            <a:schemeClr val="bg1">
              <a:lumMod val="10000"/>
              <a:alpha val="78000"/>
            </a:schemeClr>
          </a:solidFill>
        </p:spPr>
        <p:txBody>
          <a:bodyPr wrap="square" rtlCol="0">
            <a:spAutoFit/>
          </a:bodyPr>
          <a:lstStyle/>
          <a:p>
            <a:pPr lvl="1"/>
            <a:r>
              <a:rPr lang="en-US" sz="2000" b="1" dirty="0" smtClean="0">
                <a:solidFill>
                  <a:srgbClr val="FFFF00"/>
                </a:solidFill>
              </a:rPr>
              <a:t>Banker’s algorithm parts</a:t>
            </a:r>
          </a:p>
          <a:p>
            <a:pPr lvl="1"/>
            <a:r>
              <a:rPr lang="en-US" sz="1200" dirty="0" smtClean="0">
                <a:solidFill>
                  <a:srgbClr val="FFFFFF"/>
                </a:solidFill>
                <a:latin typeface="Oswald" panose="00000500000000000000" pitchFamily="2" charset="0"/>
              </a:rPr>
              <a:t>1</a:t>
            </a:r>
            <a:r>
              <a:rPr lang="en-US" sz="1200" dirty="0">
                <a:solidFill>
                  <a:srgbClr val="FFFFFF"/>
                </a:solidFill>
                <a:latin typeface="Oswald" panose="00000500000000000000" pitchFamily="2" charset="0"/>
              </a:rPr>
              <a:t>. Safety Algorithm</a:t>
            </a:r>
          </a:p>
          <a:p>
            <a:pPr lvl="1"/>
            <a:r>
              <a:rPr lang="en-US" sz="1200" dirty="0">
                <a:solidFill>
                  <a:srgbClr val="FFFFFF"/>
                </a:solidFill>
                <a:latin typeface="Oswald" panose="00000500000000000000" pitchFamily="2" charset="0"/>
              </a:rPr>
              <a:t>The safety algorithm checks whether the system is in a safe state-meaning all processes can complete without causing deadlock</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Steps</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1. Initialize</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Work = Available (resources currently available)</a:t>
            </a:r>
          </a:p>
          <a:p>
            <a:pPr lvl="1"/>
            <a:r>
              <a:rPr lang="en-US" sz="1200" dirty="0">
                <a:solidFill>
                  <a:srgbClr val="FFFFFF"/>
                </a:solidFill>
                <a:latin typeface="Oswald" panose="00000500000000000000" pitchFamily="2" charset="0"/>
              </a:rPr>
              <a:t>Finish[</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false for all processes (none have finished yet)</a:t>
            </a:r>
          </a:p>
          <a:p>
            <a:pPr lvl="1"/>
            <a:r>
              <a:rPr lang="en-US" sz="1200" dirty="0">
                <a:solidFill>
                  <a:srgbClr val="FFFFFF"/>
                </a:solidFill>
                <a:latin typeface="Oswald" panose="00000500000000000000" pitchFamily="2" charset="0"/>
              </a:rPr>
              <a:t>2. Look for a process Pi such that</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Finish[</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false</a:t>
            </a:r>
          </a:p>
          <a:p>
            <a:pPr lvl="1"/>
            <a:r>
              <a:rPr lang="en-US" sz="1200" dirty="0">
                <a:solidFill>
                  <a:srgbClr val="FFFFFF"/>
                </a:solidFill>
                <a:latin typeface="Oswald" panose="00000500000000000000" pitchFamily="2" charset="0"/>
              </a:rPr>
              <a:t>Need[</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Work (resources required can be satisfied)</a:t>
            </a:r>
          </a:p>
          <a:p>
            <a:pPr lvl="1"/>
            <a:r>
              <a:rPr lang="en-US" sz="1200" dirty="0">
                <a:solidFill>
                  <a:srgbClr val="FFFFFF"/>
                </a:solidFill>
                <a:latin typeface="Oswald" panose="00000500000000000000" pitchFamily="2" charset="0"/>
              </a:rPr>
              <a:t>3. If such a process is found</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Pretend to allocate resources to it: Work = Work + Allocation[</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a:t>
            </a:r>
          </a:p>
          <a:p>
            <a:pPr lvl="1"/>
            <a:r>
              <a:rPr lang="en-US" sz="1200" dirty="0">
                <a:solidFill>
                  <a:srgbClr val="FFFFFF"/>
                </a:solidFill>
                <a:latin typeface="Oswald" panose="00000500000000000000" pitchFamily="2" charset="0"/>
              </a:rPr>
              <a:t>Mark the process finished: Finish[</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true</a:t>
            </a:r>
          </a:p>
          <a:p>
            <a:pPr lvl="1"/>
            <a:r>
              <a:rPr lang="en-US" sz="1200" dirty="0">
                <a:solidFill>
                  <a:srgbClr val="FFFFFF"/>
                </a:solidFill>
                <a:latin typeface="Oswald" panose="00000500000000000000" pitchFamily="2" charset="0"/>
              </a:rPr>
              <a:t>Repeat step 2 for remaining processes</a:t>
            </a:r>
          </a:p>
          <a:p>
            <a:pPr lvl="1"/>
            <a:r>
              <a:rPr lang="en-US" sz="1200" dirty="0">
                <a:solidFill>
                  <a:srgbClr val="FFFFFF"/>
                </a:solidFill>
                <a:latin typeface="Oswald" panose="00000500000000000000" pitchFamily="2" charset="0"/>
              </a:rPr>
              <a:t>4. If all processes are marked finished (Finish[</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true for all), the system is safe</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Essentially, the algorithm simulates process completion to verify that all processes can finish safely</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p:txBody>
      </p:sp>
      <p:sp>
        <p:nvSpPr>
          <p:cNvPr id="5" name="Google Shape;369;p36"/>
          <p:cNvSpPr/>
          <p:nvPr/>
        </p:nvSpPr>
        <p:spPr>
          <a:xfrm>
            <a:off x="1092820" y="581258"/>
            <a:ext cx="6958361" cy="3980985"/>
          </a:xfrm>
          <a:prstGeom prst="roundRect">
            <a:avLst>
              <a:gd name="adj" fmla="val 16667"/>
            </a:avLst>
          </a:prstGeom>
          <a:noFill/>
          <a:ln w="19050" cap="flat" cmpd="sng">
            <a:solidFill>
              <a:schemeClr val="accent6">
                <a:lumMod val="40000"/>
                <a:lumOff val="60000"/>
              </a:schemeClr>
            </a:solidFill>
            <a:prstDash val="solid"/>
            <a:round/>
            <a:headEnd type="none" w="sm" len="sm"/>
            <a:tailEnd type="none" w="sm" len="sm"/>
          </a:ln>
          <a:effectLst>
            <a:outerShdw blurRad="200025" dist="19050" dir="5400000" algn="bl" rotWithShape="0">
              <a:srgbClr val="98FAFC">
                <a:alpha val="6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5122261"/>
      </p:ext>
    </p:extLst>
  </p:cSld>
  <p:clrMapOvr>
    <a:masterClrMapping/>
  </p:clrMapOvr>
  <mc:AlternateContent xmlns:mc="http://schemas.openxmlformats.org/markup-compatibility/2006" xmlns:p14="http://schemas.microsoft.com/office/powerpoint/2010/main">
    <mc:Choice Requires="p14">
      <p:transition spd="slow" p14:dur="1250">
        <p:pull/>
      </p:transition>
    </mc:Choice>
    <mc:Fallback xmlns="">
      <p:transition spd="slow">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1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C6B930-7791-0A36-3A09-CBEEB0BF5CE4}"/>
              </a:ext>
            </a:extLst>
          </p:cNvPr>
          <p:cNvSpPr txBox="1"/>
          <p:nvPr/>
        </p:nvSpPr>
        <p:spPr>
          <a:xfrm>
            <a:off x="2079349" y="715036"/>
            <a:ext cx="5340626" cy="3539430"/>
          </a:xfrm>
          <a:prstGeom prst="rect">
            <a:avLst/>
          </a:prstGeom>
          <a:solidFill>
            <a:schemeClr val="bg1">
              <a:lumMod val="10000"/>
              <a:alpha val="78000"/>
            </a:schemeClr>
          </a:solidFill>
        </p:spPr>
        <p:txBody>
          <a:bodyPr wrap="square" rtlCol="0">
            <a:spAutoFit/>
          </a:bodyPr>
          <a:lstStyle/>
          <a:p>
            <a:pPr lvl="1"/>
            <a:r>
              <a:rPr lang="en-US" sz="2000" b="1" dirty="0" smtClean="0">
                <a:solidFill>
                  <a:srgbClr val="FFFF00"/>
                </a:solidFill>
              </a:rPr>
              <a:t>Banker’s algorithm parts</a:t>
            </a:r>
          </a:p>
          <a:p>
            <a:pPr lvl="1"/>
            <a:r>
              <a:rPr lang="en-US" dirty="0" smtClean="0">
                <a:solidFill>
                  <a:srgbClr val="FFFF00"/>
                </a:solidFill>
                <a:latin typeface="Oswald" panose="00000500000000000000" pitchFamily="2" charset="0"/>
              </a:rPr>
              <a:t>Safety </a:t>
            </a:r>
            <a:r>
              <a:rPr lang="en-US" dirty="0">
                <a:solidFill>
                  <a:srgbClr val="FFFF00"/>
                </a:solidFill>
                <a:latin typeface="Oswald" panose="00000500000000000000" pitchFamily="2" charset="0"/>
              </a:rPr>
              <a:t>Algorithm</a:t>
            </a:r>
          </a:p>
          <a:p>
            <a:pPr lvl="1"/>
            <a:r>
              <a:rPr lang="en-US" sz="1200" dirty="0">
                <a:solidFill>
                  <a:srgbClr val="FFFFFF"/>
                </a:solidFill>
                <a:latin typeface="Oswald" panose="00000500000000000000" pitchFamily="2" charset="0"/>
              </a:rPr>
              <a:t>The safety algorithm checks whether the system is in a safe state-meaning all processes can complete without causing deadlock</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Steps</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1. Initialize</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Work = Available (resources currently available)</a:t>
            </a:r>
          </a:p>
          <a:p>
            <a:pPr lvl="1"/>
            <a:r>
              <a:rPr lang="en-US" sz="1200" dirty="0">
                <a:solidFill>
                  <a:srgbClr val="FFFFFF"/>
                </a:solidFill>
                <a:latin typeface="Oswald" panose="00000500000000000000" pitchFamily="2" charset="0"/>
              </a:rPr>
              <a:t>Finish[</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false for all processes (none have finished yet)</a:t>
            </a:r>
          </a:p>
          <a:p>
            <a:pPr lvl="1"/>
            <a:r>
              <a:rPr lang="en-US" sz="1200" dirty="0">
                <a:solidFill>
                  <a:srgbClr val="FFFFFF"/>
                </a:solidFill>
                <a:latin typeface="Oswald" panose="00000500000000000000" pitchFamily="2" charset="0"/>
              </a:rPr>
              <a:t>2. Look for a process Pi such that</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Finish[</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false</a:t>
            </a:r>
          </a:p>
          <a:p>
            <a:pPr lvl="1"/>
            <a:r>
              <a:rPr lang="en-US" sz="1200" dirty="0">
                <a:solidFill>
                  <a:srgbClr val="FFFFFF"/>
                </a:solidFill>
                <a:latin typeface="Oswald" panose="00000500000000000000" pitchFamily="2" charset="0"/>
              </a:rPr>
              <a:t>Need[</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Work (resources required can be satisfied)</a:t>
            </a:r>
          </a:p>
          <a:p>
            <a:pPr lvl="1"/>
            <a:r>
              <a:rPr lang="en-US" sz="1200" dirty="0">
                <a:solidFill>
                  <a:srgbClr val="FFFFFF"/>
                </a:solidFill>
                <a:latin typeface="Oswald" panose="00000500000000000000" pitchFamily="2" charset="0"/>
              </a:rPr>
              <a:t>3. If such a process is found</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Pretend to allocate resources to it: Work = Work + Allocation[</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a:t>
            </a:r>
          </a:p>
          <a:p>
            <a:pPr lvl="1"/>
            <a:r>
              <a:rPr lang="en-US" sz="1200" dirty="0">
                <a:solidFill>
                  <a:srgbClr val="FFFFFF"/>
                </a:solidFill>
                <a:latin typeface="Oswald" panose="00000500000000000000" pitchFamily="2" charset="0"/>
              </a:rPr>
              <a:t>Mark the process finished: Finish[</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true</a:t>
            </a:r>
          </a:p>
          <a:p>
            <a:pPr lvl="1"/>
            <a:r>
              <a:rPr lang="en-US" sz="1200" dirty="0">
                <a:solidFill>
                  <a:srgbClr val="FFFFFF"/>
                </a:solidFill>
                <a:latin typeface="Oswald" panose="00000500000000000000" pitchFamily="2" charset="0"/>
              </a:rPr>
              <a:t>Repeat step 2 for remaining processes</a:t>
            </a:r>
          </a:p>
          <a:p>
            <a:pPr lvl="1"/>
            <a:r>
              <a:rPr lang="en-US" sz="1200" dirty="0">
                <a:solidFill>
                  <a:srgbClr val="FFFFFF"/>
                </a:solidFill>
                <a:latin typeface="Oswald" panose="00000500000000000000" pitchFamily="2" charset="0"/>
              </a:rPr>
              <a:t>4. If all processes are marked finished (Finish[</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true for all), the system is safe</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Essentially, the algorithm simulates process completion to verify that all processes can finish safely</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p:txBody>
      </p:sp>
      <p:sp>
        <p:nvSpPr>
          <p:cNvPr id="5" name="Google Shape;369;p36"/>
          <p:cNvSpPr/>
          <p:nvPr/>
        </p:nvSpPr>
        <p:spPr>
          <a:xfrm>
            <a:off x="1092820" y="581258"/>
            <a:ext cx="6958361" cy="3980985"/>
          </a:xfrm>
          <a:prstGeom prst="roundRect">
            <a:avLst>
              <a:gd name="adj" fmla="val 16667"/>
            </a:avLst>
          </a:prstGeom>
          <a:noFill/>
          <a:ln w="19050" cap="flat" cmpd="sng">
            <a:solidFill>
              <a:schemeClr val="accent6">
                <a:lumMod val="40000"/>
                <a:lumOff val="60000"/>
              </a:schemeClr>
            </a:solidFill>
            <a:prstDash val="solid"/>
            <a:round/>
            <a:headEnd type="none" w="sm" len="sm"/>
            <a:tailEnd type="none" w="sm" len="sm"/>
          </a:ln>
          <a:effectLst>
            <a:outerShdw blurRad="200025" dist="19050" dir="5400000" algn="bl" rotWithShape="0">
              <a:srgbClr val="98FAFC">
                <a:alpha val="6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88087912"/>
      </p:ext>
    </p:extLst>
  </p:cSld>
  <p:clrMapOvr>
    <a:masterClrMapping/>
  </p:clrMapOvr>
  <mc:AlternateContent xmlns:mc="http://schemas.openxmlformats.org/markup-compatibility/2006" xmlns:p14="http://schemas.microsoft.com/office/powerpoint/2010/main">
    <mc:Choice Requires="p14">
      <p:transition spd="slow" p14:dur="1250">
        <p:pull/>
      </p:transition>
    </mc:Choice>
    <mc:Fallback xmlns="">
      <p:transition spd="slow">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1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5C6B930-7791-0A36-3A09-CBEEB0BF5CE4}"/>
              </a:ext>
            </a:extLst>
          </p:cNvPr>
          <p:cNvSpPr txBox="1"/>
          <p:nvPr/>
        </p:nvSpPr>
        <p:spPr>
          <a:xfrm>
            <a:off x="2079349" y="715036"/>
            <a:ext cx="5340626" cy="3385542"/>
          </a:xfrm>
          <a:prstGeom prst="rect">
            <a:avLst/>
          </a:prstGeom>
          <a:solidFill>
            <a:schemeClr val="bg1">
              <a:lumMod val="10000"/>
              <a:alpha val="78000"/>
            </a:schemeClr>
          </a:solidFill>
        </p:spPr>
        <p:txBody>
          <a:bodyPr wrap="square" rtlCol="0">
            <a:spAutoFit/>
          </a:bodyPr>
          <a:lstStyle/>
          <a:p>
            <a:pPr lvl="1"/>
            <a:r>
              <a:rPr lang="en-US" sz="2000" b="1" dirty="0" smtClean="0">
                <a:solidFill>
                  <a:srgbClr val="FFFF00"/>
                </a:solidFill>
              </a:rPr>
              <a:t>Banker’s algorithm parts</a:t>
            </a:r>
          </a:p>
          <a:p>
            <a:pPr lvl="1"/>
            <a:r>
              <a:rPr lang="en-US" dirty="0" smtClean="0">
                <a:solidFill>
                  <a:srgbClr val="FFFF00"/>
                </a:solidFill>
                <a:latin typeface="Oswald" panose="00000500000000000000" pitchFamily="2" charset="0"/>
              </a:rPr>
              <a:t>Resource </a:t>
            </a:r>
            <a:r>
              <a:rPr lang="en-US" dirty="0">
                <a:solidFill>
                  <a:srgbClr val="FFFF00"/>
                </a:solidFill>
                <a:latin typeface="Oswald" panose="00000500000000000000" pitchFamily="2" charset="0"/>
              </a:rPr>
              <a:t>Request Algorithm</a:t>
            </a:r>
          </a:p>
          <a:p>
            <a:pPr lvl="1"/>
            <a:r>
              <a:rPr lang="en-US" sz="1200" dirty="0">
                <a:solidFill>
                  <a:srgbClr val="FFFFFF"/>
                </a:solidFill>
                <a:latin typeface="Oswald" panose="00000500000000000000" pitchFamily="2" charset="0"/>
              </a:rPr>
              <a:t>This algorithm decides if a process’s resource request can be granted </a:t>
            </a:r>
            <a:r>
              <a:rPr lang="en-US" sz="1200" dirty="0" smtClean="0">
                <a:solidFill>
                  <a:srgbClr val="FFFFFF"/>
                </a:solidFill>
                <a:latin typeface="Oswald" panose="00000500000000000000" pitchFamily="2" charset="0"/>
              </a:rPr>
              <a:t>safely</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Steps</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1. Check if the request exceeds the process’s maximum need: If Request[</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Need[</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continue; otherwise, error</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2. Check if resources are available: If Request[</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Available, continue; otherwise, the process waits</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3. Temporarily allocate the resources</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Available = Available - Request[</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a:t>
            </a:r>
          </a:p>
          <a:p>
            <a:pPr lvl="1"/>
            <a:r>
              <a:rPr lang="en-US" sz="1200" dirty="0">
                <a:solidFill>
                  <a:srgbClr val="FFFFFF"/>
                </a:solidFill>
                <a:latin typeface="Oswald" panose="00000500000000000000" pitchFamily="2" charset="0"/>
              </a:rPr>
              <a:t>Allocation[</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Allocation[</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Request[</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a:t>
            </a:r>
          </a:p>
          <a:p>
            <a:pPr lvl="1"/>
            <a:r>
              <a:rPr lang="en-US" sz="1200" dirty="0">
                <a:solidFill>
                  <a:srgbClr val="FFFFFF"/>
                </a:solidFill>
                <a:latin typeface="Oswald" panose="00000500000000000000" pitchFamily="2" charset="0"/>
              </a:rPr>
              <a:t>Need[</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Need[</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 - Request[</a:t>
            </a:r>
            <a:r>
              <a:rPr lang="en-US" sz="1200" dirty="0" err="1">
                <a:solidFill>
                  <a:srgbClr val="FFFFFF"/>
                </a:solidFill>
                <a:latin typeface="Oswald" panose="00000500000000000000" pitchFamily="2" charset="0"/>
              </a:rPr>
              <a:t>i</a:t>
            </a:r>
            <a:r>
              <a:rPr lang="en-US" sz="1200" dirty="0">
                <a:solidFill>
                  <a:srgbClr val="FFFFFF"/>
                </a:solidFill>
                <a:latin typeface="Oswald" panose="00000500000000000000" pitchFamily="2" charset="0"/>
              </a:rPr>
              <a:t>]</a:t>
            </a:r>
          </a:p>
          <a:p>
            <a:pPr lvl="1"/>
            <a:r>
              <a:rPr lang="en-US" sz="1200" dirty="0">
                <a:solidFill>
                  <a:srgbClr val="FFFFFF"/>
                </a:solidFill>
                <a:latin typeface="Oswald" panose="00000500000000000000" pitchFamily="2" charset="0"/>
              </a:rPr>
              <a:t>4. Run the Safety Algorithm</a:t>
            </a:r>
            <a:r>
              <a:rPr lang="en-US" sz="1200" dirty="0" smtClean="0">
                <a:solidFill>
                  <a:srgbClr val="FFFFFF"/>
                </a:solidFill>
                <a:latin typeface="Oswald" panose="00000500000000000000" pitchFamily="2" charset="0"/>
              </a:rPr>
              <a:t>:</a:t>
            </a:r>
            <a:endParaRPr lang="en-US" sz="1200" dirty="0">
              <a:solidFill>
                <a:srgbClr val="FFFFFF"/>
              </a:solidFill>
              <a:latin typeface="Oswald" panose="00000500000000000000" pitchFamily="2" charset="0"/>
            </a:endParaRPr>
          </a:p>
          <a:p>
            <a:pPr lvl="1"/>
            <a:r>
              <a:rPr lang="en-US" sz="1200" dirty="0">
                <a:solidFill>
                  <a:srgbClr val="FFFFFF"/>
                </a:solidFill>
                <a:latin typeface="Oswald" panose="00000500000000000000" pitchFamily="2" charset="0"/>
              </a:rPr>
              <a:t>If the new state is safe, grant the request.</a:t>
            </a:r>
          </a:p>
          <a:p>
            <a:pPr lvl="1"/>
            <a:r>
              <a:rPr lang="en-US" sz="1200" dirty="0">
                <a:solidFill>
                  <a:srgbClr val="FFFFFF"/>
                </a:solidFill>
                <a:latin typeface="Oswald" panose="00000500000000000000" pitchFamily="2" charset="0"/>
              </a:rPr>
              <a:t>If unsafe, roll back and make the process wait.</a:t>
            </a:r>
          </a:p>
          <a:p>
            <a:pPr lvl="1"/>
            <a:r>
              <a:rPr lang="en-US" sz="1200" dirty="0">
                <a:solidFill>
                  <a:srgbClr val="FFFFFF"/>
                </a:solidFill>
                <a:latin typeface="Oswald" panose="00000500000000000000" pitchFamily="2" charset="0"/>
              </a:rPr>
              <a:t>In short, the resource-request algorithm </a:t>
            </a:r>
            <a:r>
              <a:rPr lang="en-US" sz="1200" dirty="0" err="1">
                <a:solidFill>
                  <a:srgbClr val="FFFFFF"/>
                </a:solidFill>
                <a:latin typeface="Oswald" panose="00000500000000000000" pitchFamily="2" charset="0"/>
              </a:rPr>
              <a:t>nsures</a:t>
            </a:r>
            <a:r>
              <a:rPr lang="en-US" sz="1200" dirty="0">
                <a:solidFill>
                  <a:srgbClr val="FFFFFF"/>
                </a:solidFill>
                <a:latin typeface="Oswald" panose="00000500000000000000" pitchFamily="2" charset="0"/>
              </a:rPr>
              <a:t> resources are only granted if the system remains safe, preventing </a:t>
            </a:r>
            <a:r>
              <a:rPr lang="en-US" sz="1200" dirty="0" smtClean="0">
                <a:solidFill>
                  <a:srgbClr val="FFFFFF"/>
                </a:solidFill>
                <a:latin typeface="Oswald" panose="00000500000000000000" pitchFamily="2" charset="0"/>
              </a:rPr>
              <a:t>deadlock</a:t>
            </a:r>
            <a:endParaRPr lang="en-US" sz="1200" dirty="0">
              <a:solidFill>
                <a:srgbClr val="FFFFFF"/>
              </a:solidFill>
              <a:latin typeface="Oswald" panose="00000500000000000000" pitchFamily="2" charset="0"/>
            </a:endParaRPr>
          </a:p>
        </p:txBody>
      </p:sp>
      <p:sp>
        <p:nvSpPr>
          <p:cNvPr id="5" name="Google Shape;369;p36"/>
          <p:cNvSpPr/>
          <p:nvPr/>
        </p:nvSpPr>
        <p:spPr>
          <a:xfrm>
            <a:off x="1092820" y="581258"/>
            <a:ext cx="6958361" cy="3980985"/>
          </a:xfrm>
          <a:prstGeom prst="roundRect">
            <a:avLst>
              <a:gd name="adj" fmla="val 16667"/>
            </a:avLst>
          </a:prstGeom>
          <a:noFill/>
          <a:ln w="19050" cap="flat" cmpd="sng">
            <a:solidFill>
              <a:schemeClr val="accent6">
                <a:lumMod val="40000"/>
                <a:lumOff val="60000"/>
              </a:schemeClr>
            </a:solidFill>
            <a:prstDash val="solid"/>
            <a:round/>
            <a:headEnd type="none" w="sm" len="sm"/>
            <a:tailEnd type="none" w="sm" len="sm"/>
          </a:ln>
          <a:effectLst>
            <a:outerShdw blurRad="200025" dist="19050" dir="5400000" algn="bl" rotWithShape="0">
              <a:srgbClr val="98FAFC">
                <a:alpha val="67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010688"/>
      </p:ext>
    </p:extLst>
  </p:cSld>
  <p:clrMapOvr>
    <a:masterClrMapping/>
  </p:clrMapOvr>
  <mc:AlternateContent xmlns:mc="http://schemas.openxmlformats.org/markup-compatibility/2006" xmlns:p14="http://schemas.microsoft.com/office/powerpoint/2010/main">
    <mc:Choice Requires="p14">
      <p:transition spd="slow" p14:dur="1250">
        <p:pull/>
      </p:transition>
    </mc:Choice>
    <mc:Fallback xmlns="">
      <p:transition spd="slow">
        <p:pull/>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down)">
                                      <p:cBhvr>
                                        <p:cTn id="10" dur="17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303" name="Google Shape;303;p33"/>
          <p:cNvSpPr txBox="1">
            <a:spLocks noGrp="1"/>
          </p:cNvSpPr>
          <p:nvPr>
            <p:ph type="title"/>
          </p:nvPr>
        </p:nvSpPr>
        <p:spPr>
          <a:xfrm>
            <a:off x="515782" y="221591"/>
            <a:ext cx="8112436" cy="1174501"/>
          </a:xfrm>
          <a:prstGeom prst="rect">
            <a:avLst/>
          </a:prstGeom>
        </p:spPr>
        <p:txBody>
          <a:bodyPr spcFirstLastPara="1" wrap="square" lIns="0" tIns="0" rIns="0" bIns="0" anchor="t" anchorCtr="0">
            <a:noAutofit/>
          </a:bodyPr>
          <a:lstStyle/>
          <a:p>
            <a:r>
              <a:rPr lang="en-US" sz="1800" dirty="0" smtClean="0">
                <a:solidFill>
                  <a:srgbClr val="FFFF00"/>
                </a:solidFill>
              </a:rPr>
              <a:t>Example</a:t>
            </a:r>
            <a:r>
              <a:rPr lang="en-US" sz="1800" dirty="0">
                <a:solidFill>
                  <a:srgbClr val="FFFF00"/>
                </a:solidFill>
              </a:rPr>
              <a:t>: </a:t>
            </a:r>
            <a:r>
              <a:rPr lang="en-US" sz="1800" dirty="0"/>
              <a:t>Considering a system with five processes P0 through P4 and three resources of </a:t>
            </a:r>
            <a:r>
              <a:rPr lang="en-US" sz="1800" dirty="0" smtClean="0"/>
              <a:t>type</a:t>
            </a:r>
            <a:br>
              <a:rPr lang="en-US" sz="1800" dirty="0" smtClean="0"/>
            </a:br>
            <a:r>
              <a:rPr lang="en-US" sz="1800" dirty="0" smtClean="0"/>
              <a:t> </a:t>
            </a:r>
            <a:r>
              <a:rPr lang="en-US" sz="1800" dirty="0"/>
              <a:t>A, B, C. Resource type A has 10 instances, B has 5 instances and type C has 7 instances. </a:t>
            </a:r>
            <a:r>
              <a:rPr lang="en-US" sz="1800" dirty="0" smtClean="0"/>
              <a:t/>
            </a:r>
            <a:br>
              <a:rPr lang="en-US" sz="1800" dirty="0" smtClean="0"/>
            </a:br>
            <a:r>
              <a:rPr lang="en-US" sz="1800" dirty="0" smtClean="0"/>
              <a:t>Suppose </a:t>
            </a:r>
            <a:r>
              <a:rPr lang="en-US" sz="1800" dirty="0"/>
              <a:t>at time t0 following snapshot of the system has been taken:</a:t>
            </a:r>
            <a:endParaRPr sz="2400" dirty="0">
              <a:solidFill>
                <a:schemeClr val="tx1"/>
              </a:solidFill>
            </a:endParaRPr>
          </a:p>
        </p:txBody>
      </p:sp>
      <p:cxnSp>
        <p:nvCxnSpPr>
          <p:cNvPr id="321" name="Google Shape;321;p33"/>
          <p:cNvCxnSpPr/>
          <p:nvPr/>
        </p:nvCxnSpPr>
        <p:spPr>
          <a:xfrm>
            <a:off x="1406216" y="1512708"/>
            <a:ext cx="0" cy="30297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pic>
        <p:nvPicPr>
          <p:cNvPr id="46" name="Picture 4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0376" y="1512708"/>
            <a:ext cx="5104363" cy="30297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8236415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wipe(down)">
                                      <p:cBhvr>
                                        <p:cTn id="7" dur="1000"/>
                                        <p:tgtEl>
                                          <p:spTgt spid="30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21"/>
                                        </p:tgtEl>
                                        <p:attrNameLst>
                                          <p:attrName>style.visibility</p:attrName>
                                        </p:attrNameLst>
                                      </p:cBhvr>
                                      <p:to>
                                        <p:strVal val="visible"/>
                                      </p:to>
                                    </p:set>
                                    <p:animEffect transition="in" filter="wipe(down)">
                                      <p:cBhvr>
                                        <p:cTn id="11" dur="1000"/>
                                        <p:tgtEl>
                                          <p:spTgt spid="321"/>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down)">
                                      <p:cBhvr>
                                        <p:cTn id="15" dur="1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303" name="Google Shape;303;p33"/>
          <p:cNvSpPr txBox="1">
            <a:spLocks noGrp="1"/>
          </p:cNvSpPr>
          <p:nvPr>
            <p:ph type="title"/>
          </p:nvPr>
        </p:nvSpPr>
        <p:spPr>
          <a:xfrm>
            <a:off x="515782" y="221591"/>
            <a:ext cx="8112436" cy="1174501"/>
          </a:xfrm>
          <a:prstGeom prst="rect">
            <a:avLst/>
          </a:prstGeom>
        </p:spPr>
        <p:txBody>
          <a:bodyPr spcFirstLastPara="1" wrap="square" lIns="0" tIns="0" rIns="0" bIns="0" anchor="t" anchorCtr="0">
            <a:noAutofit/>
          </a:bodyPr>
          <a:lstStyle/>
          <a:p>
            <a:r>
              <a:rPr lang="en-US" sz="1800" dirty="0" smtClean="0">
                <a:solidFill>
                  <a:srgbClr val="FFFF00"/>
                </a:solidFill>
              </a:rPr>
              <a:t>Need </a:t>
            </a:r>
            <a:r>
              <a:rPr lang="en-US" sz="1800" dirty="0">
                <a:solidFill>
                  <a:srgbClr val="FFFF00"/>
                </a:solidFill>
              </a:rPr>
              <a:t>Matrix</a:t>
            </a:r>
            <a:br>
              <a:rPr lang="en-US" sz="1800" dirty="0">
                <a:solidFill>
                  <a:srgbClr val="FFFF00"/>
                </a:solidFill>
              </a:rPr>
            </a:br>
            <a:r>
              <a:rPr lang="en-US" sz="1800" dirty="0">
                <a:solidFill>
                  <a:srgbClr val="FFFF00"/>
                </a:solidFill>
              </a:rPr>
              <a:t>Need [</a:t>
            </a:r>
            <a:r>
              <a:rPr lang="en-US" sz="1800" dirty="0" err="1">
                <a:solidFill>
                  <a:srgbClr val="FFFF00"/>
                </a:solidFill>
              </a:rPr>
              <a:t>i</a:t>
            </a:r>
            <a:r>
              <a:rPr lang="en-US" sz="1800" dirty="0">
                <a:solidFill>
                  <a:srgbClr val="FFFF00"/>
                </a:solidFill>
              </a:rPr>
              <a:t>, j] = Max [</a:t>
            </a:r>
            <a:r>
              <a:rPr lang="en-US" sz="1800" dirty="0" err="1">
                <a:solidFill>
                  <a:srgbClr val="FFFF00"/>
                </a:solidFill>
              </a:rPr>
              <a:t>i</a:t>
            </a:r>
            <a:r>
              <a:rPr lang="en-US" sz="1800" dirty="0">
                <a:solidFill>
                  <a:srgbClr val="FFFF00"/>
                </a:solidFill>
              </a:rPr>
              <a:t>, j] – Allocation [</a:t>
            </a:r>
            <a:r>
              <a:rPr lang="en-US" sz="1800" dirty="0" err="1">
                <a:solidFill>
                  <a:srgbClr val="FFFF00"/>
                </a:solidFill>
              </a:rPr>
              <a:t>i</a:t>
            </a:r>
            <a:r>
              <a:rPr lang="en-US" sz="1800" dirty="0">
                <a:solidFill>
                  <a:srgbClr val="FFFF00"/>
                </a:solidFill>
              </a:rPr>
              <a:t>, j]</a:t>
            </a:r>
            <a:br>
              <a:rPr lang="en-US" sz="1800" dirty="0">
                <a:solidFill>
                  <a:srgbClr val="FFFF00"/>
                </a:solidFill>
              </a:rPr>
            </a:br>
            <a:r>
              <a:rPr lang="en-US" sz="1800" dirty="0">
                <a:solidFill>
                  <a:srgbClr val="FFFF00"/>
                </a:solidFill>
              </a:rPr>
              <a:t>So, the content of Need Matrix is:</a:t>
            </a:r>
            <a:br>
              <a:rPr lang="en-US" sz="1800" dirty="0">
                <a:solidFill>
                  <a:srgbClr val="FFFF00"/>
                </a:solidFill>
              </a:rPr>
            </a:br>
            <a:r>
              <a:rPr lang="en-US" sz="1800" dirty="0">
                <a:solidFill>
                  <a:srgbClr val="FFFF00"/>
                </a:solidFill>
              </a:rPr>
              <a:t/>
            </a:r>
            <a:br>
              <a:rPr lang="en-US" sz="1800" dirty="0">
                <a:solidFill>
                  <a:srgbClr val="FFFF00"/>
                </a:solidFill>
              </a:rPr>
            </a:br>
            <a:endParaRPr sz="2400" dirty="0">
              <a:solidFill>
                <a:schemeClr val="tx1"/>
              </a:solidFill>
            </a:endParaRPr>
          </a:p>
        </p:txBody>
      </p:sp>
      <p:cxnSp>
        <p:nvCxnSpPr>
          <p:cNvPr id="321" name="Google Shape;321;p33"/>
          <p:cNvCxnSpPr/>
          <p:nvPr/>
        </p:nvCxnSpPr>
        <p:spPr>
          <a:xfrm>
            <a:off x="1406216" y="1512708"/>
            <a:ext cx="0" cy="30297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pic>
        <p:nvPicPr>
          <p:cNvPr id="46" name="Picture 4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10376" y="1751467"/>
            <a:ext cx="5104363" cy="25521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9254333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wipe(down)">
                                      <p:cBhvr>
                                        <p:cTn id="7" dur="1000"/>
                                        <p:tgtEl>
                                          <p:spTgt spid="30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21"/>
                                        </p:tgtEl>
                                        <p:attrNameLst>
                                          <p:attrName>style.visibility</p:attrName>
                                        </p:attrNameLst>
                                      </p:cBhvr>
                                      <p:to>
                                        <p:strVal val="visible"/>
                                      </p:to>
                                    </p:set>
                                    <p:animEffect transition="in" filter="wipe(down)">
                                      <p:cBhvr>
                                        <p:cTn id="11" dur="1000"/>
                                        <p:tgtEl>
                                          <p:spTgt spid="321"/>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down)">
                                      <p:cBhvr>
                                        <p:cTn id="15" dur="1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blip>
          <a:srcRect/>
          <a:stretch>
            <a:fillRect/>
          </a:stretch>
        </a:blipFill>
        <a:effectLst/>
      </p:bgPr>
    </p:bg>
    <p:spTree>
      <p:nvGrpSpPr>
        <p:cNvPr id="1" name="Shape 281"/>
        <p:cNvGrpSpPr/>
        <p:nvPr/>
      </p:nvGrpSpPr>
      <p:grpSpPr>
        <a:xfrm>
          <a:off x="0" y="0"/>
          <a:ext cx="0" cy="0"/>
          <a:chOff x="0" y="0"/>
          <a:chExt cx="0" cy="0"/>
        </a:xfrm>
      </p:grpSpPr>
      <p:sp>
        <p:nvSpPr>
          <p:cNvPr id="303" name="Google Shape;303;p33"/>
          <p:cNvSpPr txBox="1">
            <a:spLocks noGrp="1"/>
          </p:cNvSpPr>
          <p:nvPr>
            <p:ph type="title"/>
          </p:nvPr>
        </p:nvSpPr>
        <p:spPr>
          <a:xfrm>
            <a:off x="515782" y="221591"/>
            <a:ext cx="8112436" cy="1174501"/>
          </a:xfrm>
          <a:prstGeom prst="rect">
            <a:avLst/>
          </a:prstGeom>
        </p:spPr>
        <p:txBody>
          <a:bodyPr spcFirstLastPara="1" wrap="square" lIns="0" tIns="0" rIns="0" bIns="0" anchor="t" anchorCtr="0">
            <a:noAutofit/>
          </a:bodyPr>
          <a:lstStyle/>
          <a:p>
            <a:r>
              <a:rPr lang="en-US" sz="1800" dirty="0">
                <a:solidFill>
                  <a:srgbClr val="FFFF00"/>
                </a:solidFill>
              </a:rPr>
              <a:t/>
            </a:r>
            <a:br>
              <a:rPr lang="en-US" sz="1800" dirty="0">
                <a:solidFill>
                  <a:srgbClr val="FFFF00"/>
                </a:solidFill>
              </a:rPr>
            </a:br>
            <a:r>
              <a:rPr lang="en-US" sz="1800" dirty="0">
                <a:solidFill>
                  <a:srgbClr val="FFFF00"/>
                </a:solidFill>
              </a:rPr>
              <a:t>Safe State and Safe Sequence Analysis</a:t>
            </a:r>
            <a:br>
              <a:rPr lang="en-US" sz="1800" dirty="0">
                <a:solidFill>
                  <a:srgbClr val="FFFF00"/>
                </a:solidFill>
              </a:rPr>
            </a:br>
            <a:r>
              <a:rPr lang="en-US" sz="1800" dirty="0">
                <a:solidFill>
                  <a:srgbClr val="FFFF00"/>
                </a:solidFill>
              </a:rPr>
              <a:t>Applying the Safety algorithm on the given system</a:t>
            </a:r>
            <a:br>
              <a:rPr lang="en-US" sz="1800" dirty="0">
                <a:solidFill>
                  <a:srgbClr val="FFFF00"/>
                </a:solidFill>
              </a:rPr>
            </a:br>
            <a:r>
              <a:rPr lang="en-US" sz="1800" dirty="0">
                <a:solidFill>
                  <a:srgbClr val="FFFF00"/>
                </a:solidFill>
              </a:rPr>
              <a:t>'n' </a:t>
            </a:r>
            <a:r>
              <a:rPr lang="en-US" sz="1800" dirty="0" smtClean="0">
                <a:solidFill>
                  <a:srgbClr val="FFFF00"/>
                </a:solidFill>
              </a:rPr>
              <a:t>is </a:t>
            </a:r>
            <a:r>
              <a:rPr lang="en-US" sz="1800" dirty="0">
                <a:solidFill>
                  <a:srgbClr val="FFFF00"/>
                </a:solidFill>
              </a:rPr>
              <a:t>the number of processes in the system and 'm' </a:t>
            </a:r>
            <a:r>
              <a:rPr lang="en-US" sz="1800" dirty="0" smtClean="0">
                <a:solidFill>
                  <a:srgbClr val="FFFF00"/>
                </a:solidFill>
              </a:rPr>
              <a:t>is </a:t>
            </a:r>
            <a:r>
              <a:rPr lang="en-US" sz="1800" dirty="0">
                <a:solidFill>
                  <a:srgbClr val="FFFF00"/>
                </a:solidFill>
              </a:rPr>
              <a:t>the number of resource types</a:t>
            </a:r>
            <a:r>
              <a:rPr lang="en-US" sz="1800" dirty="0" smtClean="0">
                <a:solidFill>
                  <a:srgbClr val="FFFF00"/>
                </a:solidFill>
              </a:rPr>
              <a:t/>
            </a:r>
            <a:br>
              <a:rPr lang="en-US" sz="1800" dirty="0" smtClean="0">
                <a:solidFill>
                  <a:srgbClr val="FFFF00"/>
                </a:solidFill>
              </a:rPr>
            </a:br>
            <a:endParaRPr sz="2400" dirty="0">
              <a:solidFill>
                <a:srgbClr val="FFFF00"/>
              </a:solidFill>
            </a:endParaRPr>
          </a:p>
        </p:txBody>
      </p:sp>
      <p:cxnSp>
        <p:nvCxnSpPr>
          <p:cNvPr id="321" name="Google Shape;321;p33"/>
          <p:cNvCxnSpPr/>
          <p:nvPr/>
        </p:nvCxnSpPr>
        <p:spPr>
          <a:xfrm>
            <a:off x="1406216" y="1512708"/>
            <a:ext cx="0" cy="30297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pic>
        <p:nvPicPr>
          <p:cNvPr id="46" name="Picture 4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0376" y="1751467"/>
            <a:ext cx="5104362" cy="25521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79876192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wipe(down)">
                                      <p:cBhvr>
                                        <p:cTn id="7" dur="1000"/>
                                        <p:tgtEl>
                                          <p:spTgt spid="30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21"/>
                                        </p:tgtEl>
                                        <p:attrNameLst>
                                          <p:attrName>style.visibility</p:attrName>
                                        </p:attrNameLst>
                                      </p:cBhvr>
                                      <p:to>
                                        <p:strVal val="visible"/>
                                      </p:to>
                                    </p:set>
                                    <p:animEffect transition="in" filter="wipe(down)">
                                      <p:cBhvr>
                                        <p:cTn id="11" dur="1000"/>
                                        <p:tgtEl>
                                          <p:spTgt spid="321"/>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down)">
                                      <p:cBhvr>
                                        <p:cTn id="15" dur="1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7000"/>
            <a:lum/>
          </a:blip>
          <a:srcRect/>
          <a:stretch>
            <a:fillRect/>
          </a:stretch>
        </a:blipFill>
        <a:effectLst/>
      </p:bgPr>
    </p:bg>
    <p:spTree>
      <p:nvGrpSpPr>
        <p:cNvPr id="1" name="Shape 281"/>
        <p:cNvGrpSpPr/>
        <p:nvPr/>
      </p:nvGrpSpPr>
      <p:grpSpPr>
        <a:xfrm>
          <a:off x="0" y="0"/>
          <a:ext cx="0" cy="0"/>
          <a:chOff x="0" y="0"/>
          <a:chExt cx="0" cy="0"/>
        </a:xfrm>
      </p:grpSpPr>
      <p:sp>
        <p:nvSpPr>
          <p:cNvPr id="303" name="Google Shape;303;p33"/>
          <p:cNvSpPr txBox="1">
            <a:spLocks noGrp="1"/>
          </p:cNvSpPr>
          <p:nvPr>
            <p:ph type="title"/>
          </p:nvPr>
        </p:nvSpPr>
        <p:spPr>
          <a:xfrm>
            <a:off x="515782" y="221591"/>
            <a:ext cx="8112436" cy="1174501"/>
          </a:xfrm>
          <a:prstGeom prst="rect">
            <a:avLst/>
          </a:prstGeom>
        </p:spPr>
        <p:txBody>
          <a:bodyPr spcFirstLastPara="1" wrap="square" lIns="0" tIns="0" rIns="0" bIns="0" anchor="t" anchorCtr="0">
            <a:noAutofit/>
          </a:bodyPr>
          <a:lstStyle/>
          <a:p>
            <a:r>
              <a:rPr lang="en-US" sz="1800" dirty="0">
                <a:solidFill>
                  <a:srgbClr val="FFFF00"/>
                </a:solidFill>
              </a:rPr>
              <a:t/>
            </a:r>
            <a:br>
              <a:rPr lang="en-US" sz="1800" dirty="0">
                <a:solidFill>
                  <a:srgbClr val="FFFF00"/>
                </a:solidFill>
              </a:rPr>
            </a:br>
            <a:r>
              <a:rPr lang="en-US" sz="1800" dirty="0">
                <a:solidFill>
                  <a:srgbClr val="FFFF00"/>
                </a:solidFill>
              </a:rPr>
              <a:t>Safe State and Safe Sequence Analysis</a:t>
            </a:r>
            <a:br>
              <a:rPr lang="en-US" sz="1800" dirty="0">
                <a:solidFill>
                  <a:srgbClr val="FFFF00"/>
                </a:solidFill>
              </a:rPr>
            </a:br>
            <a:r>
              <a:rPr lang="en-US" sz="1800" dirty="0">
                <a:solidFill>
                  <a:srgbClr val="FFFF00"/>
                </a:solidFill>
              </a:rPr>
              <a:t>Applying the Safety algorithm on the given system,</a:t>
            </a:r>
            <a:endParaRPr sz="2400" dirty="0">
              <a:solidFill>
                <a:schemeClr val="tx1"/>
              </a:solidFill>
            </a:endParaRPr>
          </a:p>
        </p:txBody>
      </p:sp>
      <p:cxnSp>
        <p:nvCxnSpPr>
          <p:cNvPr id="321" name="Google Shape;321;p33"/>
          <p:cNvCxnSpPr/>
          <p:nvPr/>
        </p:nvCxnSpPr>
        <p:spPr>
          <a:xfrm>
            <a:off x="1406216" y="1512708"/>
            <a:ext cx="0" cy="30297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pic>
        <p:nvPicPr>
          <p:cNvPr id="46" name="Picture 4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0376" y="1751467"/>
            <a:ext cx="5104362" cy="25521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45627703"/>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wipe(down)">
                                      <p:cBhvr>
                                        <p:cTn id="7" dur="1000"/>
                                        <p:tgtEl>
                                          <p:spTgt spid="30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21"/>
                                        </p:tgtEl>
                                        <p:attrNameLst>
                                          <p:attrName>style.visibility</p:attrName>
                                        </p:attrNameLst>
                                      </p:cBhvr>
                                      <p:to>
                                        <p:strVal val="visible"/>
                                      </p:to>
                                    </p:set>
                                    <p:animEffect transition="in" filter="wipe(down)">
                                      <p:cBhvr>
                                        <p:cTn id="11" dur="1000"/>
                                        <p:tgtEl>
                                          <p:spTgt spid="321"/>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down)">
                                      <p:cBhvr>
                                        <p:cTn id="15" dur="1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blip>
          <a:srcRect/>
          <a:stretch>
            <a:fillRect/>
          </a:stretch>
        </a:blipFill>
        <a:effectLst/>
      </p:bgPr>
    </p:bg>
    <p:spTree>
      <p:nvGrpSpPr>
        <p:cNvPr id="1" name="Shape 281"/>
        <p:cNvGrpSpPr/>
        <p:nvPr/>
      </p:nvGrpSpPr>
      <p:grpSpPr>
        <a:xfrm>
          <a:off x="0" y="0"/>
          <a:ext cx="0" cy="0"/>
          <a:chOff x="0" y="0"/>
          <a:chExt cx="0" cy="0"/>
        </a:xfrm>
      </p:grpSpPr>
      <p:sp>
        <p:nvSpPr>
          <p:cNvPr id="303" name="Google Shape;303;p33"/>
          <p:cNvSpPr txBox="1">
            <a:spLocks noGrp="1"/>
          </p:cNvSpPr>
          <p:nvPr>
            <p:ph type="title"/>
          </p:nvPr>
        </p:nvSpPr>
        <p:spPr>
          <a:xfrm>
            <a:off x="515782" y="221591"/>
            <a:ext cx="8112436" cy="1174501"/>
          </a:xfrm>
          <a:prstGeom prst="rect">
            <a:avLst/>
          </a:prstGeom>
        </p:spPr>
        <p:txBody>
          <a:bodyPr spcFirstLastPara="1" wrap="square" lIns="0" tIns="0" rIns="0" bIns="0" anchor="t" anchorCtr="0">
            <a:noAutofit/>
          </a:bodyPr>
          <a:lstStyle/>
          <a:p>
            <a:r>
              <a:rPr lang="en-US" sz="1800" dirty="0">
                <a:solidFill>
                  <a:srgbClr val="FFFF00"/>
                </a:solidFill>
              </a:rPr>
              <a:t/>
            </a:r>
            <a:br>
              <a:rPr lang="en-US" sz="1800" dirty="0">
                <a:solidFill>
                  <a:srgbClr val="FFFF00"/>
                </a:solidFill>
              </a:rPr>
            </a:br>
            <a:r>
              <a:rPr lang="en-US" sz="1800" dirty="0">
                <a:solidFill>
                  <a:srgbClr val="FFFF00"/>
                </a:solidFill>
              </a:rPr>
              <a:t>Safe State and Safe Sequence Analysis</a:t>
            </a:r>
            <a:br>
              <a:rPr lang="en-US" sz="1800" dirty="0">
                <a:solidFill>
                  <a:srgbClr val="FFFF00"/>
                </a:solidFill>
              </a:rPr>
            </a:br>
            <a:r>
              <a:rPr lang="en-US" sz="1800" dirty="0">
                <a:solidFill>
                  <a:srgbClr val="FFFF00"/>
                </a:solidFill>
              </a:rPr>
              <a:t>Applying the Safety algorithm on the given system,</a:t>
            </a:r>
            <a:endParaRPr sz="2400" dirty="0">
              <a:solidFill>
                <a:schemeClr val="tx1"/>
              </a:solidFill>
            </a:endParaRPr>
          </a:p>
        </p:txBody>
      </p:sp>
      <p:cxnSp>
        <p:nvCxnSpPr>
          <p:cNvPr id="321" name="Google Shape;321;p33"/>
          <p:cNvCxnSpPr/>
          <p:nvPr/>
        </p:nvCxnSpPr>
        <p:spPr>
          <a:xfrm>
            <a:off x="1406216" y="1512708"/>
            <a:ext cx="0" cy="30297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pic>
        <p:nvPicPr>
          <p:cNvPr id="46" name="Picture 4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0376" y="1751467"/>
            <a:ext cx="5104362" cy="25521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25564349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wipe(down)">
                                      <p:cBhvr>
                                        <p:cTn id="7" dur="1000"/>
                                        <p:tgtEl>
                                          <p:spTgt spid="30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21"/>
                                        </p:tgtEl>
                                        <p:attrNameLst>
                                          <p:attrName>style.visibility</p:attrName>
                                        </p:attrNameLst>
                                      </p:cBhvr>
                                      <p:to>
                                        <p:strVal val="visible"/>
                                      </p:to>
                                    </p:set>
                                    <p:animEffect transition="in" filter="wipe(down)">
                                      <p:cBhvr>
                                        <p:cTn id="11" dur="1000"/>
                                        <p:tgtEl>
                                          <p:spTgt spid="321"/>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down)">
                                      <p:cBhvr>
                                        <p:cTn id="15" dur="1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blip>
          <a:srcRect/>
          <a:stretch>
            <a:fillRect/>
          </a:stretch>
        </a:blipFill>
        <a:effectLst/>
      </p:bgPr>
    </p:bg>
    <p:spTree>
      <p:nvGrpSpPr>
        <p:cNvPr id="1" name="Shape 281"/>
        <p:cNvGrpSpPr/>
        <p:nvPr/>
      </p:nvGrpSpPr>
      <p:grpSpPr>
        <a:xfrm>
          <a:off x="0" y="0"/>
          <a:ext cx="0" cy="0"/>
          <a:chOff x="0" y="0"/>
          <a:chExt cx="0" cy="0"/>
        </a:xfrm>
      </p:grpSpPr>
      <p:sp>
        <p:nvSpPr>
          <p:cNvPr id="303" name="Google Shape;303;p33"/>
          <p:cNvSpPr txBox="1">
            <a:spLocks noGrp="1"/>
          </p:cNvSpPr>
          <p:nvPr>
            <p:ph type="title"/>
          </p:nvPr>
        </p:nvSpPr>
        <p:spPr>
          <a:xfrm>
            <a:off x="515782" y="221591"/>
            <a:ext cx="8112436" cy="1174501"/>
          </a:xfrm>
          <a:prstGeom prst="rect">
            <a:avLst/>
          </a:prstGeom>
        </p:spPr>
        <p:txBody>
          <a:bodyPr spcFirstLastPara="1" wrap="square" lIns="0" tIns="0" rIns="0" bIns="0" anchor="t" anchorCtr="0">
            <a:noAutofit/>
          </a:bodyPr>
          <a:lstStyle/>
          <a:p>
            <a:r>
              <a:rPr lang="en-US" sz="1800" dirty="0">
                <a:solidFill>
                  <a:srgbClr val="FFFF00"/>
                </a:solidFill>
              </a:rPr>
              <a:t/>
            </a:r>
            <a:br>
              <a:rPr lang="en-US" sz="1800" dirty="0">
                <a:solidFill>
                  <a:srgbClr val="FFFF00"/>
                </a:solidFill>
              </a:rPr>
            </a:br>
            <a:r>
              <a:rPr lang="en-US" sz="1800" dirty="0">
                <a:solidFill>
                  <a:srgbClr val="FFFF00"/>
                </a:solidFill>
              </a:rPr>
              <a:t>Safe State and Safe Sequence Analysis</a:t>
            </a:r>
            <a:br>
              <a:rPr lang="en-US" sz="1800" dirty="0">
                <a:solidFill>
                  <a:srgbClr val="FFFF00"/>
                </a:solidFill>
              </a:rPr>
            </a:br>
            <a:r>
              <a:rPr lang="en-US" sz="1800" dirty="0">
                <a:solidFill>
                  <a:srgbClr val="FFFF00"/>
                </a:solidFill>
              </a:rPr>
              <a:t>Applying the Safety algorithm on the given system,</a:t>
            </a:r>
            <a:endParaRPr sz="2400" dirty="0">
              <a:solidFill>
                <a:schemeClr val="tx1"/>
              </a:solidFill>
            </a:endParaRPr>
          </a:p>
        </p:txBody>
      </p:sp>
      <p:cxnSp>
        <p:nvCxnSpPr>
          <p:cNvPr id="321" name="Google Shape;321;p33"/>
          <p:cNvCxnSpPr/>
          <p:nvPr/>
        </p:nvCxnSpPr>
        <p:spPr>
          <a:xfrm>
            <a:off x="1406216" y="1512708"/>
            <a:ext cx="0" cy="30297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pic>
        <p:nvPicPr>
          <p:cNvPr id="46" name="Picture 4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0376" y="1751467"/>
            <a:ext cx="5104362" cy="25521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01149139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wipe(down)">
                                      <p:cBhvr>
                                        <p:cTn id="7" dur="1000"/>
                                        <p:tgtEl>
                                          <p:spTgt spid="30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21"/>
                                        </p:tgtEl>
                                        <p:attrNameLst>
                                          <p:attrName>style.visibility</p:attrName>
                                        </p:attrNameLst>
                                      </p:cBhvr>
                                      <p:to>
                                        <p:strVal val="visible"/>
                                      </p:to>
                                    </p:set>
                                    <p:animEffect transition="in" filter="wipe(down)">
                                      <p:cBhvr>
                                        <p:cTn id="11" dur="1000"/>
                                        <p:tgtEl>
                                          <p:spTgt spid="321"/>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down)">
                                      <p:cBhvr>
                                        <p:cTn id="15" dur="1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blip>
          <a:srcRect/>
          <a:stretch>
            <a:fillRect/>
          </a:stretch>
        </a:blipFill>
        <a:effectLst/>
      </p:bgPr>
    </p:bg>
    <p:spTree>
      <p:nvGrpSpPr>
        <p:cNvPr id="1" name="Shape 281"/>
        <p:cNvGrpSpPr/>
        <p:nvPr/>
      </p:nvGrpSpPr>
      <p:grpSpPr>
        <a:xfrm>
          <a:off x="0" y="0"/>
          <a:ext cx="0" cy="0"/>
          <a:chOff x="0" y="0"/>
          <a:chExt cx="0" cy="0"/>
        </a:xfrm>
      </p:grpSpPr>
      <p:sp>
        <p:nvSpPr>
          <p:cNvPr id="303" name="Google Shape;303;p33"/>
          <p:cNvSpPr txBox="1">
            <a:spLocks noGrp="1"/>
          </p:cNvSpPr>
          <p:nvPr>
            <p:ph type="title"/>
          </p:nvPr>
        </p:nvSpPr>
        <p:spPr>
          <a:xfrm>
            <a:off x="515782" y="221591"/>
            <a:ext cx="8112436" cy="1174501"/>
          </a:xfrm>
          <a:prstGeom prst="rect">
            <a:avLst/>
          </a:prstGeom>
        </p:spPr>
        <p:txBody>
          <a:bodyPr spcFirstLastPara="1" wrap="square" lIns="0" tIns="0" rIns="0" bIns="0" anchor="t" anchorCtr="0">
            <a:noAutofit/>
          </a:bodyPr>
          <a:lstStyle/>
          <a:p>
            <a:r>
              <a:rPr lang="en-US" sz="1800" dirty="0">
                <a:solidFill>
                  <a:srgbClr val="FFFF00"/>
                </a:solidFill>
              </a:rPr>
              <a:t/>
            </a:r>
            <a:br>
              <a:rPr lang="en-US" sz="1800" dirty="0">
                <a:solidFill>
                  <a:srgbClr val="FFFF00"/>
                </a:solidFill>
              </a:rPr>
            </a:br>
            <a:r>
              <a:rPr lang="en-US" sz="1800" dirty="0">
                <a:solidFill>
                  <a:srgbClr val="FFFF00"/>
                </a:solidFill>
              </a:rPr>
              <a:t>Safe State and Safe Sequence Analysis</a:t>
            </a:r>
            <a:br>
              <a:rPr lang="en-US" sz="1800" dirty="0">
                <a:solidFill>
                  <a:srgbClr val="FFFF00"/>
                </a:solidFill>
              </a:rPr>
            </a:br>
            <a:r>
              <a:rPr lang="en-US" sz="1800" dirty="0">
                <a:solidFill>
                  <a:srgbClr val="FFFF00"/>
                </a:solidFill>
              </a:rPr>
              <a:t>Applying the Safety algorithm on the given system,</a:t>
            </a:r>
            <a:endParaRPr sz="2400" dirty="0">
              <a:solidFill>
                <a:schemeClr val="tx1"/>
              </a:solidFill>
            </a:endParaRPr>
          </a:p>
        </p:txBody>
      </p:sp>
      <p:cxnSp>
        <p:nvCxnSpPr>
          <p:cNvPr id="321" name="Google Shape;321;p33"/>
          <p:cNvCxnSpPr/>
          <p:nvPr/>
        </p:nvCxnSpPr>
        <p:spPr>
          <a:xfrm>
            <a:off x="1406216" y="1512708"/>
            <a:ext cx="0" cy="30297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pic>
        <p:nvPicPr>
          <p:cNvPr id="46" name="Picture 4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0376" y="1751467"/>
            <a:ext cx="5104362" cy="25521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973315324"/>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wipe(down)">
                                      <p:cBhvr>
                                        <p:cTn id="7" dur="1000"/>
                                        <p:tgtEl>
                                          <p:spTgt spid="30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21"/>
                                        </p:tgtEl>
                                        <p:attrNameLst>
                                          <p:attrName>style.visibility</p:attrName>
                                        </p:attrNameLst>
                                      </p:cBhvr>
                                      <p:to>
                                        <p:strVal val="visible"/>
                                      </p:to>
                                    </p:set>
                                    <p:animEffect transition="in" filter="wipe(down)">
                                      <p:cBhvr>
                                        <p:cTn id="11" dur="1000"/>
                                        <p:tgtEl>
                                          <p:spTgt spid="321"/>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down)">
                                      <p:cBhvr>
                                        <p:cTn id="15" dur="1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blip>
          <a:srcRect/>
          <a:stretch>
            <a:fillRect/>
          </a:stretch>
        </a:blipFill>
        <a:effectLst/>
      </p:bgPr>
    </p:bg>
    <p:spTree>
      <p:nvGrpSpPr>
        <p:cNvPr id="1" name="Shape 281"/>
        <p:cNvGrpSpPr/>
        <p:nvPr/>
      </p:nvGrpSpPr>
      <p:grpSpPr>
        <a:xfrm>
          <a:off x="0" y="0"/>
          <a:ext cx="0" cy="0"/>
          <a:chOff x="0" y="0"/>
          <a:chExt cx="0" cy="0"/>
        </a:xfrm>
      </p:grpSpPr>
      <p:sp>
        <p:nvSpPr>
          <p:cNvPr id="303" name="Google Shape;303;p33"/>
          <p:cNvSpPr txBox="1">
            <a:spLocks noGrp="1"/>
          </p:cNvSpPr>
          <p:nvPr>
            <p:ph type="title"/>
          </p:nvPr>
        </p:nvSpPr>
        <p:spPr>
          <a:xfrm>
            <a:off x="515782" y="221591"/>
            <a:ext cx="8112436" cy="1174501"/>
          </a:xfrm>
          <a:prstGeom prst="rect">
            <a:avLst/>
          </a:prstGeom>
        </p:spPr>
        <p:txBody>
          <a:bodyPr spcFirstLastPara="1" wrap="square" lIns="0" tIns="0" rIns="0" bIns="0" anchor="t" anchorCtr="0">
            <a:noAutofit/>
          </a:bodyPr>
          <a:lstStyle/>
          <a:p>
            <a:r>
              <a:rPr lang="en-US" sz="1800" dirty="0">
                <a:solidFill>
                  <a:srgbClr val="FFFF00"/>
                </a:solidFill>
              </a:rPr>
              <a:t/>
            </a:r>
            <a:br>
              <a:rPr lang="en-US" sz="1800" dirty="0">
                <a:solidFill>
                  <a:srgbClr val="FFFF00"/>
                </a:solidFill>
              </a:rPr>
            </a:br>
            <a:r>
              <a:rPr lang="en-US" sz="1800" dirty="0">
                <a:solidFill>
                  <a:srgbClr val="FFFF00"/>
                </a:solidFill>
              </a:rPr>
              <a:t>Safe State and Safe Sequence Analysis</a:t>
            </a:r>
            <a:br>
              <a:rPr lang="en-US" sz="1800" dirty="0">
                <a:solidFill>
                  <a:srgbClr val="FFFF00"/>
                </a:solidFill>
              </a:rPr>
            </a:br>
            <a:r>
              <a:rPr lang="en-US" sz="1800" dirty="0">
                <a:solidFill>
                  <a:srgbClr val="FFFF00"/>
                </a:solidFill>
              </a:rPr>
              <a:t>Applying the Safety algorithm on the given system,</a:t>
            </a:r>
            <a:endParaRPr sz="2400" dirty="0">
              <a:solidFill>
                <a:schemeClr val="tx1"/>
              </a:solidFill>
            </a:endParaRPr>
          </a:p>
        </p:txBody>
      </p:sp>
      <p:cxnSp>
        <p:nvCxnSpPr>
          <p:cNvPr id="321" name="Google Shape;321;p33"/>
          <p:cNvCxnSpPr/>
          <p:nvPr/>
        </p:nvCxnSpPr>
        <p:spPr>
          <a:xfrm>
            <a:off x="1406216" y="1512708"/>
            <a:ext cx="0" cy="30297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pic>
        <p:nvPicPr>
          <p:cNvPr id="46" name="Picture 4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0376" y="1751467"/>
            <a:ext cx="5104362" cy="25521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0354950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wipe(down)">
                                      <p:cBhvr>
                                        <p:cTn id="7" dur="1000"/>
                                        <p:tgtEl>
                                          <p:spTgt spid="30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21"/>
                                        </p:tgtEl>
                                        <p:attrNameLst>
                                          <p:attrName>style.visibility</p:attrName>
                                        </p:attrNameLst>
                                      </p:cBhvr>
                                      <p:to>
                                        <p:strVal val="visible"/>
                                      </p:to>
                                    </p:set>
                                    <p:animEffect transition="in" filter="wipe(down)">
                                      <p:cBhvr>
                                        <p:cTn id="11" dur="1000"/>
                                        <p:tgtEl>
                                          <p:spTgt spid="321"/>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down)">
                                      <p:cBhvr>
                                        <p:cTn id="15" dur="1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blip>
          <a:srcRect/>
          <a:stretch>
            <a:fillRect/>
          </a:stretch>
        </a:blipFill>
        <a:effectLst/>
      </p:bgPr>
    </p:bg>
    <p:spTree>
      <p:nvGrpSpPr>
        <p:cNvPr id="1" name="Shape 281"/>
        <p:cNvGrpSpPr/>
        <p:nvPr/>
      </p:nvGrpSpPr>
      <p:grpSpPr>
        <a:xfrm>
          <a:off x="0" y="0"/>
          <a:ext cx="0" cy="0"/>
          <a:chOff x="0" y="0"/>
          <a:chExt cx="0" cy="0"/>
        </a:xfrm>
      </p:grpSpPr>
      <p:sp>
        <p:nvSpPr>
          <p:cNvPr id="303" name="Google Shape;303;p33"/>
          <p:cNvSpPr txBox="1">
            <a:spLocks noGrp="1"/>
          </p:cNvSpPr>
          <p:nvPr>
            <p:ph type="title"/>
          </p:nvPr>
        </p:nvSpPr>
        <p:spPr>
          <a:xfrm>
            <a:off x="515782" y="221591"/>
            <a:ext cx="8112436" cy="1174501"/>
          </a:xfrm>
          <a:prstGeom prst="rect">
            <a:avLst/>
          </a:prstGeom>
        </p:spPr>
        <p:txBody>
          <a:bodyPr spcFirstLastPara="1" wrap="square" lIns="0" tIns="0" rIns="0" bIns="0" anchor="t" anchorCtr="0">
            <a:noAutofit/>
          </a:bodyPr>
          <a:lstStyle/>
          <a:p>
            <a:r>
              <a:rPr lang="en-US" sz="1800" dirty="0">
                <a:solidFill>
                  <a:srgbClr val="FFFF00"/>
                </a:solidFill>
              </a:rPr>
              <a:t/>
            </a:r>
            <a:br>
              <a:rPr lang="en-US" sz="1800" dirty="0">
                <a:solidFill>
                  <a:srgbClr val="FFFF00"/>
                </a:solidFill>
              </a:rPr>
            </a:br>
            <a:r>
              <a:rPr lang="en-US" sz="1800" dirty="0">
                <a:solidFill>
                  <a:srgbClr val="FFFF00"/>
                </a:solidFill>
              </a:rPr>
              <a:t>Safe State and Safe Sequence Analysis</a:t>
            </a:r>
            <a:br>
              <a:rPr lang="en-US" sz="1800" dirty="0">
                <a:solidFill>
                  <a:srgbClr val="FFFF00"/>
                </a:solidFill>
              </a:rPr>
            </a:br>
            <a:r>
              <a:rPr lang="en-US" sz="1800" dirty="0">
                <a:solidFill>
                  <a:srgbClr val="FFFF00"/>
                </a:solidFill>
              </a:rPr>
              <a:t>Applying the Safety algorithm on the given system,</a:t>
            </a:r>
            <a:endParaRPr sz="2400" dirty="0">
              <a:solidFill>
                <a:schemeClr val="tx1"/>
              </a:solidFill>
            </a:endParaRPr>
          </a:p>
        </p:txBody>
      </p:sp>
      <p:cxnSp>
        <p:nvCxnSpPr>
          <p:cNvPr id="321" name="Google Shape;321;p33"/>
          <p:cNvCxnSpPr/>
          <p:nvPr/>
        </p:nvCxnSpPr>
        <p:spPr>
          <a:xfrm>
            <a:off x="1406216" y="1512708"/>
            <a:ext cx="0" cy="30297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pic>
        <p:nvPicPr>
          <p:cNvPr id="46" name="Picture 4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0376" y="1751467"/>
            <a:ext cx="5104362" cy="25521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5092791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wipe(down)">
                                      <p:cBhvr>
                                        <p:cTn id="7" dur="1000"/>
                                        <p:tgtEl>
                                          <p:spTgt spid="30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21"/>
                                        </p:tgtEl>
                                        <p:attrNameLst>
                                          <p:attrName>style.visibility</p:attrName>
                                        </p:attrNameLst>
                                      </p:cBhvr>
                                      <p:to>
                                        <p:strVal val="visible"/>
                                      </p:to>
                                    </p:set>
                                    <p:animEffect transition="in" filter="wipe(down)">
                                      <p:cBhvr>
                                        <p:cTn id="11" dur="1000"/>
                                        <p:tgtEl>
                                          <p:spTgt spid="321"/>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down)">
                                      <p:cBhvr>
                                        <p:cTn id="15" dur="1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93000"/>
            <a:lum/>
          </a:blip>
          <a:srcRect/>
          <a:stretch>
            <a:fillRect/>
          </a:stretch>
        </a:blipFill>
        <a:effectLst/>
      </p:bgPr>
    </p:bg>
    <p:spTree>
      <p:nvGrpSpPr>
        <p:cNvPr id="1" name="Shape 281"/>
        <p:cNvGrpSpPr/>
        <p:nvPr/>
      </p:nvGrpSpPr>
      <p:grpSpPr>
        <a:xfrm>
          <a:off x="0" y="0"/>
          <a:ext cx="0" cy="0"/>
          <a:chOff x="0" y="0"/>
          <a:chExt cx="0" cy="0"/>
        </a:xfrm>
      </p:grpSpPr>
      <p:sp>
        <p:nvSpPr>
          <p:cNvPr id="303" name="Google Shape;303;p33"/>
          <p:cNvSpPr txBox="1">
            <a:spLocks noGrp="1"/>
          </p:cNvSpPr>
          <p:nvPr>
            <p:ph type="title"/>
          </p:nvPr>
        </p:nvSpPr>
        <p:spPr>
          <a:xfrm>
            <a:off x="515782" y="221591"/>
            <a:ext cx="8112436" cy="1174501"/>
          </a:xfrm>
          <a:prstGeom prst="rect">
            <a:avLst/>
          </a:prstGeom>
        </p:spPr>
        <p:txBody>
          <a:bodyPr spcFirstLastPara="1" wrap="square" lIns="0" tIns="0" rIns="0" bIns="0" anchor="t" anchorCtr="0">
            <a:noAutofit/>
          </a:bodyPr>
          <a:lstStyle/>
          <a:p>
            <a:r>
              <a:rPr lang="en-US" sz="2400" dirty="0">
                <a:solidFill>
                  <a:srgbClr val="FFFF00"/>
                </a:solidFill>
              </a:rPr>
              <a:t/>
            </a:r>
            <a:br>
              <a:rPr lang="en-US" sz="2400" dirty="0">
                <a:solidFill>
                  <a:srgbClr val="FFFF00"/>
                </a:solidFill>
              </a:rPr>
            </a:br>
            <a:r>
              <a:rPr lang="en-US" sz="2400" dirty="0">
                <a:solidFill>
                  <a:srgbClr val="FFFF00"/>
                </a:solidFill>
              </a:rPr>
              <a:t>Impact of P1’s Resource Request</a:t>
            </a:r>
            <a:br>
              <a:rPr lang="en-US" sz="2400" dirty="0">
                <a:solidFill>
                  <a:srgbClr val="FFFF00"/>
                </a:solidFill>
              </a:rPr>
            </a:br>
            <a:endParaRPr sz="3200" dirty="0">
              <a:solidFill>
                <a:schemeClr val="tx1"/>
              </a:solidFill>
            </a:endParaRPr>
          </a:p>
        </p:txBody>
      </p:sp>
      <p:cxnSp>
        <p:nvCxnSpPr>
          <p:cNvPr id="321" name="Google Shape;321;p33"/>
          <p:cNvCxnSpPr/>
          <p:nvPr/>
        </p:nvCxnSpPr>
        <p:spPr>
          <a:xfrm>
            <a:off x="1406216" y="1512708"/>
            <a:ext cx="0" cy="3029700"/>
          </a:xfrm>
          <a:prstGeom prst="straightConnector1">
            <a:avLst/>
          </a:prstGeom>
          <a:noFill/>
          <a:ln w="19050" cap="flat" cmpd="sng">
            <a:solidFill>
              <a:schemeClr val="accent1"/>
            </a:solidFill>
            <a:prstDash val="solid"/>
            <a:round/>
            <a:headEnd type="none" w="med" len="med"/>
            <a:tailEnd type="none" w="med" len="med"/>
          </a:ln>
          <a:effectLst>
            <a:outerShdw blurRad="114300" dist="19050" dir="2640000" algn="bl" rotWithShape="0">
              <a:schemeClr val="accent1">
                <a:alpha val="76000"/>
              </a:schemeClr>
            </a:outerShdw>
          </a:effectLst>
        </p:spPr>
      </p:cxnSp>
      <p:pic>
        <p:nvPicPr>
          <p:cNvPr id="46" name="Picture 4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10376" y="1751467"/>
            <a:ext cx="5104362" cy="255218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5692298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wipe(down)">
                                      <p:cBhvr>
                                        <p:cTn id="7" dur="1000"/>
                                        <p:tgtEl>
                                          <p:spTgt spid="303"/>
                                        </p:tgtEl>
                                      </p:cBhvr>
                                    </p:animEffect>
                                  </p:childTnLst>
                                </p:cTn>
                              </p:par>
                            </p:childTnLst>
                          </p:cTn>
                        </p:par>
                        <p:par>
                          <p:cTn id="8" fill="hold">
                            <p:stCondLst>
                              <p:cond delay="1000"/>
                            </p:stCondLst>
                            <p:childTnLst>
                              <p:par>
                                <p:cTn id="9" presetID="22" presetClass="entr" presetSubtype="4" fill="hold" nodeType="afterEffect">
                                  <p:stCondLst>
                                    <p:cond delay="0"/>
                                  </p:stCondLst>
                                  <p:childTnLst>
                                    <p:set>
                                      <p:cBhvr>
                                        <p:cTn id="10" dur="1" fill="hold">
                                          <p:stCondLst>
                                            <p:cond delay="0"/>
                                          </p:stCondLst>
                                        </p:cTn>
                                        <p:tgtEl>
                                          <p:spTgt spid="321"/>
                                        </p:tgtEl>
                                        <p:attrNameLst>
                                          <p:attrName>style.visibility</p:attrName>
                                        </p:attrNameLst>
                                      </p:cBhvr>
                                      <p:to>
                                        <p:strVal val="visible"/>
                                      </p:to>
                                    </p:set>
                                    <p:animEffect transition="in" filter="wipe(down)">
                                      <p:cBhvr>
                                        <p:cTn id="11" dur="1000"/>
                                        <p:tgtEl>
                                          <p:spTgt spid="321"/>
                                        </p:tgtEl>
                                      </p:cBhvr>
                                    </p:animEffect>
                                  </p:childTnLst>
                                </p:cTn>
                              </p:par>
                            </p:childTnLst>
                          </p:cTn>
                        </p:par>
                        <p:par>
                          <p:cTn id="12" fill="hold">
                            <p:stCondLst>
                              <p:cond delay="2000"/>
                            </p:stCondLst>
                            <p:childTnLst>
                              <p:par>
                                <p:cTn id="13" presetID="22" presetClass="entr" presetSubtype="4"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down)">
                                      <p:cBhvr>
                                        <p:cTn id="15" dur="1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gradFill>
          <a:gsLst>
            <a:gs pos="0">
              <a:schemeClr val="accent5"/>
            </a:gs>
            <a:gs pos="48000">
              <a:schemeClr val="accent4"/>
            </a:gs>
            <a:gs pos="100000">
              <a:schemeClr val="accent2"/>
            </a:gs>
          </a:gsLst>
          <a:lin ang="2698631" scaled="0"/>
        </a:gradFill>
        <a:effectLst/>
      </p:bgPr>
    </p:bg>
    <p:spTree>
      <p:nvGrpSpPr>
        <p:cNvPr id="1" name=""/>
        <p:cNvGrpSpPr/>
        <p:nvPr/>
      </p:nvGrpSpPr>
      <p:grpSpPr>
        <a:xfrm>
          <a:off x="0" y="0"/>
          <a:ext cx="0" cy="0"/>
          <a:chOff x="0" y="0"/>
          <a:chExt cx="0" cy="0"/>
        </a:xfrm>
      </p:grpSpPr>
      <p:sp>
        <p:nvSpPr>
          <p:cNvPr id="3" name="TextBox 2"/>
          <p:cNvSpPr txBox="1"/>
          <p:nvPr/>
        </p:nvSpPr>
        <p:spPr>
          <a:xfrm>
            <a:off x="2787268" y="1417588"/>
            <a:ext cx="3569465" cy="230832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7200" b="1" i="1" u="none" strike="noStrike" kern="0" cap="none" spc="0" normalizeH="0" baseline="0" noProof="0" dirty="0" smtClean="0">
                <a:ln>
                  <a:noFill/>
                </a:ln>
                <a:solidFill>
                  <a:srgbClr val="FFFFFF"/>
                </a:solidFill>
                <a:effectLst/>
                <a:uLnTx/>
                <a:uFillTx/>
                <a:latin typeface="Book Antiqua" panose="02040602050305030304" pitchFamily="18" charset="0"/>
                <a:sym typeface="Arial"/>
              </a:rPr>
              <a:t>THANK</a:t>
            </a:r>
            <a:r>
              <a:rPr kumimoji="0" lang="en-US" sz="7200" b="1" i="1" u="none" strike="noStrike" kern="0" cap="none" spc="0" normalizeH="0" noProof="0" dirty="0" smtClean="0">
                <a:ln>
                  <a:noFill/>
                </a:ln>
                <a:solidFill>
                  <a:srgbClr val="FFFFFF"/>
                </a:solidFill>
                <a:effectLst/>
                <a:uLnTx/>
                <a:uFillTx/>
                <a:latin typeface="Book Antiqua" panose="02040602050305030304" pitchFamily="18" charset="0"/>
                <a:sym typeface="Arial"/>
              </a:rPr>
              <a:t>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7200" b="1" i="1" baseline="0" dirty="0" smtClean="0">
                <a:solidFill>
                  <a:srgbClr val="FFFFFF"/>
                </a:solidFill>
                <a:latin typeface="Book Antiqua" panose="02040602050305030304" pitchFamily="18" charset="0"/>
              </a:rPr>
              <a:t>YOU</a:t>
            </a:r>
            <a:endParaRPr kumimoji="0" lang="en-US" sz="7200" b="1" i="1" u="none" strike="noStrike" kern="0" cap="none" spc="0" normalizeH="0" baseline="0" noProof="0" dirty="0">
              <a:ln>
                <a:noFill/>
              </a:ln>
              <a:solidFill>
                <a:srgbClr val="FFFFFF"/>
              </a:solidFill>
              <a:effectLst/>
              <a:uLnTx/>
              <a:uFillTx/>
              <a:latin typeface="Book Antiqua" panose="02040602050305030304" pitchFamily="18" charset="0"/>
              <a:sym typeface="Arial"/>
            </a:endParaRPr>
          </a:p>
        </p:txBody>
      </p:sp>
    </p:spTree>
    <p:extLst>
      <p:ext uri="{BB962C8B-B14F-4D97-AF65-F5344CB8AC3E}">
        <p14:creationId xmlns:p14="http://schemas.microsoft.com/office/powerpoint/2010/main" val="397488082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1000"/>
                                        <p:tgtEl>
                                          <p:spTgt spid="3"/>
                                        </p:tgtEl>
                                      </p:cBhvr>
                                    </p:animEffect>
                                  </p:childTnLst>
                                </p:cTn>
                              </p:par>
                              <p:par>
                                <p:cTn id="8" presetID="2" presetClass="entr" presetSubtype="4" fill="hold"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 calcmode="lin" valueType="num">
                                      <p:cBhvr additive="base">
                                        <p:cTn id="10" dur="175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1" dur="1750" fill="hold"/>
                                        <p:tgtEl>
                                          <p:spTgt spid="3">
                                            <p:txEl>
                                              <p:pRg st="0" end="0"/>
                                            </p:txEl>
                                          </p:spTgt>
                                        </p:tgtEl>
                                        <p:attrNameLst>
                                          <p:attrName>ppt_y</p:attrName>
                                        </p:attrNameLst>
                                      </p:cBhvr>
                                      <p:tavLst>
                                        <p:tav tm="0">
                                          <p:val>
                                            <p:strVal val="1+#ppt_h/2"/>
                                          </p:val>
                                        </p:tav>
                                        <p:tav tm="100000">
                                          <p:val>
                                            <p:strVal val="#ppt_y"/>
                                          </p:val>
                                        </p:tav>
                                      </p:tavLst>
                                    </p:anim>
                                  </p:childTnLst>
                                </p:cTn>
                              </p:par>
                              <p:par>
                                <p:cTn id="12" presetID="2" presetClass="entr" presetSubtype="4"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additive="base">
                                        <p:cTn id="14" dur="175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5" dur="175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Technology Project Proposal Minitheme by Slidesgo">
  <a:themeElements>
    <a:clrScheme name="Simple Light">
      <a:dk1>
        <a:srgbClr val="FFFFFF"/>
      </a:dk1>
      <a:lt1>
        <a:srgbClr val="E0E0E0"/>
      </a:lt1>
      <a:dk2>
        <a:srgbClr val="666666"/>
      </a:dk2>
      <a:lt2>
        <a:srgbClr val="000000"/>
      </a:lt2>
      <a:accent1>
        <a:srgbClr val="96FFF3"/>
      </a:accent1>
      <a:accent2>
        <a:srgbClr val="8F1EA0"/>
      </a:accent2>
      <a:accent3>
        <a:srgbClr val="3DC6FF"/>
      </a:accent3>
      <a:accent4>
        <a:srgbClr val="2619AA"/>
      </a:accent4>
      <a:accent5>
        <a:srgbClr val="190057"/>
      </a:accent5>
      <a:accent6>
        <a:srgbClr val="F139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1115</TotalTime>
  <Words>1134</Words>
  <Application>Microsoft Office PowerPoint</Application>
  <PresentationFormat>On-screen Show (16:9)</PresentationFormat>
  <Paragraphs>132</Paragraphs>
  <Slides>31</Slides>
  <Notes>20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31</vt:i4>
      </vt:variant>
    </vt:vector>
  </HeadingPairs>
  <TitlesOfParts>
    <vt:vector size="40" baseType="lpstr">
      <vt:lpstr>Oswald ExtraLight</vt:lpstr>
      <vt:lpstr>Arial</vt:lpstr>
      <vt:lpstr>Bebas Neue</vt:lpstr>
      <vt:lpstr>Times New Roman</vt:lpstr>
      <vt:lpstr>Oswald</vt:lpstr>
      <vt:lpstr>Book Antiqua</vt:lpstr>
      <vt:lpstr>DM Sans</vt:lpstr>
      <vt:lpstr>Calibri</vt:lpstr>
      <vt:lpstr>Technology Project Proposal Minitheme by Slidesgo</vt:lpstr>
      <vt:lpstr>PowerPoint Presentation</vt:lpstr>
      <vt:lpstr>PowerPoint Presentation</vt:lpstr>
      <vt:lpstr>PRESENTED BY: ALINA LIAQUAT </vt:lpstr>
      <vt:lpstr>PowerPoint Presentation</vt:lpstr>
      <vt:lpstr>PowerPoint Presentation</vt:lpstr>
      <vt:lpstr>Banker’s Algorithm Banker's Algorithm is a resource allocation and deadlock avoidance algorithm used in operating systems. It ensures that a system remains in a safe state by carefully allocating resources to processes while avoiding unsafe states that could lead to deadlocks</vt:lpstr>
      <vt:lpstr>Banker’s Algorithm The Banker's Algorithm is a smart way for computer systems to manage how programs use resources, like memory or CPU time. It helps prevent situations where programs get stuck and can not finish their tasks. This condition is known as deadlock. By keeping track of what resources each program needs and what's available, the banker algorithm makes sure that programs only get what they need in a safe order.  </vt:lpstr>
      <vt:lpstr>01</vt:lpstr>
      <vt:lpstr>02</vt:lpstr>
      <vt:lpstr>03</vt:lpstr>
      <vt:lpstr>04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Example: Considering a system with five processes P0 through P4 and three resources of type  A, B, C. Resource type A has 10 instances, B has 5 instances and type C has 7 instances.  Suppose at time t0 following snapshot of the system has been taken:</vt:lpstr>
      <vt:lpstr>Need Matrix Need [i, j] = Max [i, j] – Allocation [i, j] So, the content of Need Matrix is:  </vt:lpstr>
      <vt:lpstr> Safe State and Safe Sequence Analysis Applying the Safety algorithm on the given system 'n' is the number of processes in the system and 'm' is the number of resource types </vt:lpstr>
      <vt:lpstr> Safe State and Safe Sequence Analysis Applying the Safety algorithm on the given system,</vt:lpstr>
      <vt:lpstr> Safe State and Safe Sequence Analysis Applying the Safety algorithm on the given system,</vt:lpstr>
      <vt:lpstr> Safe State and Safe Sequence Analysis Applying the Safety algorithm on the given system,</vt:lpstr>
      <vt:lpstr> Safe State and Safe Sequence Analysis Applying the Safety algorithm on the given system,</vt:lpstr>
      <vt:lpstr> Safe State and Safe Sequence Analysis Applying the Safety algorithm on the given system,</vt:lpstr>
      <vt:lpstr> Safe State and Safe Sequence Analysis Applying the Safety algorithm on the given system,</vt:lpstr>
      <vt:lpstr> Impact of P1’s Resource Request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PROJECT PROPOSAL MINITHEME</dc:title>
  <dc:creator>Miss Alexa</dc:creator>
  <cp:lastModifiedBy>Moorche</cp:lastModifiedBy>
  <cp:revision>241</cp:revision>
  <dcterms:modified xsi:type="dcterms:W3CDTF">2025-12-22T07:36:57Z</dcterms:modified>
</cp:coreProperties>
</file>