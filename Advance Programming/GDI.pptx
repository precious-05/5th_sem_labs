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3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4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5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6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7.xml" ContentType="application/vnd.openxmlformats-officedocument.presentationml.notesSlid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8.xml" ContentType="application/vnd.openxmlformats-officedocument.presentationml.notesSlide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9.xml" ContentType="application/vnd.openxmlformats-officedocument.presentationml.notesSlide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10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885" r:id="rId2"/>
    <p:sldId id="2886" r:id="rId3"/>
    <p:sldId id="2887" r:id="rId4"/>
    <p:sldId id="2888" r:id="rId5"/>
    <p:sldId id="2889" r:id="rId6"/>
    <p:sldId id="2890" r:id="rId7"/>
    <p:sldId id="2891" r:id="rId8"/>
    <p:sldId id="2892" r:id="rId9"/>
    <p:sldId id="2894" r:id="rId10"/>
    <p:sldId id="2893" r:id="rId11"/>
    <p:sldId id="289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7354" autoAdjust="0"/>
  </p:normalViewPr>
  <p:slideViewPr>
    <p:cSldViewPr snapToGrid="0">
      <p:cViewPr varScale="1">
        <p:scale>
          <a:sx n="56" d="100"/>
          <a:sy n="56" d="100"/>
        </p:scale>
        <p:origin x="129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74652A-2445-4112-80C9-CCF20329A0E5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B3A362-24AA-44CE-B6B8-7DC11E7CE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1885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Today we will start learning how to create graphics in C#. This is where   programming becomes more visual and interactive. We’ll use Windows’ built-in Graphics Device Interface (GDI) to draw shapes, text, and even respond to user actions like mouse clicks.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5F0484-0F60-4837-8BE2-4414FF4B5C11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GDI stands for Graphics Device Interface. Think of it as the artist inside Windows that handles all drawing.</a:t>
            </a:r>
            <a:br>
              <a:rPr lang="en-US" dirty="0"/>
            </a:br>
            <a:r>
              <a:rPr lang="en-US" dirty="0"/>
              <a:t>Whenever you see text, icons, or images in a Windows app, GDI is at work.</a:t>
            </a:r>
            <a:br>
              <a:rPr lang="en-US" dirty="0"/>
            </a:br>
            <a:r>
              <a:rPr lang="en-US" dirty="0"/>
              <a:t>The great thing is that GDI works the same way no matter the device — whether drawing on your monitor, printing on paper, or saving to a file.</a:t>
            </a:r>
            <a:br>
              <a:rPr lang="en-US" dirty="0"/>
            </a:br>
            <a:r>
              <a:rPr lang="en-US" dirty="0"/>
              <a:t>In C#, we work with the Graphics class to access GDI features.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5F0484-0F60-4837-8BE2-4414FF4B5C11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61860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5F0484-0F60-4837-8BE2-4414FF4B5C1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63302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 i="0" dirty="0">
                <a:solidFill>
                  <a:srgbClr val="F9FAFB"/>
                </a:solidFill>
                <a:effectLst/>
                <a:latin typeface="quote-cjk-patch"/>
              </a:rPr>
              <a:t> Quick Coordinate Quiz:</a:t>
            </a:r>
            <a:endParaRPr lang="en-US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F9FAFB"/>
                </a:solidFill>
                <a:effectLst/>
                <a:latin typeface="quote-cjk-patch"/>
              </a:rPr>
              <a:t>Where is point (0,0)? → </a:t>
            </a:r>
            <a:r>
              <a:rPr lang="en-US" b="1" i="0" dirty="0">
                <a:solidFill>
                  <a:srgbClr val="F9FAFB"/>
                </a:solidFill>
                <a:effectLst/>
                <a:latin typeface="quote-cjk-patch"/>
              </a:rPr>
              <a:t>Top-left corner!</a:t>
            </a:r>
            <a:endParaRPr lang="en-US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F9FAFB"/>
                </a:solidFill>
                <a:effectLst/>
                <a:latin typeface="quote-cjk-patch"/>
              </a:rPr>
              <a:t>What does (200, 100) mean? → </a:t>
            </a:r>
            <a:r>
              <a:rPr lang="en-US" b="1" i="0" dirty="0">
                <a:solidFill>
                  <a:srgbClr val="F9FAFB"/>
                </a:solidFill>
                <a:effectLst/>
                <a:latin typeface="quote-cjk-patch"/>
              </a:rPr>
              <a:t>200 right, 100 down!</a:t>
            </a:r>
            <a:endParaRPr lang="en-US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F9FAFB"/>
                </a:solidFill>
                <a:effectLst/>
                <a:latin typeface="quote-cjk-patch"/>
              </a:rPr>
              <a:t>What happens if Y increases? → </a:t>
            </a:r>
            <a:r>
              <a:rPr lang="en-US" b="1" i="0" dirty="0">
                <a:solidFill>
                  <a:srgbClr val="F9FAFB"/>
                </a:solidFill>
                <a:effectLst/>
                <a:latin typeface="quote-cjk-patch"/>
              </a:rPr>
              <a:t>We go downward!</a:t>
            </a:r>
            <a:endParaRPr lang="en-US" b="0" i="0" dirty="0">
              <a:solidFill>
                <a:srgbClr val="F9FAFB"/>
              </a:solidFill>
              <a:effectLst/>
              <a:latin typeface="quote-cjk-patch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5F0484-0F60-4837-8BE2-4414FF4B5C1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34913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b="0" i="0" dirty="0">
              <a:solidFill>
                <a:srgbClr val="F9FAFB"/>
              </a:solidFill>
              <a:effectLst/>
              <a:latin typeface="quote-cjk-patch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5F0484-0F60-4837-8BE2-4414FF4B5C11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00159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b="0" i="0" dirty="0">
              <a:solidFill>
                <a:srgbClr val="F9FAFB"/>
              </a:solidFill>
              <a:effectLst/>
              <a:latin typeface="quote-cjk-patch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5F0484-0F60-4837-8BE2-4414FF4B5C1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79950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b="0" i="0" dirty="0">
              <a:solidFill>
                <a:srgbClr val="F9FAFB"/>
              </a:solidFill>
              <a:effectLst/>
              <a:latin typeface="quote-cjk-patch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5F0484-0F60-4837-8BE2-4414FF4B5C1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77222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b="0" i="0" dirty="0">
              <a:solidFill>
                <a:srgbClr val="F9FAFB"/>
              </a:solidFill>
              <a:effectLst/>
              <a:latin typeface="quote-cjk-patch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5F0484-0F60-4837-8BE2-4414FF4B5C1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30162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b="0" i="0" dirty="0">
              <a:solidFill>
                <a:srgbClr val="F9FAFB"/>
              </a:solidFill>
              <a:effectLst/>
              <a:latin typeface="quote-cjk-patch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5F0484-0F60-4837-8BE2-4414FF4B5C1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49597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b="0" i="0" dirty="0">
              <a:solidFill>
                <a:srgbClr val="F9FAFB"/>
              </a:solidFill>
              <a:effectLst/>
              <a:latin typeface="quote-cjk-patch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5F0484-0F60-4837-8BE2-4414FF4B5C11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69226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b="0" i="0" dirty="0">
              <a:solidFill>
                <a:srgbClr val="F9FAFB"/>
              </a:solidFill>
              <a:effectLst/>
              <a:latin typeface="quote-cjk-patch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5F0484-0F60-4837-8BE2-4414FF4B5C11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87530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EF567-89C9-4899-9574-21FBE3AA3C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22AF5E-C09D-4B7A-A7D1-3D653E92F1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D1ECF2-BC08-40BC-89BA-3D5AFEA3E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AC99B-5FF7-4CA4-87C8-5B5D89BBA3D3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A6B510-D94E-4806-ADC9-1ECA4CB40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9D5333-AE43-42A5-9E8A-DEB3AF3C4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0119A-0580-4917-8980-DDA9B1E08A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7380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B0C07-B043-45D5-BE3D-0DEDD2B9B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FC960C-6C51-445D-BEAC-96D153FE07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98C30B-D5FF-4F84-BB1A-9990E5569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AC99B-5FF7-4CA4-87C8-5B5D89BBA3D3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CC818E-D4F6-4063-A8AE-2FE496C50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66CCB2-7F2E-4B2C-B8C4-D38319356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0119A-0580-4917-8980-DDA9B1E08A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3458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FB848-FA0D-4295-9B17-CF3D2C5EC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E0A681-B1F4-4808-B4A8-4D9A3091DA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213F3D-AD0D-4E3E-8A6A-9593B0C74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AC99B-5FF7-4CA4-87C8-5B5D89BBA3D3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B0BDFC-51C5-4B13-AE38-3C47C26A6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3C6BF4-115E-469A-8C5E-4A760D499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0119A-0580-4917-8980-DDA9B1E08A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467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8B40-5AC7-48D2-B27A-31CC48D5A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AB042C-B565-450B-9AF8-78B194947F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90D737-D57F-4A18-9141-3ED29C67F2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B4E38A-E9C7-4621-BA30-F745B142A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AC99B-5FF7-4CA4-87C8-5B5D89BBA3D3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2A065C-62C0-44B9-B23E-ED5761D68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872C1A-E50E-4ED9-BB9B-B607AB4FA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0119A-0580-4917-8980-DDA9B1E08A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221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8FCB3-7957-469F-A1A3-DE839C6A9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4864B4-45EF-4B3A-8C4F-BDD7DA7A71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774203-EF69-4F28-888D-1391A07AD9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8376B5-5D97-4620-9D83-AAA1D30465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D5269A-9745-410E-917A-236BD2D8E7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2E843D3-BC37-45DF-A00D-1930E8414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AC99B-5FF7-4CA4-87C8-5B5D89BBA3D3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5B7745-F4F7-44F2-A0A7-6AFD30FD0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864A574-8514-45F3-BB8E-CF8819652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0119A-0580-4917-8980-DDA9B1E08A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3867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6AA60-1D6C-459B-A138-1FAE9CA68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8140D6-E7CD-4977-9FF5-1EFED177D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AC99B-5FF7-4CA4-87C8-5B5D89BBA3D3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E25A83-1F24-42C1-A94D-3E9CB3B7C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E24755-C6E6-4358-8558-F8B29507B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0119A-0580-4917-8980-DDA9B1E08A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6826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2A769E-2B3E-43F6-A875-C963975A9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AC99B-5FF7-4CA4-87C8-5B5D89BBA3D3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CF4732-D700-4C71-8106-E1D7332C8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67E1F6-8F0B-488A-85B6-D381D68C2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0119A-0580-4917-8980-DDA9B1E08A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009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7BDAB-B112-42D4-80B4-1FC8450FC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44E046-7593-49A2-9282-8F9C3A8A7A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F028A2-27D7-43E9-944D-C6B465D28C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A9B6C9-676D-492A-8558-84D38294D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AC99B-5FF7-4CA4-87C8-5B5D89BBA3D3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D41343-A36B-46AA-B0C8-EA97A86D5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DC0080-E690-4D0D-BFF7-CD1AF8201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0119A-0580-4917-8980-DDA9B1E08A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5557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C9FDD-3A77-4087-BED1-17614BF38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BC4C12-27D7-4AE0-B559-4C56075123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B709B0-C6C4-488E-B5BD-19966B2097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62B121-E9FE-4D51-A10B-06B16D9BF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AC99B-5FF7-4CA4-87C8-5B5D89BBA3D3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D50F57-88A5-47FD-BE90-D4C4FB03E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4FADEE-3992-4936-9CBC-C7AF9B27C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0119A-0580-4917-8980-DDA9B1E08A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5498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9DC6B-E0F5-4296-A95C-FC5DDDD70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C97C2C-1F3D-491E-AA6A-D18673A99D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932073-1043-4C30-958E-7F21CFFDC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AC99B-5FF7-4CA4-87C8-5B5D89BBA3D3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5D303C-2B74-4155-8C29-85B24CD49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9D2369-FB95-4469-8C3B-FE7B5EA0B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0119A-0580-4917-8980-DDA9B1E08A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9599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EC9AA20-3B76-48B2-84BD-CD15CCBDB2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3EB57E-5CC6-4863-AF2C-A17D6838A4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5F528D-A080-451A-96DC-FD97114E4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AC99B-5FF7-4CA4-87C8-5B5D89BBA3D3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316449-6E14-4308-8249-14E0ACF45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70D660-0E53-4F19-9BD9-56541BA95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0119A-0580-4917-8980-DDA9B1E08A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1431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1353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18D8E9-62E4-4A4D-BED3-DEAE19E3C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3AC317-E437-42A6-BD04-DE05213EE4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96EB4A-9480-43E9-B34B-ED25BF0FE9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1AC99B-5FF7-4CA4-87C8-5B5D89BBA3D3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F2E717-14DC-4D9C-B357-3D1B18B09A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44811E-CED2-4733-AB67-6260EAAB21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D0119A-0580-4917-8980-DDA9B1E08A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5637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5.jpe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6.png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2" y="525"/>
            <a:ext cx="12192000" cy="6856950"/>
          </a:xfrm>
          <a:prstGeom prst="rect">
            <a:avLst/>
          </a:prstGeom>
          <a:solidFill>
            <a:srgbClr val="FFF6E9">
              <a:alpha val="7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5" tIns="45717" rIns="91435" bIns="45717" rtlCol="0" anchor="ctr"/>
          <a:lstStyle/>
          <a:p>
            <a:pPr algn="ctr"/>
            <a:endParaRPr lang="zh-CN" altLang="en-US" sz="1905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F:\H\H河海\2023新VI\PPT2-11.png"/>
          <p:cNvPicPr>
            <a:picLocks noChangeAspect="1" noChangeArrowheads="1"/>
          </p:cNvPicPr>
          <p:nvPr/>
        </p:nvPicPr>
        <p:blipFill rotWithShape="1">
          <a:blip r:embed="rId4" cstate="print"/>
          <a:srcRect b="53022"/>
          <a:stretch/>
        </p:blipFill>
        <p:spPr bwMode="auto">
          <a:xfrm>
            <a:off x="0" y="5832293"/>
            <a:ext cx="12192000" cy="1014200"/>
          </a:xfrm>
          <a:prstGeom prst="rect">
            <a:avLst/>
          </a:prstGeom>
          <a:noFill/>
        </p:spPr>
      </p:pic>
      <p:sp>
        <p:nvSpPr>
          <p:cNvPr id="7" name="TextBox 6"/>
          <p:cNvSpPr txBox="1"/>
          <p:nvPr/>
        </p:nvSpPr>
        <p:spPr>
          <a:xfrm>
            <a:off x="1358624" y="2187974"/>
            <a:ext cx="9474753" cy="6785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809" b="1" kern="1600" dirty="0">
                <a:solidFill>
                  <a:srgbClr val="D22624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Advanced Programming Techniques CS-307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34654" y="3537778"/>
            <a:ext cx="8000264" cy="483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539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Graphics Device Interface(GDI), Painting &amp; Drawing in C#</a:t>
            </a:r>
            <a:endParaRPr lang="zh-CN" altLang="en-US" sz="2539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7" name="矩形: 圆角 7"/>
          <p:cNvSpPr/>
          <p:nvPr>
            <p:custDataLst>
              <p:tags r:id="rId1"/>
            </p:custDataLst>
          </p:nvPr>
        </p:nvSpPr>
        <p:spPr>
          <a:xfrm>
            <a:off x="3914220" y="4668406"/>
            <a:ext cx="4629571" cy="425998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 w="12700">
            <a:solidFill>
              <a:schemeClr val="bg1"/>
            </a:solidFill>
          </a:ln>
          <a:effectLst>
            <a:outerShdw blurRad="241300" dist="63500" dir="2700000" algn="tl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93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078268" y="4695789"/>
            <a:ext cx="4118658" cy="385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90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Instructor</a:t>
            </a:r>
            <a:r>
              <a:rPr lang="zh-CN" altLang="en-US" sz="190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sz="190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Muhammad Rauf Sarwer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141DE4-9D89-4A45-A1EB-A5E2D0CAF2A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0019" y="405455"/>
            <a:ext cx="5802428" cy="17715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F:\H\H河海\2023新VI\PPT-02.png"/>
          <p:cNvPicPr>
            <a:picLocks noChangeAspect="1" noChangeArrowheads="1"/>
          </p:cNvPicPr>
          <p:nvPr/>
        </p:nvPicPr>
        <p:blipFill>
          <a:blip r:embed="rId5" cstate="print">
            <a:alphaModFix amt="70000"/>
          </a:blip>
          <a:srcRect/>
          <a:stretch>
            <a:fillRect/>
          </a:stretch>
        </p:blipFill>
        <p:spPr bwMode="auto">
          <a:xfrm>
            <a:off x="6391023" y="2692205"/>
            <a:ext cx="5800045" cy="4165270"/>
          </a:xfrm>
          <a:prstGeom prst="rect">
            <a:avLst/>
          </a:prstGeom>
          <a:noFill/>
        </p:spPr>
      </p:pic>
      <p:sp>
        <p:nvSpPr>
          <p:cNvPr id="40" name="文本框 2"/>
          <p:cNvSpPr txBox="1"/>
          <p:nvPr/>
        </p:nvSpPr>
        <p:spPr>
          <a:xfrm>
            <a:off x="919958" y="1875647"/>
            <a:ext cx="10352088" cy="397909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45710" rIns="0" bIns="4571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80" kern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微软雅黑" panose="020B0503020204020204" charset="-122"/>
              </a:rPr>
              <a:t>在此输入详细内容，建议：文字言简意赅，分点阐述核心观点；可适当调整字体、颜色、行间距等格式以突出重点</a:t>
            </a:r>
          </a:p>
        </p:txBody>
      </p:sp>
      <p:cxnSp>
        <p:nvCxnSpPr>
          <p:cNvPr id="5" name="直接连接符 4"/>
          <p:cNvCxnSpPr/>
          <p:nvPr>
            <p:custDataLst>
              <p:tags r:id="rId1"/>
            </p:custDataLst>
          </p:nvPr>
        </p:nvCxnSpPr>
        <p:spPr>
          <a:xfrm>
            <a:off x="732977" y="794557"/>
            <a:ext cx="10726048" cy="0"/>
          </a:xfrm>
          <a:prstGeom prst="line">
            <a:avLst/>
          </a:prstGeom>
          <a:ln w="15875" cmpd="sng">
            <a:solidFill>
              <a:schemeClr val="accent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770436" y="335594"/>
            <a:ext cx="4063378" cy="461645"/>
          </a:xfrm>
          <a:prstGeom prst="rect">
            <a:avLst/>
          </a:prstGeom>
          <a:noFill/>
        </p:spPr>
        <p:txBody>
          <a:bodyPr wrap="square" lIns="91421" tIns="45710" rIns="91421" bIns="45710" rtlCol="0">
            <a:spAutoFit/>
          </a:bodyPr>
          <a:lstStyle/>
          <a:p>
            <a:pPr defTabSz="864061">
              <a:defRPr/>
            </a:pPr>
            <a:r>
              <a:rPr lang="en-US" altLang="zh-CN" sz="2400" b="1" dirty="0">
                <a:solidFill>
                  <a:srgbClr val="CB232D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What is GDI?</a:t>
            </a:r>
            <a:endParaRPr lang="zh-CN" altLang="en-US" sz="2400" b="1" dirty="0">
              <a:solidFill>
                <a:srgbClr val="CB232D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5ABDD3F1-40DE-4636-99D1-5448F4CF4E1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7284" y="146267"/>
            <a:ext cx="1513735" cy="462158"/>
          </a:xfrm>
          <a:prstGeom prst="rect">
            <a:avLst/>
          </a:prstGeom>
        </p:spPr>
      </p:pic>
      <p:sp>
        <p:nvSpPr>
          <p:cNvPr id="36" name="文本框 24">
            <a:extLst>
              <a:ext uri="{FF2B5EF4-FFF2-40B4-BE49-F238E27FC236}">
                <a16:creationId xmlns:a16="http://schemas.microsoft.com/office/drawing/2014/main" id="{08EF8BB0-B5CB-4747-A18A-AD8DBED89262}"/>
              </a:ext>
            </a:extLst>
          </p:cNvPr>
          <p:cNvSpPr txBox="1"/>
          <p:nvPr/>
        </p:nvSpPr>
        <p:spPr>
          <a:xfrm>
            <a:off x="465637" y="1695702"/>
            <a:ext cx="4949046" cy="2862302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45710" rIns="0" bIns="45710">
            <a:spAutoFit/>
          </a:bodyPr>
          <a:lstStyle>
            <a:defPPr>
              <a:defRPr lang="zh-CN"/>
            </a:defPPr>
            <a:lvl1pPr fontAlgn="auto">
              <a:lnSpc>
                <a:spcPct val="120000"/>
              </a:lnSpc>
              <a:defRPr spc="110">
                <a:gradFill>
                  <a:gsLst>
                    <a:gs pos="0">
                      <a:srgbClr val="D00A09"/>
                    </a:gs>
                    <a:gs pos="100000">
                      <a:srgbClr val="A10202"/>
                    </a:gs>
                  </a:gsLst>
                  <a:lin ang="5400000" scaled="1"/>
                </a:gradFill>
                <a:latin typeface="思源黑体 CN Normal" panose="020B0400000000000000" pitchFamily="34" charset="-122"/>
                <a:ea typeface="思源宋体 Heavy" panose="02020900000000000000" pitchFamily="18" charset="-122"/>
                <a:cs typeface="Source Han Sans Light" panose="020B0300000000000000" charset="-122"/>
              </a:defRPr>
            </a:lvl1pPr>
          </a:lstStyle>
          <a:p>
            <a:pPr marL="819710" lvl="1" indent="-362822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Windows component for 2D graphics</a:t>
            </a:r>
          </a:p>
          <a:p>
            <a:pPr marL="819710" lvl="1" indent="-362822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tools to draw shapes, text, and images</a:t>
            </a:r>
          </a:p>
          <a:p>
            <a:pPr marL="819710" lvl="1" indent="-362822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in Windows Forms applications</a:t>
            </a:r>
          </a:p>
          <a:p>
            <a:pPr marL="819710" lvl="1" indent="-362822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 independently of hardware → same code works for screen, printer, or file</a:t>
            </a:r>
          </a:p>
          <a:p>
            <a:pPr marL="819710" lvl="1" indent="-362822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C#, GDI is accessed through the Graphics class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D10405D-7ADD-4CF9-B1E0-030A2C9BDEC1}"/>
              </a:ext>
            </a:extLst>
          </p:cNvPr>
          <p:cNvSpPr txBox="1"/>
          <p:nvPr/>
        </p:nvSpPr>
        <p:spPr>
          <a:xfrm>
            <a:off x="770436" y="979611"/>
            <a:ext cx="6094714" cy="7655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46"/>
              </a:spcAft>
            </a:pPr>
            <a:r>
              <a:rPr lang="en-US" sz="2116" dirty="0"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Way to work with painting graphic objects such as painting on windows, form, etc.</a:t>
            </a:r>
          </a:p>
        </p:txBody>
      </p:sp>
      <p:pic>
        <p:nvPicPr>
          <p:cNvPr id="3074" name="Picture 2" descr="This may contain: a computer screen with an animated bear on it's side and a color swater next to it">
            <a:extLst>
              <a:ext uri="{FF2B5EF4-FFF2-40B4-BE49-F238E27FC236}">
                <a16:creationId xmlns:a16="http://schemas.microsoft.com/office/drawing/2014/main" id="{EB2C4076-6D87-4D11-84DB-0037836199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8221" y="1397800"/>
            <a:ext cx="5800045" cy="4490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1460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F:\H\H河海\2023新VI\PPT-02.png"/>
          <p:cNvPicPr>
            <a:picLocks noChangeAspect="1" noChangeArrowheads="1"/>
          </p:cNvPicPr>
          <p:nvPr/>
        </p:nvPicPr>
        <p:blipFill>
          <a:blip r:embed="rId5" cstate="print">
            <a:alphaModFix amt="70000"/>
          </a:blip>
          <a:srcRect/>
          <a:stretch>
            <a:fillRect/>
          </a:stretch>
        </p:blipFill>
        <p:spPr bwMode="auto">
          <a:xfrm>
            <a:off x="6391023" y="2692205"/>
            <a:ext cx="5800045" cy="4165270"/>
          </a:xfrm>
          <a:prstGeom prst="rect">
            <a:avLst/>
          </a:prstGeom>
          <a:noFill/>
        </p:spPr>
      </p:pic>
      <p:cxnSp>
        <p:nvCxnSpPr>
          <p:cNvPr id="5" name="直接连接符 4"/>
          <p:cNvCxnSpPr/>
          <p:nvPr>
            <p:custDataLst>
              <p:tags r:id="rId1"/>
            </p:custDataLst>
          </p:nvPr>
        </p:nvCxnSpPr>
        <p:spPr>
          <a:xfrm>
            <a:off x="732977" y="794557"/>
            <a:ext cx="10726048" cy="0"/>
          </a:xfrm>
          <a:prstGeom prst="line">
            <a:avLst/>
          </a:prstGeom>
          <a:ln w="15875" cmpd="sng">
            <a:solidFill>
              <a:schemeClr val="accent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770435" y="335594"/>
            <a:ext cx="6786811" cy="461645"/>
          </a:xfrm>
          <a:prstGeom prst="rect">
            <a:avLst/>
          </a:prstGeom>
          <a:noFill/>
        </p:spPr>
        <p:txBody>
          <a:bodyPr wrap="square" lIns="91421" tIns="45710" rIns="91421" bIns="45710" rtlCol="0">
            <a:spAutoFit/>
          </a:bodyPr>
          <a:lstStyle/>
          <a:p>
            <a:pPr defTabSz="864061">
              <a:defRPr/>
            </a:pPr>
            <a:r>
              <a:rPr lang="en-US" altLang="zh-CN" sz="2400" b="1" dirty="0">
                <a:solidFill>
                  <a:srgbClr val="CB232D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The Graphics Object</a:t>
            </a:r>
            <a:endParaRPr lang="zh-CN" altLang="en-US" sz="2400" b="1" dirty="0">
              <a:solidFill>
                <a:srgbClr val="CB232D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5ABDD3F1-40DE-4636-99D1-5448F4CF4E1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7284" y="146267"/>
            <a:ext cx="1513735" cy="462158"/>
          </a:xfrm>
          <a:prstGeom prst="rect">
            <a:avLst/>
          </a:prstGeom>
        </p:spPr>
      </p:pic>
      <p:sp>
        <p:nvSpPr>
          <p:cNvPr id="36" name="文本框 24">
            <a:extLst>
              <a:ext uri="{FF2B5EF4-FFF2-40B4-BE49-F238E27FC236}">
                <a16:creationId xmlns:a16="http://schemas.microsoft.com/office/drawing/2014/main" id="{08EF8BB0-B5CB-4747-A18A-AD8DBED89262}"/>
              </a:ext>
            </a:extLst>
          </p:cNvPr>
          <p:cNvSpPr txBox="1"/>
          <p:nvPr/>
        </p:nvSpPr>
        <p:spPr>
          <a:xfrm>
            <a:off x="770435" y="2610987"/>
            <a:ext cx="10525094" cy="1477307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45710" rIns="0" bIns="45710">
            <a:spAutoFit/>
          </a:bodyPr>
          <a:lstStyle>
            <a:defPPr>
              <a:defRPr lang="zh-CN"/>
            </a:defPPr>
            <a:lvl1pPr fontAlgn="auto">
              <a:lnSpc>
                <a:spcPct val="120000"/>
              </a:lnSpc>
              <a:defRPr spc="110">
                <a:gradFill>
                  <a:gsLst>
                    <a:gs pos="0">
                      <a:srgbClr val="D00A09"/>
                    </a:gs>
                    <a:gs pos="100000">
                      <a:srgbClr val="A10202"/>
                    </a:gs>
                  </a:gsLst>
                  <a:lin ang="5400000" scaled="1"/>
                </a:gradFill>
                <a:latin typeface="思源黑体 CN Normal" panose="020B0400000000000000" pitchFamily="34" charset="-122"/>
                <a:ea typeface="思源宋体 Heavy" panose="02020900000000000000" pitchFamily="18" charset="-122"/>
                <a:cs typeface="Source Han Sans Light" panose="020B0300000000000000" charset="-122"/>
              </a:defRPr>
            </a:lvl1pPr>
          </a:lstStyle>
          <a:p>
            <a:pPr marL="456888"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private void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Form_Paint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(object sender,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PaintEventArgs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e)</a:t>
            </a:r>
          </a:p>
          <a:p>
            <a:pPr marL="456888"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456888"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Graphics g 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e.Graphics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</a:p>
          <a:p>
            <a:pPr marL="456888" lvl="1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g.DrawRectangle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(pen, 10, 10, 100, 50);</a:t>
            </a:r>
          </a:p>
          <a:p>
            <a:pPr marL="456888"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D10405D-7ADD-4CF9-B1E0-030A2C9BDEC1}"/>
              </a:ext>
            </a:extLst>
          </p:cNvPr>
          <p:cNvSpPr txBox="1"/>
          <p:nvPr/>
        </p:nvSpPr>
        <p:spPr>
          <a:xfrm>
            <a:off x="770436" y="979611"/>
            <a:ext cx="6094714" cy="4172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46"/>
              </a:spcAft>
            </a:pPr>
            <a:r>
              <a:rPr lang="en-US" sz="2116" dirty="0">
                <a:solidFill>
                  <a:srgbClr val="C00000"/>
                </a:solidFill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The Graphics Object = Your Virtual Artist!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4626B5-E6C0-4C55-8383-F7193986BE8E}"/>
              </a:ext>
            </a:extLst>
          </p:cNvPr>
          <p:cNvSpPr txBox="1"/>
          <p:nvPr/>
        </p:nvSpPr>
        <p:spPr>
          <a:xfrm>
            <a:off x="1913964" y="1447233"/>
            <a:ext cx="83640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(Programmer) → Give commands → Graphics Object (Artist) → Draws on Screen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004F118-4179-4E1A-A3B4-11F7655F8EEF}"/>
              </a:ext>
            </a:extLst>
          </p:cNvPr>
          <p:cNvSpPr txBox="1"/>
          <p:nvPr/>
        </p:nvSpPr>
        <p:spPr>
          <a:xfrm>
            <a:off x="878541" y="202880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Way to "Hire Your Artist":</a:t>
            </a:r>
            <a:endPara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3798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F:\H\H河海\2023新VI\PPT-02.png"/>
          <p:cNvPicPr>
            <a:picLocks noChangeAspect="1" noChangeArrowheads="1"/>
          </p:cNvPicPr>
          <p:nvPr/>
        </p:nvPicPr>
        <p:blipFill>
          <a:blip r:embed="rId5" cstate="print">
            <a:alphaModFix amt="70000"/>
          </a:blip>
          <a:srcRect/>
          <a:stretch>
            <a:fillRect/>
          </a:stretch>
        </p:blipFill>
        <p:spPr bwMode="auto">
          <a:xfrm>
            <a:off x="6391023" y="2692205"/>
            <a:ext cx="5800045" cy="4165270"/>
          </a:xfrm>
          <a:prstGeom prst="rect">
            <a:avLst/>
          </a:prstGeom>
          <a:noFill/>
        </p:spPr>
      </p:pic>
      <p:cxnSp>
        <p:nvCxnSpPr>
          <p:cNvPr id="5" name="直接连接符 4"/>
          <p:cNvCxnSpPr/>
          <p:nvPr>
            <p:custDataLst>
              <p:tags r:id="rId1"/>
            </p:custDataLst>
          </p:nvPr>
        </p:nvCxnSpPr>
        <p:spPr>
          <a:xfrm>
            <a:off x="732977" y="794557"/>
            <a:ext cx="10726048" cy="0"/>
          </a:xfrm>
          <a:prstGeom prst="line">
            <a:avLst/>
          </a:prstGeom>
          <a:ln w="15875" cmpd="sng">
            <a:solidFill>
              <a:schemeClr val="accent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770435" y="335594"/>
            <a:ext cx="6786811" cy="461645"/>
          </a:xfrm>
          <a:prstGeom prst="rect">
            <a:avLst/>
          </a:prstGeom>
          <a:noFill/>
        </p:spPr>
        <p:txBody>
          <a:bodyPr wrap="square" lIns="91421" tIns="45710" rIns="91421" bIns="45710" rtlCol="0">
            <a:spAutoFit/>
          </a:bodyPr>
          <a:lstStyle/>
          <a:p>
            <a:pPr defTabSz="864061">
              <a:defRPr/>
            </a:pPr>
            <a:r>
              <a:rPr lang="en-US" altLang="zh-CN" sz="2400" b="1" dirty="0">
                <a:solidFill>
                  <a:srgbClr val="CB232D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Your Drawing Coordinates</a:t>
            </a:r>
            <a:endParaRPr lang="zh-CN" altLang="en-US" sz="2400" b="1" dirty="0">
              <a:solidFill>
                <a:srgbClr val="CB232D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5ABDD3F1-40DE-4636-99D1-5448F4CF4E1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7284" y="146267"/>
            <a:ext cx="1513735" cy="462158"/>
          </a:xfrm>
          <a:prstGeom prst="rect">
            <a:avLst/>
          </a:prstGeom>
        </p:spPr>
      </p:pic>
      <p:sp>
        <p:nvSpPr>
          <p:cNvPr id="36" name="文本框 24">
            <a:extLst>
              <a:ext uri="{FF2B5EF4-FFF2-40B4-BE49-F238E27FC236}">
                <a16:creationId xmlns:a16="http://schemas.microsoft.com/office/drawing/2014/main" id="{08EF8BB0-B5CB-4747-A18A-AD8DBED89262}"/>
              </a:ext>
            </a:extLst>
          </p:cNvPr>
          <p:cNvSpPr txBox="1"/>
          <p:nvPr/>
        </p:nvSpPr>
        <p:spPr>
          <a:xfrm>
            <a:off x="2561777" y="2689524"/>
            <a:ext cx="10525094" cy="2800747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45710" rIns="0" bIns="45710">
            <a:spAutoFit/>
          </a:bodyPr>
          <a:lstStyle>
            <a:defPPr>
              <a:defRPr lang="zh-CN"/>
            </a:defPPr>
            <a:lvl1pPr fontAlgn="auto">
              <a:lnSpc>
                <a:spcPct val="120000"/>
              </a:lnSpc>
              <a:defRPr spc="110">
                <a:gradFill>
                  <a:gsLst>
                    <a:gs pos="0">
                      <a:srgbClr val="D00A09"/>
                    </a:gs>
                    <a:gs pos="100000">
                      <a:srgbClr val="A10202"/>
                    </a:gs>
                  </a:gsLst>
                  <a:lin ang="5400000" scaled="1"/>
                </a:gradFill>
                <a:latin typeface="思源黑体 CN Normal" panose="020B0400000000000000" pitchFamily="34" charset="-122"/>
                <a:ea typeface="思源宋体 Heavy" panose="02020900000000000000" pitchFamily="18" charset="-122"/>
                <a:cs typeface="Source Han Sans Light" panose="020B0300000000000000" charset="-122"/>
              </a:defRPr>
            </a:lvl1pPr>
          </a:lstStyle>
          <a:p>
            <a:pPr marL="456888"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NORTH-WEST Corner</a:t>
            </a:r>
          </a:p>
          <a:p>
            <a:pPr marL="456888"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↓</a:t>
            </a:r>
          </a:p>
          <a:p>
            <a:pPr marL="456888"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     EAST</a:t>
            </a:r>
          </a:p>
          <a:p>
            <a:pPr marL="456888"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		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House at (100,50)</a:t>
            </a:r>
          </a:p>
          <a:p>
            <a:pPr marL="456888"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	 	→ 100 pixels RIGHT</a:t>
            </a:r>
          </a:p>
          <a:p>
            <a:pPr marL="456888"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	 	→ 50 pixels DOWN</a:t>
            </a:r>
          </a:p>
          <a:p>
            <a:pPr marL="456888"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</a:p>
          <a:p>
            <a:pPr marL="456888"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   </a:t>
            </a:r>
          </a:p>
          <a:p>
            <a:pPr marL="456888" lvl="1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6888"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SOUTH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004F118-4179-4E1A-A3B4-11F7655F8EEF}"/>
              </a:ext>
            </a:extLst>
          </p:cNvPr>
          <p:cNvSpPr txBox="1"/>
          <p:nvPr/>
        </p:nvSpPr>
        <p:spPr>
          <a:xfrm>
            <a:off x="1115840" y="953041"/>
            <a:ext cx="6096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Coordinate System</a:t>
            </a:r>
            <a:r>
              <a:rPr lang="en-US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(0,0) = top-left corner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increases → right, Y increases → down</a:t>
            </a:r>
          </a:p>
          <a:p>
            <a:endParaRPr lang="en-US" b="1" i="0" dirty="0">
              <a:solidFill>
                <a:srgbClr val="C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i="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Screen is Like a City Map: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ED89A39-1E1A-4979-A480-694F0BAF1F1A}"/>
              </a:ext>
            </a:extLst>
          </p:cNvPr>
          <p:cNvCxnSpPr>
            <a:cxnSpLocks/>
          </p:cNvCxnSpPr>
          <p:nvPr/>
        </p:nvCxnSpPr>
        <p:spPr>
          <a:xfrm>
            <a:off x="3620142" y="3431337"/>
            <a:ext cx="161544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442A38E-4EFA-45B0-9156-C9A0F24092FB}"/>
              </a:ext>
            </a:extLst>
          </p:cNvPr>
          <p:cNvCxnSpPr>
            <a:cxnSpLocks/>
          </p:cNvCxnSpPr>
          <p:nvPr/>
        </p:nvCxnSpPr>
        <p:spPr>
          <a:xfrm flipV="1">
            <a:off x="3620142" y="3423717"/>
            <a:ext cx="0" cy="127058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CA2EC3C-D81C-4904-B60F-8A953C619B14}"/>
              </a:ext>
            </a:extLst>
          </p:cNvPr>
          <p:cNvCxnSpPr/>
          <p:nvPr/>
        </p:nvCxnSpPr>
        <p:spPr>
          <a:xfrm>
            <a:off x="3620142" y="4755257"/>
            <a:ext cx="0" cy="2743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8AAF56F-9214-4422-A307-6C2E5A2F5E81}"/>
              </a:ext>
            </a:extLst>
          </p:cNvPr>
          <p:cNvCxnSpPr>
            <a:cxnSpLocks/>
          </p:cNvCxnSpPr>
          <p:nvPr/>
        </p:nvCxnSpPr>
        <p:spPr>
          <a:xfrm>
            <a:off x="5303520" y="3431337"/>
            <a:ext cx="2362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111A6223-B68D-42BC-9900-371751BEAA1A}"/>
              </a:ext>
            </a:extLst>
          </p:cNvPr>
          <p:cNvSpPr txBox="1"/>
          <p:nvPr/>
        </p:nvSpPr>
        <p:spPr>
          <a:xfrm>
            <a:off x="6578218" y="3239051"/>
            <a:ext cx="10820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increases</a:t>
            </a:r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FD2ACCD-2482-4C11-8AAB-28523FC0FC00}"/>
              </a:ext>
            </a:extLst>
          </p:cNvPr>
          <p:cNvSpPr txBox="1"/>
          <p:nvPr/>
        </p:nvSpPr>
        <p:spPr>
          <a:xfrm>
            <a:off x="4427862" y="5120939"/>
            <a:ext cx="10820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increases</a:t>
            </a:r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C617041-3D71-4D59-B399-8C7C36C4FD84}"/>
              </a:ext>
            </a:extLst>
          </p:cNvPr>
          <p:cNvSpPr txBox="1"/>
          <p:nvPr/>
        </p:nvSpPr>
        <p:spPr>
          <a:xfrm>
            <a:off x="2957163" y="3246671"/>
            <a:ext cx="6762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(0,0) </a:t>
            </a:r>
            <a:endParaRPr 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33F1E5A-0ABF-41A5-A90D-420892E0AFC7}"/>
              </a:ext>
            </a:extLst>
          </p:cNvPr>
          <p:cNvSpPr txBox="1"/>
          <p:nvPr/>
        </p:nvSpPr>
        <p:spPr>
          <a:xfrm>
            <a:off x="6123934" y="3239051"/>
            <a:ext cx="5588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(X)</a:t>
            </a:r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23576E5-DE63-4AFF-BCE8-0D481878AB11}"/>
              </a:ext>
            </a:extLst>
          </p:cNvPr>
          <p:cNvSpPr txBox="1"/>
          <p:nvPr/>
        </p:nvSpPr>
        <p:spPr>
          <a:xfrm>
            <a:off x="4002853" y="5121388"/>
            <a:ext cx="5234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(Y)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9398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31" grpId="0"/>
      <p:bldP spid="33" grpId="0"/>
      <p:bldP spid="3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F:\H\H河海\2023新VI\PPT-02.png"/>
          <p:cNvPicPr>
            <a:picLocks noChangeAspect="1" noChangeArrowheads="1"/>
          </p:cNvPicPr>
          <p:nvPr/>
        </p:nvPicPr>
        <p:blipFill>
          <a:blip r:embed="rId5" cstate="print">
            <a:alphaModFix amt="70000"/>
          </a:blip>
          <a:srcRect/>
          <a:stretch>
            <a:fillRect/>
          </a:stretch>
        </p:blipFill>
        <p:spPr bwMode="auto">
          <a:xfrm>
            <a:off x="6391023" y="2692205"/>
            <a:ext cx="5800045" cy="4165270"/>
          </a:xfrm>
          <a:prstGeom prst="rect">
            <a:avLst/>
          </a:prstGeom>
          <a:noFill/>
        </p:spPr>
      </p:pic>
      <p:cxnSp>
        <p:nvCxnSpPr>
          <p:cNvPr id="5" name="直接连接符 4"/>
          <p:cNvCxnSpPr/>
          <p:nvPr>
            <p:custDataLst>
              <p:tags r:id="rId1"/>
            </p:custDataLst>
          </p:nvPr>
        </p:nvCxnSpPr>
        <p:spPr>
          <a:xfrm>
            <a:off x="732977" y="794557"/>
            <a:ext cx="10726048" cy="0"/>
          </a:xfrm>
          <a:prstGeom prst="line">
            <a:avLst/>
          </a:prstGeom>
          <a:ln w="15875" cmpd="sng">
            <a:solidFill>
              <a:schemeClr val="accent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770435" y="335594"/>
            <a:ext cx="6786811" cy="461645"/>
          </a:xfrm>
          <a:prstGeom prst="rect">
            <a:avLst/>
          </a:prstGeom>
          <a:noFill/>
        </p:spPr>
        <p:txBody>
          <a:bodyPr wrap="square" lIns="91421" tIns="45710" rIns="91421" bIns="45710" rtlCol="0">
            <a:spAutoFit/>
          </a:bodyPr>
          <a:lstStyle/>
          <a:p>
            <a:pPr defTabSz="864061">
              <a:defRPr/>
            </a:pPr>
            <a:r>
              <a:rPr lang="en-US" altLang="zh-CN" sz="2400" b="1" dirty="0">
                <a:solidFill>
                  <a:srgbClr val="CB232D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Pens - Your Digital Outline Tools</a:t>
            </a:r>
            <a:endParaRPr lang="zh-CN" altLang="en-US" sz="2400" b="1" dirty="0">
              <a:solidFill>
                <a:srgbClr val="CB232D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5ABDD3F1-40DE-4636-99D1-5448F4CF4E1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7284" y="146267"/>
            <a:ext cx="1513735" cy="46215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004F118-4179-4E1A-A3B4-11F7655F8EEF}"/>
              </a:ext>
            </a:extLst>
          </p:cNvPr>
          <p:cNvSpPr txBox="1"/>
          <p:nvPr/>
        </p:nvSpPr>
        <p:spPr>
          <a:xfrm>
            <a:off x="1115840" y="953041"/>
            <a:ext cx="6096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Pens = For Drawing Lines and Borders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Meet Your Digital Pen:</a:t>
            </a:r>
            <a:endParaRPr lang="en-US" b="1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3E3EC6C-37BC-408F-9A09-0E747388887D}"/>
              </a:ext>
            </a:extLst>
          </p:cNvPr>
          <p:cNvSpPr txBox="1"/>
          <p:nvPr/>
        </p:nvSpPr>
        <p:spPr>
          <a:xfrm>
            <a:off x="2079812" y="2616738"/>
            <a:ext cx="678681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Pen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Your Go-To Tool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blackPen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new Pen(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Color.Black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3);  // Color + Thickness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g.DrawEllipse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(pen, 20, 20, 50, 50);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9515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F:\H\H河海\2023新VI\PPT-02.png"/>
          <p:cNvPicPr>
            <a:picLocks noChangeAspect="1" noChangeArrowheads="1"/>
          </p:cNvPicPr>
          <p:nvPr/>
        </p:nvPicPr>
        <p:blipFill>
          <a:blip r:embed="rId5" cstate="print">
            <a:alphaModFix amt="70000"/>
          </a:blip>
          <a:srcRect/>
          <a:stretch>
            <a:fillRect/>
          </a:stretch>
        </p:blipFill>
        <p:spPr bwMode="auto">
          <a:xfrm>
            <a:off x="6391023" y="2692205"/>
            <a:ext cx="5800045" cy="4165270"/>
          </a:xfrm>
          <a:prstGeom prst="rect">
            <a:avLst/>
          </a:prstGeom>
          <a:noFill/>
        </p:spPr>
      </p:pic>
      <p:cxnSp>
        <p:nvCxnSpPr>
          <p:cNvPr id="5" name="直接连接符 4"/>
          <p:cNvCxnSpPr/>
          <p:nvPr>
            <p:custDataLst>
              <p:tags r:id="rId1"/>
            </p:custDataLst>
          </p:nvPr>
        </p:nvCxnSpPr>
        <p:spPr>
          <a:xfrm>
            <a:off x="732977" y="794557"/>
            <a:ext cx="10726048" cy="0"/>
          </a:xfrm>
          <a:prstGeom prst="line">
            <a:avLst/>
          </a:prstGeom>
          <a:ln w="15875" cmpd="sng">
            <a:solidFill>
              <a:schemeClr val="accent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770435" y="335594"/>
            <a:ext cx="6786811" cy="461645"/>
          </a:xfrm>
          <a:prstGeom prst="rect">
            <a:avLst/>
          </a:prstGeom>
          <a:noFill/>
        </p:spPr>
        <p:txBody>
          <a:bodyPr wrap="square" lIns="91421" tIns="45710" rIns="91421" bIns="45710" rtlCol="0">
            <a:spAutoFit/>
          </a:bodyPr>
          <a:lstStyle/>
          <a:p>
            <a:pPr defTabSz="864061">
              <a:defRPr/>
            </a:pPr>
            <a:r>
              <a:rPr lang="en-US" altLang="zh-CN" sz="2400" b="1" dirty="0">
                <a:solidFill>
                  <a:srgbClr val="CB232D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Brushes - Your Digital Fill Tools</a:t>
            </a:r>
            <a:endParaRPr lang="zh-CN" altLang="en-US" sz="2400" b="1" dirty="0">
              <a:solidFill>
                <a:srgbClr val="CB232D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5ABDD3F1-40DE-4636-99D1-5448F4CF4E1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7284" y="146267"/>
            <a:ext cx="1513735" cy="46215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004F118-4179-4E1A-A3B4-11F7655F8EEF}"/>
              </a:ext>
            </a:extLst>
          </p:cNvPr>
          <p:cNvSpPr txBox="1"/>
          <p:nvPr/>
        </p:nvSpPr>
        <p:spPr>
          <a:xfrm>
            <a:off x="1115840" y="953041"/>
            <a:ext cx="6096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Brushes = For Filling Shapes with Color &amp; Texture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Your Brush:</a:t>
            </a: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3E3EC6C-37BC-408F-9A09-0E747388887D}"/>
              </a:ext>
            </a:extLst>
          </p:cNvPr>
          <p:cNvSpPr txBox="1"/>
          <p:nvPr/>
        </p:nvSpPr>
        <p:spPr>
          <a:xfrm>
            <a:off x="1828800" y="2294009"/>
            <a:ext cx="763793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Solid Brush - One Color Fills All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Brush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brush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new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SolidBrush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Color.Green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g.FillEllipse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(brush, 20, 20, 50,50);</a:t>
            </a:r>
          </a:p>
        </p:txBody>
      </p:sp>
    </p:spTree>
    <p:extLst>
      <p:ext uri="{BB962C8B-B14F-4D97-AF65-F5344CB8AC3E}">
        <p14:creationId xmlns:p14="http://schemas.microsoft.com/office/powerpoint/2010/main" val="3594881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F:\H\H河海\2023新VI\PPT-02.png"/>
          <p:cNvPicPr>
            <a:picLocks noChangeAspect="1" noChangeArrowheads="1"/>
          </p:cNvPicPr>
          <p:nvPr/>
        </p:nvPicPr>
        <p:blipFill>
          <a:blip r:embed="rId5" cstate="print">
            <a:alphaModFix amt="70000"/>
          </a:blip>
          <a:srcRect/>
          <a:stretch>
            <a:fillRect/>
          </a:stretch>
        </p:blipFill>
        <p:spPr bwMode="auto">
          <a:xfrm>
            <a:off x="6391023" y="2692205"/>
            <a:ext cx="5800045" cy="4165270"/>
          </a:xfrm>
          <a:prstGeom prst="rect">
            <a:avLst/>
          </a:prstGeom>
          <a:noFill/>
        </p:spPr>
      </p:pic>
      <p:cxnSp>
        <p:nvCxnSpPr>
          <p:cNvPr id="5" name="直接连接符 4"/>
          <p:cNvCxnSpPr/>
          <p:nvPr>
            <p:custDataLst>
              <p:tags r:id="rId1"/>
            </p:custDataLst>
          </p:nvPr>
        </p:nvCxnSpPr>
        <p:spPr>
          <a:xfrm>
            <a:off x="732977" y="794557"/>
            <a:ext cx="10726048" cy="0"/>
          </a:xfrm>
          <a:prstGeom prst="line">
            <a:avLst/>
          </a:prstGeom>
          <a:ln w="15875" cmpd="sng">
            <a:solidFill>
              <a:schemeClr val="accent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770435" y="335594"/>
            <a:ext cx="6786811" cy="461645"/>
          </a:xfrm>
          <a:prstGeom prst="rect">
            <a:avLst/>
          </a:prstGeom>
          <a:noFill/>
        </p:spPr>
        <p:txBody>
          <a:bodyPr wrap="square" lIns="91421" tIns="45710" rIns="91421" bIns="45710" rtlCol="0">
            <a:spAutoFit/>
          </a:bodyPr>
          <a:lstStyle/>
          <a:p>
            <a:pPr defTabSz="864061">
              <a:defRPr/>
            </a:pPr>
            <a:r>
              <a:rPr lang="en-US" altLang="zh-CN" sz="2400" b="1" dirty="0">
                <a:solidFill>
                  <a:srgbClr val="CB232D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The Paint Event - Your Drawing Schedule</a:t>
            </a:r>
            <a:endParaRPr lang="zh-CN" altLang="en-US" sz="2400" b="1" dirty="0">
              <a:solidFill>
                <a:srgbClr val="CB232D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5ABDD3F1-40DE-4636-99D1-5448F4CF4E1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7284" y="146267"/>
            <a:ext cx="1513735" cy="46215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004F118-4179-4E1A-A3B4-11F7655F8EEF}"/>
              </a:ext>
            </a:extLst>
          </p:cNvPr>
          <p:cNvSpPr txBox="1"/>
          <p:nvPr/>
        </p:nvSpPr>
        <p:spPr>
          <a:xfrm>
            <a:off x="1115840" y="953041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Paint Event Handler: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3E3EC6C-37BC-408F-9A09-0E747388887D}"/>
              </a:ext>
            </a:extLst>
          </p:cNvPr>
          <p:cNvSpPr txBox="1"/>
          <p:nvPr/>
        </p:nvSpPr>
        <p:spPr>
          <a:xfrm>
            <a:off x="1653115" y="1867270"/>
            <a:ext cx="763793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private void Form1_Paint(object sender,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PaintEventArgs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Graphics g 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e.Graphics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 // Your artist arrives!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using (Pen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new Pen(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Color.Black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2))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using (Brush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brush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new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SolidBrush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Color.Blue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g.DrawRectangle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(pen, 10, 10, 100, 50);    // Outline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g.FillEllipse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(brush, 50, 50, 80, 80);     // Fill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13299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F:\H\H河海\2023新VI\PPT-02.png"/>
          <p:cNvPicPr>
            <a:picLocks noChangeAspect="1" noChangeArrowheads="1"/>
          </p:cNvPicPr>
          <p:nvPr/>
        </p:nvPicPr>
        <p:blipFill>
          <a:blip r:embed="rId5" cstate="print">
            <a:alphaModFix amt="70000"/>
          </a:blip>
          <a:srcRect/>
          <a:stretch>
            <a:fillRect/>
          </a:stretch>
        </p:blipFill>
        <p:spPr bwMode="auto">
          <a:xfrm>
            <a:off x="6391023" y="2692205"/>
            <a:ext cx="5800045" cy="4165270"/>
          </a:xfrm>
          <a:prstGeom prst="rect">
            <a:avLst/>
          </a:prstGeom>
          <a:noFill/>
        </p:spPr>
      </p:pic>
      <p:cxnSp>
        <p:nvCxnSpPr>
          <p:cNvPr id="5" name="直接连接符 4"/>
          <p:cNvCxnSpPr/>
          <p:nvPr>
            <p:custDataLst>
              <p:tags r:id="rId1"/>
            </p:custDataLst>
          </p:nvPr>
        </p:nvCxnSpPr>
        <p:spPr>
          <a:xfrm>
            <a:off x="732977" y="794557"/>
            <a:ext cx="10726048" cy="0"/>
          </a:xfrm>
          <a:prstGeom prst="line">
            <a:avLst/>
          </a:prstGeom>
          <a:ln w="15875" cmpd="sng">
            <a:solidFill>
              <a:schemeClr val="accent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770435" y="335594"/>
            <a:ext cx="6786811" cy="461645"/>
          </a:xfrm>
          <a:prstGeom prst="rect">
            <a:avLst/>
          </a:prstGeom>
          <a:noFill/>
        </p:spPr>
        <p:txBody>
          <a:bodyPr wrap="square" lIns="91421" tIns="45710" rIns="91421" bIns="45710" rtlCol="0">
            <a:spAutoFit/>
          </a:bodyPr>
          <a:lstStyle/>
          <a:p>
            <a:pPr defTabSz="864061">
              <a:defRPr/>
            </a:pPr>
            <a:r>
              <a:rPr lang="en-US" altLang="zh-CN" sz="2400" b="1" dirty="0">
                <a:solidFill>
                  <a:srgbClr val="CB232D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Building Our Paint App</a:t>
            </a:r>
            <a:endParaRPr lang="zh-CN" altLang="en-US" sz="2400" b="1" dirty="0">
              <a:solidFill>
                <a:srgbClr val="CB232D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5ABDD3F1-40DE-4636-99D1-5448F4CF4E1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7284" y="146267"/>
            <a:ext cx="1513735" cy="46215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004F118-4179-4E1A-A3B4-11F7655F8EEF}"/>
              </a:ext>
            </a:extLst>
          </p:cNvPr>
          <p:cNvSpPr txBox="1"/>
          <p:nvPr/>
        </p:nvSpPr>
        <p:spPr>
          <a:xfrm>
            <a:off x="1115840" y="953041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Let's Create Our Own Microsoft Paint!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3E3EC6C-37BC-408F-9A09-0E747388887D}"/>
              </a:ext>
            </a:extLst>
          </p:cNvPr>
          <p:cNvSpPr txBox="1"/>
          <p:nvPr/>
        </p:nvSpPr>
        <p:spPr>
          <a:xfrm>
            <a:off x="1285562" y="1153096"/>
            <a:ext cx="763793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drawing panel where you can paint with mouse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Color palette to choose different colors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Smooth, anti-aliased lines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drawing feedback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8FCAA5F-7C3A-4B4D-B51A-6E4B675B967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47784" y="2826683"/>
            <a:ext cx="6223834" cy="389631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447886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F:\H\H河海\2023新VI\PPT-02.png"/>
          <p:cNvPicPr>
            <a:picLocks noChangeAspect="1" noChangeArrowheads="1"/>
          </p:cNvPicPr>
          <p:nvPr/>
        </p:nvPicPr>
        <p:blipFill>
          <a:blip r:embed="rId5" cstate="print">
            <a:alphaModFix amt="70000"/>
          </a:blip>
          <a:srcRect/>
          <a:stretch>
            <a:fillRect/>
          </a:stretch>
        </p:blipFill>
        <p:spPr bwMode="auto">
          <a:xfrm>
            <a:off x="6391023" y="2692205"/>
            <a:ext cx="5800045" cy="4165270"/>
          </a:xfrm>
          <a:prstGeom prst="rect">
            <a:avLst/>
          </a:prstGeom>
          <a:noFill/>
        </p:spPr>
      </p:pic>
      <p:cxnSp>
        <p:nvCxnSpPr>
          <p:cNvPr id="5" name="直接连接符 4"/>
          <p:cNvCxnSpPr/>
          <p:nvPr>
            <p:custDataLst>
              <p:tags r:id="rId1"/>
            </p:custDataLst>
          </p:nvPr>
        </p:nvCxnSpPr>
        <p:spPr>
          <a:xfrm>
            <a:off x="732977" y="794557"/>
            <a:ext cx="10726048" cy="0"/>
          </a:xfrm>
          <a:prstGeom prst="line">
            <a:avLst/>
          </a:prstGeom>
          <a:ln w="15875" cmpd="sng">
            <a:solidFill>
              <a:schemeClr val="accent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770435" y="335594"/>
            <a:ext cx="6786811" cy="461645"/>
          </a:xfrm>
          <a:prstGeom prst="rect">
            <a:avLst/>
          </a:prstGeom>
          <a:noFill/>
        </p:spPr>
        <p:txBody>
          <a:bodyPr wrap="square" lIns="91421" tIns="45710" rIns="91421" bIns="45710" rtlCol="0">
            <a:spAutoFit/>
          </a:bodyPr>
          <a:lstStyle/>
          <a:p>
            <a:pPr defTabSz="864061">
              <a:defRPr/>
            </a:pPr>
            <a:r>
              <a:rPr lang="en-US" altLang="zh-CN" sz="2400" b="1" dirty="0">
                <a:solidFill>
                  <a:srgbClr val="CB232D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Hint</a:t>
            </a:r>
            <a:endParaRPr lang="zh-CN" altLang="en-US" sz="2400" b="1" dirty="0">
              <a:solidFill>
                <a:srgbClr val="CB232D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5ABDD3F1-40DE-4636-99D1-5448F4CF4E1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7284" y="146267"/>
            <a:ext cx="1513735" cy="46215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24D6039-5C09-47F5-AEBB-6E6DB73792CA}"/>
              </a:ext>
            </a:extLst>
          </p:cNvPr>
          <p:cNvSpPr txBox="1"/>
          <p:nvPr/>
        </p:nvSpPr>
        <p:spPr>
          <a:xfrm>
            <a:off x="1115840" y="1128561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Secret Sauce - Mouse Events: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MouseDown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"Start painting!"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MouseMove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"Keep painting while moving!"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MouseUp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"Stop painting!"</a:t>
            </a:r>
          </a:p>
        </p:txBody>
      </p:sp>
    </p:spTree>
    <p:extLst>
      <p:ext uri="{BB962C8B-B14F-4D97-AF65-F5344CB8AC3E}">
        <p14:creationId xmlns:p14="http://schemas.microsoft.com/office/powerpoint/2010/main" val="2577177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F:\H\H河海\2023新VI\PPT-02.png"/>
          <p:cNvPicPr>
            <a:picLocks noChangeAspect="1" noChangeArrowheads="1"/>
          </p:cNvPicPr>
          <p:nvPr/>
        </p:nvPicPr>
        <p:blipFill>
          <a:blip r:embed="rId5" cstate="print">
            <a:alphaModFix amt="70000"/>
          </a:blip>
          <a:srcRect/>
          <a:stretch>
            <a:fillRect/>
          </a:stretch>
        </p:blipFill>
        <p:spPr bwMode="auto">
          <a:xfrm>
            <a:off x="6391023" y="2692205"/>
            <a:ext cx="5800045" cy="4165270"/>
          </a:xfrm>
          <a:prstGeom prst="rect">
            <a:avLst/>
          </a:prstGeom>
          <a:noFill/>
        </p:spPr>
      </p:pic>
      <p:cxnSp>
        <p:nvCxnSpPr>
          <p:cNvPr id="5" name="直接连接符 4"/>
          <p:cNvCxnSpPr/>
          <p:nvPr>
            <p:custDataLst>
              <p:tags r:id="rId1"/>
            </p:custDataLst>
          </p:nvPr>
        </p:nvCxnSpPr>
        <p:spPr>
          <a:xfrm>
            <a:off x="732977" y="794557"/>
            <a:ext cx="10726048" cy="0"/>
          </a:xfrm>
          <a:prstGeom prst="line">
            <a:avLst/>
          </a:prstGeom>
          <a:ln w="15875" cmpd="sng">
            <a:solidFill>
              <a:schemeClr val="accent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770435" y="335594"/>
            <a:ext cx="6786811" cy="461645"/>
          </a:xfrm>
          <a:prstGeom prst="rect">
            <a:avLst/>
          </a:prstGeom>
          <a:noFill/>
        </p:spPr>
        <p:txBody>
          <a:bodyPr wrap="square" lIns="91421" tIns="45710" rIns="91421" bIns="45710" rtlCol="0">
            <a:spAutoFit/>
          </a:bodyPr>
          <a:lstStyle/>
          <a:p>
            <a:pPr defTabSz="864061">
              <a:defRPr/>
            </a:pPr>
            <a:r>
              <a:rPr lang="en-US" altLang="zh-CN" sz="2400" b="1" dirty="0">
                <a:solidFill>
                  <a:srgbClr val="CB232D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Paint App Code</a:t>
            </a:r>
            <a:endParaRPr lang="zh-CN" altLang="en-US" sz="2400" b="1" dirty="0">
              <a:solidFill>
                <a:srgbClr val="CB232D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5ABDD3F1-40DE-4636-99D1-5448F4CF4E1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7284" y="146267"/>
            <a:ext cx="1513735" cy="46215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004F118-4179-4E1A-A3B4-11F7655F8EEF}"/>
              </a:ext>
            </a:extLst>
          </p:cNvPr>
          <p:cNvSpPr txBox="1"/>
          <p:nvPr/>
        </p:nvSpPr>
        <p:spPr>
          <a:xfrm>
            <a:off x="1115840" y="942429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Coordinate Tracking System: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24D6039-5C09-47F5-AEBB-6E6DB73792CA}"/>
              </a:ext>
            </a:extLst>
          </p:cNvPr>
          <p:cNvSpPr txBox="1"/>
          <p:nvPr/>
        </p:nvSpPr>
        <p:spPr>
          <a:xfrm>
            <a:off x="2101958" y="1800727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x = -1, y = -1;        // "Where did I start drawing?"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bool moving = false;       // "Am I currently painting?"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AFB5B95-3BEA-4CB8-A312-2172468C162A}"/>
              </a:ext>
            </a:extLst>
          </p:cNvPr>
          <p:cNvSpPr txBox="1"/>
          <p:nvPr/>
        </p:nvSpPr>
        <p:spPr>
          <a:xfrm>
            <a:off x="1115840" y="2586332"/>
            <a:ext cx="8068237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Mouse Down - Start the Art:</a:t>
            </a:r>
          </a:p>
          <a:p>
            <a:endParaRPr lang="en-US" dirty="0"/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private void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panel_MouseDown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(object sender,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MouseEventArgs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moving = true;          // "Yes, I'm painting now!"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x 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e.X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y 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e.Y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     // "Remember where I started"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62595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F:\H\H河海\2023新VI\PPT-02.png"/>
          <p:cNvPicPr>
            <a:picLocks noChangeAspect="1" noChangeArrowheads="1"/>
          </p:cNvPicPr>
          <p:nvPr/>
        </p:nvPicPr>
        <p:blipFill>
          <a:blip r:embed="rId5" cstate="print">
            <a:alphaModFix amt="70000"/>
          </a:blip>
          <a:srcRect/>
          <a:stretch>
            <a:fillRect/>
          </a:stretch>
        </p:blipFill>
        <p:spPr bwMode="auto">
          <a:xfrm>
            <a:off x="6391023" y="2692205"/>
            <a:ext cx="5800045" cy="4165270"/>
          </a:xfrm>
          <a:prstGeom prst="rect">
            <a:avLst/>
          </a:prstGeom>
          <a:noFill/>
        </p:spPr>
      </p:pic>
      <p:cxnSp>
        <p:nvCxnSpPr>
          <p:cNvPr id="5" name="直接连接符 4"/>
          <p:cNvCxnSpPr/>
          <p:nvPr>
            <p:custDataLst>
              <p:tags r:id="rId1"/>
            </p:custDataLst>
          </p:nvPr>
        </p:nvCxnSpPr>
        <p:spPr>
          <a:xfrm>
            <a:off x="732977" y="794557"/>
            <a:ext cx="10726048" cy="0"/>
          </a:xfrm>
          <a:prstGeom prst="line">
            <a:avLst/>
          </a:prstGeom>
          <a:ln w="15875" cmpd="sng">
            <a:solidFill>
              <a:schemeClr val="accent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770435" y="335594"/>
            <a:ext cx="6786811" cy="461645"/>
          </a:xfrm>
          <a:prstGeom prst="rect">
            <a:avLst/>
          </a:prstGeom>
          <a:noFill/>
        </p:spPr>
        <p:txBody>
          <a:bodyPr wrap="square" lIns="91421" tIns="45710" rIns="91421" bIns="45710" rtlCol="0">
            <a:spAutoFit/>
          </a:bodyPr>
          <a:lstStyle/>
          <a:p>
            <a:pPr defTabSz="864061">
              <a:defRPr/>
            </a:pPr>
            <a:r>
              <a:rPr lang="en-US" altLang="zh-CN" sz="2400" b="1" dirty="0">
                <a:solidFill>
                  <a:srgbClr val="CB232D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Paint App Code</a:t>
            </a:r>
            <a:endParaRPr lang="zh-CN" altLang="en-US" sz="2400" b="1" dirty="0">
              <a:solidFill>
                <a:srgbClr val="CB232D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5ABDD3F1-40DE-4636-99D1-5448F4CF4E1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7284" y="146267"/>
            <a:ext cx="1513735" cy="46215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004F118-4179-4E1A-A3B4-11F7655F8EEF}"/>
              </a:ext>
            </a:extLst>
          </p:cNvPr>
          <p:cNvSpPr txBox="1"/>
          <p:nvPr/>
        </p:nvSpPr>
        <p:spPr>
          <a:xfrm>
            <a:off x="1115840" y="942429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Mouse Move - Create the Masterpiece: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24D6039-5C09-47F5-AEBB-6E6DB73792CA}"/>
              </a:ext>
            </a:extLst>
          </p:cNvPr>
          <p:cNvSpPr txBox="1"/>
          <p:nvPr/>
        </p:nvSpPr>
        <p:spPr>
          <a:xfrm>
            <a:off x="1222808" y="1342539"/>
            <a:ext cx="846268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private void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panel_MouseMove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(object sender,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MouseEventArgs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if (moving &amp;&amp; x != -1)  // "If painting and have start point"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g.DrawLine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(pen, x, y,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e.X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e.Y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  // Draw!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x 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e.X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y 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e.Y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 // Update position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AFB5B95-3BEA-4CB8-A312-2172468C162A}"/>
              </a:ext>
            </a:extLst>
          </p:cNvPr>
          <p:cNvSpPr txBox="1"/>
          <p:nvPr/>
        </p:nvSpPr>
        <p:spPr>
          <a:xfrm>
            <a:off x="1222808" y="4024207"/>
            <a:ext cx="8068237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Mouse Up - Signature Complete:</a:t>
            </a: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private void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panel_MouseUp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(object sender,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MouseEventArgs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moving = false;         // "I'm done painting!"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x = y = -1;            // "Reset start position"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73063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2167</TotalTime>
  <Words>746</Words>
  <Application>Microsoft Office PowerPoint</Application>
  <PresentationFormat>Widescreen</PresentationFormat>
  <Paragraphs>129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1" baseType="lpstr">
      <vt:lpstr>微软雅黑</vt:lpstr>
      <vt:lpstr>Arial</vt:lpstr>
      <vt:lpstr>Calibri</vt:lpstr>
      <vt:lpstr>Calibri Light</vt:lpstr>
      <vt:lpstr>DengXian</vt:lpstr>
      <vt:lpstr>DengXian</vt:lpstr>
      <vt:lpstr>quote-cjk-patch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Raouf Sarwar</dc:creator>
  <cp:lastModifiedBy>Moorche</cp:lastModifiedBy>
  <cp:revision>16</cp:revision>
  <dcterms:created xsi:type="dcterms:W3CDTF">2025-11-15T16:54:21Z</dcterms:created>
  <dcterms:modified xsi:type="dcterms:W3CDTF">2025-11-17T05:28:43Z</dcterms:modified>
</cp:coreProperties>
</file>