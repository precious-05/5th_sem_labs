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885" r:id="rId2"/>
    <p:sldId id="2886" r:id="rId3"/>
    <p:sldId id="2890" r:id="rId4"/>
    <p:sldId id="2891" r:id="rId5"/>
    <p:sldId id="2893" r:id="rId6"/>
    <p:sldId id="289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E90A6-B2B3-4D30-87E8-E9B66556F7F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53426-8FCE-4D37-9FC3-6D8F45FBA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38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5F0484-0F60-4837-8BE2-4414FF4B5C1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5F0484-0F60-4837-8BE2-4414FF4B5C1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186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5F0484-0F60-4837-8BE2-4414FF4B5C1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042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int[] </a:t>
            </a:r>
            <a:r>
              <a:rPr lang="en-US" dirty="0" err="1"/>
              <a:t>nums</a:t>
            </a:r>
            <a:r>
              <a:rPr lang="en-US" dirty="0"/>
              <a:t> = { 2, 4, 6 };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Creates an </a:t>
            </a:r>
            <a:r>
              <a:rPr lang="en-US" b="1" dirty="0"/>
              <a:t>array of integers</a:t>
            </a:r>
            <a:r>
              <a:rPr lang="en-US" dirty="0"/>
              <a:t> called </a:t>
            </a:r>
            <a:r>
              <a:rPr lang="en-US" dirty="0" err="1"/>
              <a:t>nums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holds 3 values: 2, 4, 6.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Indexing in C# always starts from </a:t>
            </a:r>
            <a:r>
              <a:rPr lang="en-US" b="1" dirty="0"/>
              <a:t>0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nums</a:t>
            </a:r>
            <a:r>
              <a:rPr lang="en-US" dirty="0"/>
              <a:t>[0] = 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nums</a:t>
            </a:r>
            <a:r>
              <a:rPr lang="en-US" dirty="0"/>
              <a:t>[1] = 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nums</a:t>
            </a:r>
            <a:r>
              <a:rPr lang="en-US" dirty="0"/>
              <a:t>[2] = 6</a:t>
            </a:r>
          </a:p>
          <a:p>
            <a:r>
              <a:rPr lang="en-US" dirty="0" err="1"/>
              <a:t>Console.WriteLine</a:t>
            </a:r>
            <a:r>
              <a:rPr lang="en-US" dirty="0"/>
              <a:t>(</a:t>
            </a:r>
            <a:r>
              <a:rPr lang="en-US" dirty="0" err="1"/>
              <a:t>nums</a:t>
            </a:r>
            <a:r>
              <a:rPr lang="en-US" dirty="0"/>
              <a:t>[1]);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Prints the element at index 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Since arrays are </a:t>
            </a:r>
            <a:r>
              <a:rPr lang="en-US" b="1" dirty="0"/>
              <a:t>0-based</a:t>
            </a:r>
            <a:r>
              <a:rPr lang="en-US" dirty="0"/>
              <a:t>, index 1 is the </a:t>
            </a:r>
            <a:r>
              <a:rPr lang="en-US" b="1" dirty="0"/>
              <a:t>second element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Output → 4.</a:t>
            </a:r>
          </a:p>
          <a:p>
            <a:r>
              <a:rPr lang="en-US" dirty="0" err="1"/>
              <a:t>Console.ReadKey</a:t>
            </a:r>
            <a:r>
              <a:rPr lang="en-US" dirty="0"/>
              <a:t>();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Keeps the console open until a key is pressed.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5F0484-0F60-4837-8BE2-4414FF4B5C1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430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int[] </a:t>
            </a:r>
            <a:r>
              <a:rPr lang="en-US" dirty="0" err="1"/>
              <a:t>nums</a:t>
            </a:r>
            <a:r>
              <a:rPr lang="en-US" dirty="0"/>
              <a:t> = { 2, 4, 6 };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Creates an </a:t>
            </a:r>
            <a:r>
              <a:rPr lang="en-US" b="1" dirty="0"/>
              <a:t>array of integers</a:t>
            </a:r>
            <a:r>
              <a:rPr lang="en-US" dirty="0"/>
              <a:t> called </a:t>
            </a:r>
            <a:r>
              <a:rPr lang="en-US" dirty="0" err="1"/>
              <a:t>nums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holds 3 values: 2, 4, 6.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Indexing in C# always starts from </a:t>
            </a:r>
            <a:r>
              <a:rPr lang="en-US" b="1" dirty="0"/>
              <a:t>0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nums</a:t>
            </a:r>
            <a:r>
              <a:rPr lang="en-US" dirty="0"/>
              <a:t>[0] = 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nums</a:t>
            </a:r>
            <a:r>
              <a:rPr lang="en-US" dirty="0"/>
              <a:t>[1] = 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nums</a:t>
            </a:r>
            <a:r>
              <a:rPr lang="en-US" dirty="0"/>
              <a:t>[2] = 6</a:t>
            </a:r>
          </a:p>
          <a:p>
            <a:r>
              <a:rPr lang="en-US" dirty="0" err="1"/>
              <a:t>Console.WriteLine</a:t>
            </a:r>
            <a:r>
              <a:rPr lang="en-US" dirty="0"/>
              <a:t>(</a:t>
            </a:r>
            <a:r>
              <a:rPr lang="en-US" dirty="0" err="1"/>
              <a:t>nums</a:t>
            </a:r>
            <a:r>
              <a:rPr lang="en-US" dirty="0"/>
              <a:t>[1]);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Prints the element at index 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Since arrays are </a:t>
            </a:r>
            <a:r>
              <a:rPr lang="en-US" b="1" dirty="0"/>
              <a:t>0-based</a:t>
            </a:r>
            <a:r>
              <a:rPr lang="en-US" dirty="0"/>
              <a:t>, index 1 is the </a:t>
            </a:r>
            <a:r>
              <a:rPr lang="en-US" b="1" dirty="0"/>
              <a:t>second element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Output → 4.</a:t>
            </a:r>
          </a:p>
          <a:p>
            <a:r>
              <a:rPr lang="en-US" dirty="0" err="1"/>
              <a:t>Console.ReadKey</a:t>
            </a:r>
            <a:r>
              <a:rPr lang="en-US" dirty="0"/>
              <a:t>();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Keeps the console open until a key is pressed.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5F0484-0F60-4837-8BE2-4414FF4B5C1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94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int[] </a:t>
            </a:r>
            <a:r>
              <a:rPr lang="en-US" dirty="0" err="1"/>
              <a:t>nums</a:t>
            </a:r>
            <a:r>
              <a:rPr lang="en-US" dirty="0"/>
              <a:t> = { 2, 4, 6 };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Creates an </a:t>
            </a:r>
            <a:r>
              <a:rPr lang="en-US" b="1" dirty="0"/>
              <a:t>array of integers</a:t>
            </a:r>
            <a:r>
              <a:rPr lang="en-US" dirty="0"/>
              <a:t> called </a:t>
            </a:r>
            <a:r>
              <a:rPr lang="en-US" dirty="0" err="1"/>
              <a:t>nums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holds 3 values: 2, 4, 6.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Indexing in C# always starts from </a:t>
            </a:r>
            <a:r>
              <a:rPr lang="en-US" b="1" dirty="0"/>
              <a:t>0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nums</a:t>
            </a:r>
            <a:r>
              <a:rPr lang="en-US" dirty="0"/>
              <a:t>[0] = 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nums</a:t>
            </a:r>
            <a:r>
              <a:rPr lang="en-US" dirty="0"/>
              <a:t>[1] = 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nums</a:t>
            </a:r>
            <a:r>
              <a:rPr lang="en-US" dirty="0"/>
              <a:t>[2] = 6</a:t>
            </a:r>
          </a:p>
          <a:p>
            <a:r>
              <a:rPr lang="en-US" dirty="0" err="1"/>
              <a:t>Console.WriteLine</a:t>
            </a:r>
            <a:r>
              <a:rPr lang="en-US" dirty="0"/>
              <a:t>(</a:t>
            </a:r>
            <a:r>
              <a:rPr lang="en-US" dirty="0" err="1"/>
              <a:t>nums</a:t>
            </a:r>
            <a:r>
              <a:rPr lang="en-US" dirty="0"/>
              <a:t>[1]);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Prints the element at index 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Since arrays are </a:t>
            </a:r>
            <a:r>
              <a:rPr lang="en-US" b="1" dirty="0"/>
              <a:t>0-based</a:t>
            </a:r>
            <a:r>
              <a:rPr lang="en-US" dirty="0"/>
              <a:t>, index 1 is the </a:t>
            </a:r>
            <a:r>
              <a:rPr lang="en-US" b="1" dirty="0"/>
              <a:t>second element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Output → 4.</a:t>
            </a:r>
          </a:p>
          <a:p>
            <a:r>
              <a:rPr lang="en-US" dirty="0" err="1"/>
              <a:t>Console.ReadKey</a:t>
            </a:r>
            <a:r>
              <a:rPr lang="en-US" dirty="0"/>
              <a:t>();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Keeps the console open until a key is pressed.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5F0484-0F60-4837-8BE2-4414FF4B5C1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538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67AF0-4B49-4BDF-B07B-83F7EA433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71473-DE9C-4DDD-9550-983056A34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0BF53-E143-425F-B1CD-10FAA4DF6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6465-9FB4-4036-91F0-B3EADBFFEE0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A1742-D909-4631-9D62-EAE3C053C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9E6D4-46AC-49D3-ABCA-CD94F8AB0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190B-51EC-4EDC-9E6B-4F8DA764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72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514AF-7646-4BFE-ACB2-49C346480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BFA01-1C3A-4AB7-B264-6CF94C6DE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D5621-A47A-47B3-88B5-59329D25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6465-9FB4-4036-91F0-B3EADBFFEE0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42AAF-01C3-4CA5-984C-072060627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5359E-0BA5-42BA-87C0-1DAFF62EB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190B-51EC-4EDC-9E6B-4F8DA764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41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3CB8-7647-4D79-B3A8-2E5E14844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02925-12B1-4EE6-AC20-EE86323D9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2CE35-6F31-4748-86EE-B31841A89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6465-9FB4-4036-91F0-B3EADBFFEE0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A4D26-7805-4C6A-9D13-5A3774ACF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F7D0E-9E00-4FCF-9B80-7FA3B14E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190B-51EC-4EDC-9E6B-4F8DA764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063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F3F0E-9C29-4A85-A9EE-23BD3E8C8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1BC19-734D-4010-9F6F-274DA7AF78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292B7-ECBE-4E14-AA28-5594CEFD8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ED5E4-F711-4BFE-8514-A0F23329B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6465-9FB4-4036-91F0-B3EADBFFEE0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73958-B2B4-421A-8600-87C56F3C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9A822-FB3A-4979-BB21-C1A6D4067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190B-51EC-4EDC-9E6B-4F8DA764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3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9C428-67DC-48CC-9FD1-2A9DED59F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B3EAB-5620-4E31-AF9F-6C90E917C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430D1-B787-488D-9AF6-A35D21F15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E72E9A-3FD9-4006-8DEB-7E573E6E4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9130F0-8920-43D8-9F0B-D4B7487FCC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E368CD-B446-43FB-B06F-72C00A454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6465-9FB4-4036-91F0-B3EADBFFEE0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1E2734-31BB-447C-87A4-5F86B672F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14911C-09E0-4B95-AB91-A63A1003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190B-51EC-4EDC-9E6B-4F8DA764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86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C581-4E4C-4E41-A1DE-7B5D78392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768F23-7494-4319-B9E0-281F6D7D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6465-9FB4-4036-91F0-B3EADBFFEE0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2E0809-3212-4AC7-BBA2-73BCC6FB9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D9BD2-4B07-409E-AD70-10056126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190B-51EC-4EDC-9E6B-4F8DA764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13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55C8F4-B02C-4F5B-8A6C-100D09F6C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6465-9FB4-4036-91F0-B3EADBFFEE0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4BFFA-7D5A-4468-879B-8BCE3B34F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636AC-7619-4939-8318-0E5CDC45F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190B-51EC-4EDC-9E6B-4F8DA764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3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6B891-2CDD-45F4-92B3-749E3A623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F4FD2-FE5D-442C-8C92-0F9CE25F9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E4805-CAA8-44C1-8C3D-FB215ABA3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95662-BC06-45F7-B40D-7D27B31A9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6465-9FB4-4036-91F0-B3EADBFFEE0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B0EA9-197F-49AE-AC19-D70167B6F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AAE04-D430-44E2-B12B-E740DF465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190B-51EC-4EDC-9E6B-4F8DA764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67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17D63-CAB9-440F-A248-F840F32A8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8E4197-466B-40AD-B82A-A579530EAB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57C18-EDC9-4A60-802D-A5D3A01D2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26BF4-11E5-403A-8090-BA83489AE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6465-9FB4-4036-91F0-B3EADBFFEE0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0AE60-D91A-48B7-AD45-69BC13CE1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8D673-9FC1-40E5-841E-43D64C1B4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190B-51EC-4EDC-9E6B-4F8DA764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1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781D-D81F-4F81-A8ED-5F28407DE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A9694-944B-40D5-93A8-D6FBFC551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49DA7-A431-438E-A27E-B1AF73BA4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6465-9FB4-4036-91F0-B3EADBFFEE0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FD59A-3C85-4255-B7FC-A6E5E0745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F380F-4219-4374-A33D-DA60FA190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190B-51EC-4EDC-9E6B-4F8DA764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08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DF5162-63AE-408C-AABE-DC1E26DFB3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23A469-A18E-427A-80ED-FF04531B1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B1493-D80F-4AE8-9736-1DE86D252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6465-9FB4-4036-91F0-B3EADBFFEE0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BB95D-1AB2-44FA-9E3D-3494B670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022AB-59FF-4785-811B-6C709E205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2190B-51EC-4EDC-9E6B-4F8DA764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89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472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E83049-31B1-414D-A504-3EC2ED8D6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F329A-5AAC-4D83-A61C-5FA0C7F73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3E6E7-E479-4756-BD5D-CA95FAC7AC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56465-9FB4-4036-91F0-B3EADBFFEE0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7328C-184E-4E40-8FB5-2903B33474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5DEE-03E8-47BC-B2B0-D2202956A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2190B-51EC-4EDC-9E6B-4F8DA764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0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8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2" y="525"/>
            <a:ext cx="12192000" cy="6856950"/>
          </a:xfrm>
          <a:prstGeom prst="rect">
            <a:avLst/>
          </a:prstGeom>
          <a:solidFill>
            <a:srgbClr val="FFF6E9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7" rIns="91435" bIns="45717" rtlCol="0" anchor="ctr"/>
          <a:lstStyle/>
          <a:p>
            <a:pPr algn="ctr"/>
            <a:endParaRPr lang="zh-CN" altLang="en-US" sz="19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F:\H\H河海\2023新VI\PPT2-11.png"/>
          <p:cNvPicPr>
            <a:picLocks noChangeAspect="1" noChangeArrowheads="1"/>
          </p:cNvPicPr>
          <p:nvPr/>
        </p:nvPicPr>
        <p:blipFill rotWithShape="1">
          <a:blip r:embed="rId4" cstate="print"/>
          <a:srcRect b="53022"/>
          <a:stretch/>
        </p:blipFill>
        <p:spPr bwMode="auto">
          <a:xfrm>
            <a:off x="0" y="5832293"/>
            <a:ext cx="12192000" cy="10142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358624" y="2187974"/>
            <a:ext cx="9474753" cy="67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809" b="1" kern="1600" dirty="0">
                <a:solidFill>
                  <a:srgbClr val="D22624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Advanced Programming Techniques CS-307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4654" y="3537778"/>
            <a:ext cx="7494071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539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Lab</a:t>
            </a:r>
            <a:r>
              <a:rPr lang="en-US" altLang="zh-CN" sz="2539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: C#</a:t>
            </a:r>
            <a:endParaRPr lang="zh-CN" altLang="en-US" sz="2539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矩形: 圆角 7"/>
          <p:cNvSpPr/>
          <p:nvPr>
            <p:custDataLst>
              <p:tags r:id="rId1"/>
            </p:custDataLst>
          </p:nvPr>
        </p:nvSpPr>
        <p:spPr>
          <a:xfrm>
            <a:off x="3914220" y="4668406"/>
            <a:ext cx="4629571" cy="42599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12700">
            <a:solidFill>
              <a:schemeClr val="bg1"/>
            </a:solidFill>
          </a:ln>
          <a:effectLst>
            <a:outerShdw blurRad="241300" dist="63500" dir="2700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9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078268" y="4695789"/>
            <a:ext cx="4118658" cy="385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0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</a:t>
            </a:r>
            <a:r>
              <a:rPr lang="zh-CN" altLang="en-US" sz="190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190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Muhammad Rauf Sarwer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141DE4-9D89-4A45-A1EB-A5E2D0CAF2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019" y="405455"/>
            <a:ext cx="5802428" cy="17715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:\H\H河海\2023新VI\PPT-02.png"/>
          <p:cNvPicPr>
            <a:picLocks noChangeAspect="1" noChangeArrowheads="1"/>
          </p:cNvPicPr>
          <p:nvPr/>
        </p:nvPicPr>
        <p:blipFill>
          <a:blip r:embed="rId5" cstate="print">
            <a:alphaModFix amt="70000"/>
          </a:blip>
          <a:srcRect/>
          <a:stretch>
            <a:fillRect/>
          </a:stretch>
        </p:blipFill>
        <p:spPr bwMode="auto">
          <a:xfrm>
            <a:off x="6391023" y="2692205"/>
            <a:ext cx="5800045" cy="4165270"/>
          </a:xfrm>
          <a:prstGeom prst="rect">
            <a:avLst/>
          </a:prstGeom>
          <a:noFill/>
        </p:spPr>
      </p:pic>
      <p:sp>
        <p:nvSpPr>
          <p:cNvPr id="40" name="文本框 2"/>
          <p:cNvSpPr txBox="1"/>
          <p:nvPr/>
        </p:nvSpPr>
        <p:spPr>
          <a:xfrm>
            <a:off x="919958" y="1875647"/>
            <a:ext cx="10352088" cy="39790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45710" rIns="0" bIns="4571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80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微软雅黑" panose="020B0503020204020204" charset="-122"/>
              </a:rPr>
              <a:t>在此输入详细内容，建议：文字言简意赅，分点阐述核心观点；可适当调整字体、颜色、行间距等格式以突出重点</a:t>
            </a:r>
          </a:p>
        </p:txBody>
      </p:sp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732977" y="794557"/>
            <a:ext cx="10726048" cy="0"/>
          </a:xfrm>
          <a:prstGeom prst="line">
            <a:avLst/>
          </a:prstGeom>
          <a:ln w="158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70436" y="335594"/>
            <a:ext cx="4063378" cy="461645"/>
          </a:xfrm>
          <a:prstGeom prst="rect">
            <a:avLst/>
          </a:prstGeom>
          <a:noFill/>
        </p:spPr>
        <p:txBody>
          <a:bodyPr wrap="square" lIns="91421" tIns="45710" rIns="91421" bIns="45710" rtlCol="0">
            <a:spAutoFit/>
          </a:bodyPr>
          <a:lstStyle/>
          <a:p>
            <a:pPr defTabSz="864061">
              <a:defRPr/>
            </a:pPr>
            <a:r>
              <a:rPr lang="en-US" altLang="zh-CN" sz="2400" b="1" dirty="0">
                <a:solidFill>
                  <a:srgbClr val="CB232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Setup</a:t>
            </a:r>
            <a:endParaRPr lang="zh-CN" altLang="en-US" sz="2400" b="1" dirty="0">
              <a:solidFill>
                <a:srgbClr val="CB232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ABDD3F1-40DE-4636-99D1-5448F4CF4E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84" y="146267"/>
            <a:ext cx="1513735" cy="462158"/>
          </a:xfrm>
          <a:prstGeom prst="rect">
            <a:avLst/>
          </a:prstGeom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6354F81D-08F9-408C-923A-B6D979E58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954" y="776487"/>
            <a:ext cx="1022606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 Visual Studio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Make sure you have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.NET SDK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installed. (Run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dotnet --version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terminal to check.)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 a new console project: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CE396F6-A915-42DD-BF53-11A8F315AA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2589" y="2866666"/>
            <a:ext cx="6639521" cy="234098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C94F678-CADC-4E74-852D-BD8D6D9773E9}"/>
              </a:ext>
            </a:extLst>
          </p:cNvPr>
          <p:cNvSpPr txBox="1"/>
          <p:nvPr/>
        </p:nvSpPr>
        <p:spPr>
          <a:xfrm>
            <a:off x="2277036" y="543239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dotnet new console -o </a:t>
            </a:r>
            <a:r>
              <a:rPr lang="en-US" dirty="0" err="1"/>
              <a:t>FirstStep</a:t>
            </a:r>
            <a:endParaRPr lang="en-US" dirty="0"/>
          </a:p>
          <a:p>
            <a:r>
              <a:rPr lang="en-US" dirty="0"/>
              <a:t>cd </a:t>
            </a:r>
            <a:r>
              <a:rPr lang="en-US" dirty="0" err="1"/>
              <a:t>FirstStep</a:t>
            </a:r>
            <a:endParaRPr lang="en-US" dirty="0"/>
          </a:p>
          <a:p>
            <a:r>
              <a:rPr lang="en-US" dirty="0"/>
              <a:t>code .</a:t>
            </a:r>
          </a:p>
        </p:txBody>
      </p:sp>
    </p:spTree>
    <p:extLst>
      <p:ext uri="{BB962C8B-B14F-4D97-AF65-F5344CB8AC3E}">
        <p14:creationId xmlns:p14="http://schemas.microsoft.com/office/powerpoint/2010/main" val="317146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:\H\H河海\2023新VI\PPT-02.png"/>
          <p:cNvPicPr>
            <a:picLocks noChangeAspect="1" noChangeArrowheads="1"/>
          </p:cNvPicPr>
          <p:nvPr/>
        </p:nvPicPr>
        <p:blipFill>
          <a:blip r:embed="rId5" cstate="print">
            <a:alphaModFix amt="70000"/>
          </a:blip>
          <a:srcRect/>
          <a:stretch>
            <a:fillRect/>
          </a:stretch>
        </p:blipFill>
        <p:spPr bwMode="auto">
          <a:xfrm>
            <a:off x="6391955" y="2692730"/>
            <a:ext cx="5800045" cy="4165270"/>
          </a:xfrm>
          <a:prstGeom prst="rect">
            <a:avLst/>
          </a:prstGeom>
          <a:noFill/>
        </p:spPr>
      </p:pic>
      <p:sp>
        <p:nvSpPr>
          <p:cNvPr id="40" name="文本框 2"/>
          <p:cNvSpPr txBox="1"/>
          <p:nvPr/>
        </p:nvSpPr>
        <p:spPr>
          <a:xfrm>
            <a:off x="919958" y="1875647"/>
            <a:ext cx="10352088" cy="39790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45710" rIns="0" bIns="4571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80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微软雅黑" panose="020B0503020204020204" charset="-122"/>
              </a:rPr>
              <a:t>在此输入详细内容，建议：文字言简意赅，分点阐述核心观点；可适当调整字体、颜色、行间距等格式以突出重点</a:t>
            </a:r>
          </a:p>
        </p:txBody>
      </p:sp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732977" y="794557"/>
            <a:ext cx="10726048" cy="0"/>
          </a:xfrm>
          <a:prstGeom prst="line">
            <a:avLst/>
          </a:prstGeom>
          <a:ln w="158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70436" y="335594"/>
            <a:ext cx="4063378" cy="461645"/>
          </a:xfrm>
          <a:prstGeom prst="rect">
            <a:avLst/>
          </a:prstGeom>
          <a:noFill/>
        </p:spPr>
        <p:txBody>
          <a:bodyPr wrap="square" lIns="91421" tIns="45710" rIns="91421" bIns="45710" rtlCol="0">
            <a:spAutoFit/>
          </a:bodyPr>
          <a:lstStyle/>
          <a:p>
            <a:pPr defTabSz="864061">
              <a:defRPr/>
            </a:pPr>
            <a:r>
              <a:rPr lang="en-US" altLang="zh-CN" sz="2400" b="1" dirty="0">
                <a:solidFill>
                  <a:srgbClr val="CB232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Writing First C# Program</a:t>
            </a:r>
            <a:endParaRPr lang="zh-CN" altLang="en-US" sz="2400" b="1" dirty="0">
              <a:solidFill>
                <a:srgbClr val="CB232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ABDD3F1-40DE-4636-99D1-5448F4CF4E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84" y="146267"/>
            <a:ext cx="1513735" cy="4621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10405D-7ADD-4CF9-B1E0-030A2C9BDEC1}"/>
              </a:ext>
            </a:extLst>
          </p:cNvPr>
          <p:cNvSpPr txBox="1"/>
          <p:nvPr/>
        </p:nvSpPr>
        <p:spPr>
          <a:xfrm>
            <a:off x="770435" y="979611"/>
            <a:ext cx="8064673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46"/>
              </a:spcAft>
            </a:pPr>
            <a:r>
              <a:rPr lang="en-US" sz="20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Code: </a:t>
            </a:r>
            <a:endParaRPr lang="en-US" sz="2116" dirty="0"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E4F81C-5DD3-402B-8674-C0E5745FACAA}"/>
              </a:ext>
            </a:extLst>
          </p:cNvPr>
          <p:cNvSpPr txBox="1"/>
          <p:nvPr/>
        </p:nvSpPr>
        <p:spPr>
          <a:xfrm>
            <a:off x="1358419" y="1179313"/>
            <a:ext cx="107226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Hello World! program in C#.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HelloWorld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Hello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World!"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Keep the console window open in debug mode.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"Press any key to exit."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ReadKey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436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:\H\H河海\2023新VI\PPT-02.png"/>
          <p:cNvPicPr>
            <a:picLocks noChangeAspect="1" noChangeArrowheads="1"/>
          </p:cNvPicPr>
          <p:nvPr/>
        </p:nvPicPr>
        <p:blipFill>
          <a:blip r:embed="rId5" cstate="print">
            <a:alphaModFix amt="70000"/>
          </a:blip>
          <a:srcRect/>
          <a:stretch>
            <a:fillRect/>
          </a:stretch>
        </p:blipFill>
        <p:spPr bwMode="auto">
          <a:xfrm>
            <a:off x="6391955" y="2692730"/>
            <a:ext cx="5800045" cy="4165270"/>
          </a:xfrm>
          <a:prstGeom prst="rect">
            <a:avLst/>
          </a:prstGeom>
          <a:noFill/>
        </p:spPr>
      </p:pic>
      <p:sp>
        <p:nvSpPr>
          <p:cNvPr id="40" name="文本框 2"/>
          <p:cNvSpPr txBox="1"/>
          <p:nvPr/>
        </p:nvSpPr>
        <p:spPr>
          <a:xfrm>
            <a:off x="919958" y="1875647"/>
            <a:ext cx="10352088" cy="39790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45710" rIns="0" bIns="4571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80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微软雅黑" panose="020B0503020204020204" charset="-122"/>
              </a:rPr>
              <a:t>在此输入详细内容，建议：文字言简意赅，分点阐述核心观点；可适当调整字体、颜色、行间距等格式以突出重点</a:t>
            </a:r>
          </a:p>
        </p:txBody>
      </p:sp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732977" y="794557"/>
            <a:ext cx="10726048" cy="0"/>
          </a:xfrm>
          <a:prstGeom prst="line">
            <a:avLst/>
          </a:prstGeom>
          <a:ln w="158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70435" y="335594"/>
            <a:ext cx="5093335" cy="461645"/>
          </a:xfrm>
          <a:prstGeom prst="rect">
            <a:avLst/>
          </a:prstGeom>
          <a:noFill/>
        </p:spPr>
        <p:txBody>
          <a:bodyPr wrap="square" lIns="91421" tIns="45710" rIns="91421" bIns="45710" rtlCol="0">
            <a:spAutoFit/>
          </a:bodyPr>
          <a:lstStyle/>
          <a:p>
            <a:pPr defTabSz="864061">
              <a:defRPr/>
            </a:pPr>
            <a:r>
              <a:rPr lang="en-US" altLang="zh-CN" sz="2400" b="1" dirty="0">
                <a:solidFill>
                  <a:srgbClr val="CB232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Activity No. 1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ABDD3F1-40DE-4636-99D1-5448F4CF4E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84" y="146267"/>
            <a:ext cx="1513735" cy="4621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10405D-7ADD-4CF9-B1E0-030A2C9BDEC1}"/>
              </a:ext>
            </a:extLst>
          </p:cNvPr>
          <p:cNvSpPr txBox="1"/>
          <p:nvPr/>
        </p:nvSpPr>
        <p:spPr>
          <a:xfrm>
            <a:off x="770435" y="979611"/>
            <a:ext cx="8064673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46"/>
              </a:spcAft>
            </a:pPr>
            <a:r>
              <a:rPr lang="en-US" sz="20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Print Array Elements</a:t>
            </a:r>
            <a:endParaRPr lang="en-US" sz="2116" dirty="0"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F4184-3356-4FA2-8DED-D15C8A346A6F}"/>
              </a:ext>
            </a:extLst>
          </p:cNvPr>
          <p:cNvSpPr txBox="1"/>
          <p:nvPr/>
        </p:nvSpPr>
        <p:spPr>
          <a:xfrm>
            <a:off x="1362635" y="1527496"/>
            <a:ext cx="8767482" cy="1094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an array of 5 integers: </a:t>
            </a:r>
            <a:r>
              <a:rPr lang="en-US" sz="2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2, 4, 6, 8, 10 }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a for loop to print all elements.</a:t>
            </a:r>
            <a:endParaRPr lang="en-US" sz="2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168A51-CD13-46C0-A705-AA7625DCC6B2}"/>
              </a:ext>
            </a:extLst>
          </p:cNvPr>
          <p:cNvSpPr txBox="1"/>
          <p:nvPr/>
        </p:nvSpPr>
        <p:spPr>
          <a:xfrm>
            <a:off x="770435" y="3077485"/>
            <a:ext cx="8064673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46"/>
              </a:spcAft>
            </a:pPr>
            <a:r>
              <a:rPr lang="en-US" sz="20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Expected Output: </a:t>
            </a:r>
            <a:endParaRPr lang="en-US" sz="2116" dirty="0"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73781D-D881-416A-A388-B72DF125A04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0420"/>
          <a:stretch/>
        </p:blipFill>
        <p:spPr>
          <a:xfrm>
            <a:off x="3619780" y="3702795"/>
            <a:ext cx="1902479" cy="268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385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:\H\H河海\2023新VI\PPT-02.png"/>
          <p:cNvPicPr>
            <a:picLocks noChangeAspect="1" noChangeArrowheads="1"/>
          </p:cNvPicPr>
          <p:nvPr/>
        </p:nvPicPr>
        <p:blipFill>
          <a:blip r:embed="rId5" cstate="print">
            <a:alphaModFix amt="70000"/>
          </a:blip>
          <a:srcRect/>
          <a:stretch>
            <a:fillRect/>
          </a:stretch>
        </p:blipFill>
        <p:spPr bwMode="auto">
          <a:xfrm>
            <a:off x="6391955" y="2692730"/>
            <a:ext cx="5800045" cy="4165270"/>
          </a:xfrm>
          <a:prstGeom prst="rect">
            <a:avLst/>
          </a:prstGeom>
          <a:noFill/>
        </p:spPr>
      </p:pic>
      <p:sp>
        <p:nvSpPr>
          <p:cNvPr id="40" name="文本框 2"/>
          <p:cNvSpPr txBox="1"/>
          <p:nvPr/>
        </p:nvSpPr>
        <p:spPr>
          <a:xfrm>
            <a:off x="919958" y="1875647"/>
            <a:ext cx="10352088" cy="39790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45710" rIns="0" bIns="4571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80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微软雅黑" panose="020B0503020204020204" charset="-122"/>
              </a:rPr>
              <a:t>在此输入详细内容，建议：文字言简意赅，分点阐述核心观点；可适当调整字体、颜色、行间距等格式以突出重点</a:t>
            </a:r>
          </a:p>
        </p:txBody>
      </p:sp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732977" y="794557"/>
            <a:ext cx="10726048" cy="0"/>
          </a:xfrm>
          <a:prstGeom prst="line">
            <a:avLst/>
          </a:prstGeom>
          <a:ln w="158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70435" y="335594"/>
            <a:ext cx="5093335" cy="461645"/>
          </a:xfrm>
          <a:prstGeom prst="rect">
            <a:avLst/>
          </a:prstGeom>
          <a:noFill/>
        </p:spPr>
        <p:txBody>
          <a:bodyPr wrap="square" lIns="91421" tIns="45710" rIns="91421" bIns="45710" rtlCol="0">
            <a:spAutoFit/>
          </a:bodyPr>
          <a:lstStyle/>
          <a:p>
            <a:pPr defTabSz="864061">
              <a:defRPr/>
            </a:pPr>
            <a:r>
              <a:rPr lang="en-US" altLang="zh-CN" sz="2400" b="1" dirty="0">
                <a:solidFill>
                  <a:srgbClr val="CB232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Activity No. 2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ABDD3F1-40DE-4636-99D1-5448F4CF4E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84" y="146267"/>
            <a:ext cx="1513735" cy="4621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10405D-7ADD-4CF9-B1E0-030A2C9BDEC1}"/>
              </a:ext>
            </a:extLst>
          </p:cNvPr>
          <p:cNvSpPr txBox="1"/>
          <p:nvPr/>
        </p:nvSpPr>
        <p:spPr>
          <a:xfrm>
            <a:off x="770435" y="979611"/>
            <a:ext cx="8064673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46"/>
              </a:spcAft>
            </a:pPr>
            <a:r>
              <a:rPr lang="en-US" sz="20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Basic Arithmetic Operations in C#</a:t>
            </a:r>
            <a:endParaRPr lang="en-US" sz="2116" dirty="0"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F4184-3356-4FA2-8DED-D15C8A346A6F}"/>
              </a:ext>
            </a:extLst>
          </p:cNvPr>
          <p:cNvSpPr txBox="1"/>
          <p:nvPr/>
        </p:nvSpPr>
        <p:spPr>
          <a:xfrm>
            <a:off x="1362635" y="1527496"/>
            <a:ext cx="8767482" cy="3468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Create a new Console App project in Visual Studio.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Inside Main(), declare two integer variables, e.g., </a:t>
            </a:r>
            <a:r>
              <a:rPr lang="en-US" sz="24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 = 20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24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b = 5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Perform the following operations: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Addition (</a:t>
            </a:r>
            <a:r>
              <a:rPr lang="en-US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Subtraction (</a:t>
            </a:r>
            <a:r>
              <a:rPr lang="en-US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Multiplication (</a:t>
            </a:r>
            <a:r>
              <a:rPr lang="en-US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Division (</a:t>
            </a:r>
            <a:r>
              <a:rPr lang="en-US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781C40-5EF4-4281-8B83-1B90EE118F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6495" y="3329107"/>
            <a:ext cx="4704524" cy="34592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C5F2640-C081-4078-BCEE-58EAB803077B}"/>
              </a:ext>
            </a:extLst>
          </p:cNvPr>
          <p:cNvSpPr txBox="1"/>
          <p:nvPr/>
        </p:nvSpPr>
        <p:spPr>
          <a:xfrm>
            <a:off x="7291814" y="2855462"/>
            <a:ext cx="3537551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46"/>
              </a:spcAft>
            </a:pPr>
            <a:r>
              <a:rPr lang="en-US" sz="20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Expected Output: </a:t>
            </a:r>
            <a:endParaRPr lang="en-US" sz="2116" dirty="0"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280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:\H\H河海\2023新VI\PPT-02.png"/>
          <p:cNvPicPr>
            <a:picLocks noChangeAspect="1" noChangeArrowheads="1"/>
          </p:cNvPicPr>
          <p:nvPr/>
        </p:nvPicPr>
        <p:blipFill>
          <a:blip r:embed="rId5" cstate="print">
            <a:alphaModFix amt="70000"/>
          </a:blip>
          <a:srcRect/>
          <a:stretch>
            <a:fillRect/>
          </a:stretch>
        </p:blipFill>
        <p:spPr bwMode="auto">
          <a:xfrm>
            <a:off x="6391955" y="2692730"/>
            <a:ext cx="5800045" cy="4165270"/>
          </a:xfrm>
          <a:prstGeom prst="rect">
            <a:avLst/>
          </a:prstGeom>
          <a:noFill/>
        </p:spPr>
      </p:pic>
      <p:sp>
        <p:nvSpPr>
          <p:cNvPr id="40" name="文本框 2"/>
          <p:cNvSpPr txBox="1"/>
          <p:nvPr/>
        </p:nvSpPr>
        <p:spPr>
          <a:xfrm>
            <a:off x="919958" y="1875647"/>
            <a:ext cx="10352088" cy="39790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45710" rIns="0" bIns="4571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80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微软雅黑" panose="020B0503020204020204" charset="-122"/>
              </a:rPr>
              <a:t>在此输入详细内容，建议：文字言简意赅，分点阐述核心观点；可适当调整字体、颜色、行间距等格式以突出重点</a:t>
            </a:r>
          </a:p>
        </p:txBody>
      </p:sp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732977" y="794557"/>
            <a:ext cx="10726048" cy="0"/>
          </a:xfrm>
          <a:prstGeom prst="line">
            <a:avLst/>
          </a:prstGeom>
          <a:ln w="158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32975" y="332912"/>
            <a:ext cx="5093335" cy="461645"/>
          </a:xfrm>
          <a:prstGeom prst="rect">
            <a:avLst/>
          </a:prstGeom>
          <a:noFill/>
        </p:spPr>
        <p:txBody>
          <a:bodyPr wrap="square" lIns="91421" tIns="45710" rIns="91421" bIns="45710" rtlCol="0">
            <a:spAutoFit/>
          </a:bodyPr>
          <a:lstStyle/>
          <a:p>
            <a:pPr defTabSz="864061">
              <a:defRPr/>
            </a:pPr>
            <a:r>
              <a:rPr lang="en-US" altLang="zh-CN" sz="2400" b="1" dirty="0">
                <a:solidFill>
                  <a:srgbClr val="CB232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Activity No. 3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ABDD3F1-40DE-4636-99D1-5448F4CF4E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84" y="146267"/>
            <a:ext cx="1513735" cy="4621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10405D-7ADD-4CF9-B1E0-030A2C9BDEC1}"/>
              </a:ext>
            </a:extLst>
          </p:cNvPr>
          <p:cNvSpPr txBox="1"/>
          <p:nvPr/>
        </p:nvSpPr>
        <p:spPr>
          <a:xfrm>
            <a:off x="770435" y="979611"/>
            <a:ext cx="8064673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46"/>
              </a:spcAft>
            </a:pPr>
            <a:r>
              <a:rPr lang="en-US" sz="20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Sum of Array Elements: </a:t>
            </a:r>
            <a:endParaRPr lang="en-US" sz="2116" dirty="0"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F4184-3356-4FA2-8DED-D15C8A346A6F}"/>
              </a:ext>
            </a:extLst>
          </p:cNvPr>
          <p:cNvSpPr txBox="1"/>
          <p:nvPr/>
        </p:nvSpPr>
        <p:spPr>
          <a:xfrm>
            <a:off x="1362635" y="1527496"/>
            <a:ext cx="8767482" cy="53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Using the same array, calculate the sum of all numbers</a:t>
            </a:r>
            <a:endParaRPr lang="en-US" sz="28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168A51-CD13-46C0-A705-AA7625DCC6B2}"/>
              </a:ext>
            </a:extLst>
          </p:cNvPr>
          <p:cNvSpPr txBox="1"/>
          <p:nvPr/>
        </p:nvSpPr>
        <p:spPr>
          <a:xfrm>
            <a:off x="770435" y="3077485"/>
            <a:ext cx="8064673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46"/>
              </a:spcAft>
            </a:pPr>
            <a:r>
              <a:rPr lang="en-US" sz="20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Expected Output: </a:t>
            </a:r>
            <a:endParaRPr lang="en-US" sz="2116" dirty="0"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348570-6296-4237-8FB7-9C7517FA91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7489" y="3823544"/>
            <a:ext cx="2837205" cy="223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717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687</Words>
  <Application>Microsoft Office PowerPoint</Application>
  <PresentationFormat>Widescreen</PresentationFormat>
  <Paragraphs>97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Courier New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Raouf Sarwar</dc:creator>
  <cp:lastModifiedBy>Raouf Sarwar</cp:lastModifiedBy>
  <cp:revision>2</cp:revision>
  <dcterms:created xsi:type="dcterms:W3CDTF">2025-09-29T02:43:34Z</dcterms:created>
  <dcterms:modified xsi:type="dcterms:W3CDTF">2025-09-29T02:54:31Z</dcterms:modified>
</cp:coreProperties>
</file>